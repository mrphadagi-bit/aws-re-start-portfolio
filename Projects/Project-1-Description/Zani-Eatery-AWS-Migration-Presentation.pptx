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1e5a3054c9d4d50" /><Relationship Type="http://schemas.openxmlformats.org/officeDocument/2006/relationships/extended-properties" Target="/docProps/app.xml" Id="R6172872c389642d0" /><Relationship Type="http://schemas.openxmlformats.org/officeDocument/2006/relationships/officeDocument" Target="/ppt/presentation.xml" Id="Rf32ee77eb36d4c1d" /></Relationships>
</file>

<file path=ppt/presentation.xml><?xml version="1.0" encoding="utf-8"?>
<p:presentation xmlns:p="http://schemas.openxmlformats.org/presentationml/2006/main">
  <p:sldMasterIdLst>
    <p:sldMasterId xmlns:r="http://schemas.openxmlformats.org/officeDocument/2006/relationships" id="2147483648" r:id="R7decbe6e05ef4254"/>
  </p:sldMasterIdLst>
  <p:notesMasterIdLst>
    <p:notesMasterId xmlns:r="http://schemas.openxmlformats.org/officeDocument/2006/relationships" r:id="Rfb0c1cd60ed14d21"/>
  </p:notesMasterIdLst>
  <p:sldIdLst>
    <p:sldId xmlns:r="http://schemas.openxmlformats.org/officeDocument/2006/relationships" id="256" r:id="R66c886e0f02147cf"/>
    <p:sldId xmlns:r="http://schemas.openxmlformats.org/officeDocument/2006/relationships" id="257" r:id="Refad7110b8aa49ac"/>
    <p:sldId xmlns:r="http://schemas.openxmlformats.org/officeDocument/2006/relationships" id="258" r:id="R13e3a908f62d48e5"/>
    <p:sldId xmlns:r="http://schemas.openxmlformats.org/officeDocument/2006/relationships" id="259" r:id="R4be625a50e2f4e13"/>
    <p:sldId xmlns:r="http://schemas.openxmlformats.org/officeDocument/2006/relationships" id="260" r:id="R6b1a3be7eb6147f8"/>
    <p:sldId xmlns:r="http://schemas.openxmlformats.org/officeDocument/2006/relationships" id="261" r:id="R73d13f8e4902488f"/>
    <p:sldId xmlns:r="http://schemas.openxmlformats.org/officeDocument/2006/relationships" id="262" r:id="R828880446e2c4f31"/>
    <p:sldId xmlns:r="http://schemas.openxmlformats.org/officeDocument/2006/relationships" id="263" r:id="Rcb6af4f2fa02430e"/>
    <p:sldId xmlns:r="http://schemas.openxmlformats.org/officeDocument/2006/relationships" id="264" r:id="R87030e62480d4c7e"/>
    <p:sldId xmlns:r="http://schemas.openxmlformats.org/officeDocument/2006/relationships" id="265" r:id="R4f33240402834ba9"/>
    <p:sldId xmlns:r="http://schemas.openxmlformats.org/officeDocument/2006/relationships" id="266" r:id="R5275abf950824d99"/>
    <p:sldId xmlns:r="http://schemas.openxmlformats.org/officeDocument/2006/relationships" id="267" r:id="R48e8b800387e4ccc"/>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7decbe6e05ef4254" /><Relationship Type="http://schemas.openxmlformats.org/officeDocument/2006/relationships/theme" Target="/ppt/theme/theme1.xml" Id="R7f0bd62228d746be" /><Relationship Type="http://schemas.openxmlformats.org/officeDocument/2006/relationships/notesMaster" Target="/ppt/notesMasters/notesMaster1.xml" Id="Rfb0c1cd60ed14d21" /><Relationship Type="http://schemas.openxmlformats.org/officeDocument/2006/relationships/presProps" Target="/ppt/presProps.xml" Id="R01bfddf60afd4e37" /><Relationship Type="http://schemas.openxmlformats.org/officeDocument/2006/relationships/viewProps" Target="/ppt/viewProps.xml" Id="R400cb503032546d7" /><Relationship Type="http://schemas.openxmlformats.org/officeDocument/2006/relationships/tableStyles" Target="/ppt/tableStyles.xml" Id="Rfd07f9236d27409a" /><Relationship Type="http://schemas.openxmlformats.org/officeDocument/2006/relationships/slide" Target="/ppt/slides/slide1.xml" Id="R66c886e0f02147cf" /><Relationship Type="http://schemas.openxmlformats.org/officeDocument/2006/relationships/slide" Target="/ppt/slides/slide2.xml" Id="Refad7110b8aa49ac" /><Relationship Type="http://schemas.openxmlformats.org/officeDocument/2006/relationships/slide" Target="/ppt/slides/slide3.xml" Id="R13e3a908f62d48e5" /><Relationship Type="http://schemas.openxmlformats.org/officeDocument/2006/relationships/slide" Target="/ppt/slides/slide4.xml" Id="R4be625a50e2f4e13" /><Relationship Type="http://schemas.openxmlformats.org/officeDocument/2006/relationships/slide" Target="/ppt/slides/slide5.xml" Id="R6b1a3be7eb6147f8" /><Relationship Type="http://schemas.openxmlformats.org/officeDocument/2006/relationships/slide" Target="/ppt/slides/slide6.xml" Id="R73d13f8e4902488f" /><Relationship Type="http://schemas.openxmlformats.org/officeDocument/2006/relationships/slide" Target="/ppt/slides/slide7.xml" Id="R828880446e2c4f31" /><Relationship Type="http://schemas.openxmlformats.org/officeDocument/2006/relationships/slide" Target="/ppt/slides/slide8.xml" Id="Rcb6af4f2fa02430e" /><Relationship Type="http://schemas.openxmlformats.org/officeDocument/2006/relationships/slide" Target="/ppt/slides/slide9.xml" Id="R87030e62480d4c7e" /><Relationship Type="http://schemas.openxmlformats.org/officeDocument/2006/relationships/slide" Target="/ppt/slides/slide10.xml" Id="R4f33240402834ba9" /><Relationship Type="http://schemas.openxmlformats.org/officeDocument/2006/relationships/slide" Target="/ppt/slides/slide11.xml" Id="R5275abf950824d99" /><Relationship Type="http://schemas.openxmlformats.org/officeDocument/2006/relationships/slide" Target="/ppt/slides/slide12.xml" Id="R48e8b800387e4cc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04eb9bd96c7645e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e55b872779845e3" /><Relationship Type="http://schemas.openxmlformats.org/officeDocument/2006/relationships/notesMaster" Target="/ppt/notesMasters/notesMaster1.xml" Id="R4e65c2efb8c743d8" /></Relationships>
</file>

<file path=ppt/notesSlides/_rels/notesSlide2.xml.rels>&#65279;<?xml version="1.0" encoding="utf-8"?><Relationships xmlns="http://schemas.openxmlformats.org/package/2006/relationships"><Relationship Type="http://schemas.openxmlformats.org/officeDocument/2006/relationships/slide" Target="/ppt/slides/slide2.xml" Id="Rc7ef9dfc07374b92" /><Relationship Type="http://schemas.openxmlformats.org/officeDocument/2006/relationships/notesMaster" Target="/ppt/notesMasters/notesMaster1.xml" Id="R36705592d7d64bfa" /></Relationships>
</file>

<file path=ppt/notesSlides/_rels/notesSlide3.xml.rels>&#65279;<?xml version="1.0" encoding="utf-8"?><Relationships xmlns="http://schemas.openxmlformats.org/package/2006/relationships"><Relationship Type="http://schemas.openxmlformats.org/officeDocument/2006/relationships/slide" Target="/ppt/slides/slide3.xml" Id="R98ca98c8e3694394" /><Relationship Type="http://schemas.openxmlformats.org/officeDocument/2006/relationships/notesMaster" Target="/ppt/notesMasters/notesMaster1.xml" Id="R47d2710bb22f47e6" /></Relationships>
</file>

<file path=ppt/notesSlides/_rels/notesSlide4.xml.rels>&#65279;<?xml version="1.0" encoding="utf-8"?><Relationships xmlns="http://schemas.openxmlformats.org/package/2006/relationships"><Relationship Type="http://schemas.openxmlformats.org/officeDocument/2006/relationships/slide" Target="/ppt/slides/slide4.xml" Id="Ra709c26f359d48ab" /><Relationship Type="http://schemas.openxmlformats.org/officeDocument/2006/relationships/notesMaster" Target="/ppt/notesMasters/notesMaster1.xml" Id="Rc45417de60ee464a" /></Relationships>
</file>

<file path=ppt/notesSlides/_rels/notesSlide5.xml.rels>&#65279;<?xml version="1.0" encoding="utf-8"?><Relationships xmlns="http://schemas.openxmlformats.org/package/2006/relationships"><Relationship Type="http://schemas.openxmlformats.org/officeDocument/2006/relationships/slide" Target="/ppt/slides/slide5.xml" Id="R47d7a132d7ae4935" /><Relationship Type="http://schemas.openxmlformats.org/officeDocument/2006/relationships/notesMaster" Target="/ppt/notesMasters/notesMaster1.xml" Id="R2e6d7ae6a66a43f0" /></Relationships>
</file>

<file path=ppt/notesSlides/_rels/notesSlide6.xml.rels>&#65279;<?xml version="1.0" encoding="utf-8"?><Relationships xmlns="http://schemas.openxmlformats.org/package/2006/relationships"><Relationship Type="http://schemas.openxmlformats.org/officeDocument/2006/relationships/slide" Target="/ppt/slides/slide6.xml" Id="R02d43c2c044340d8" /><Relationship Type="http://schemas.openxmlformats.org/officeDocument/2006/relationships/notesMaster" Target="/ppt/notesMasters/notesMaster1.xml" Id="R823a5746376141f7" /></Relationships>
</file>

<file path=ppt/notesSlides/_rels/notesSlide7.xml.rels>&#65279;<?xml version="1.0" encoding="utf-8"?><Relationships xmlns="http://schemas.openxmlformats.org/package/2006/relationships"><Relationship Type="http://schemas.openxmlformats.org/officeDocument/2006/relationships/slide" Target="/ppt/slides/slide7.xml" Id="R9986fb0861284723" /><Relationship Type="http://schemas.openxmlformats.org/officeDocument/2006/relationships/notesMaster" Target="/ppt/notesMasters/notesMaster1.xml" Id="R0a886cda1b1944bc" /></Relationships>
</file>

<file path=ppt/notesSlides/_rels/notesSlide8.xml.rels>&#65279;<?xml version="1.0" encoding="utf-8"?><Relationships xmlns="http://schemas.openxmlformats.org/package/2006/relationships"><Relationship Type="http://schemas.openxmlformats.org/officeDocument/2006/relationships/slide" Target="/ppt/slides/slide8.xml" Id="Rf33bdd5df01b49dd" /><Relationship Type="http://schemas.openxmlformats.org/officeDocument/2006/relationships/notesMaster" Target="/ppt/notesMasters/notesMaster1.xml" Id="R9a0655eebb6d4923" /></Relationships>
</file>

<file path=ppt/notesSlides/_rels/notesSlide9.xml.rels>&#65279;<?xml version="1.0" encoding="utf-8"?><Relationships xmlns="http://schemas.openxmlformats.org/package/2006/relationships"><Relationship Type="http://schemas.openxmlformats.org/officeDocument/2006/relationships/slide" Target="/ppt/slides/slide9.xml" Id="Re770f00f0f41484c" /><Relationship Type="http://schemas.openxmlformats.org/officeDocument/2006/relationships/notesMaster" Target="/ppt/notesMasters/notesMaster1.xml" Id="R3d07ad4f694b48d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7b7fad45733470f" /><Relationship Type="http://schemas.openxmlformats.org/officeDocument/2006/relationships/notesMaster" Target="/ppt/notesMasters/notesMaster1.xml" Id="R0f2dce7e3b5246b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225a4642d894c9e" /><Relationship Type="http://schemas.openxmlformats.org/officeDocument/2006/relationships/notesMaster" Target="/ppt/notesMasters/notesMaster1.xml" Id="R9551ab98d75d42b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b8bd2dc9b8942f6" /><Relationship Type="http://schemas.openxmlformats.org/officeDocument/2006/relationships/notesMaster" Target="/ppt/notesMasters/notesMaster1.xml" Id="Rfb2f64d19563407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project as a migration story: Zani's Eatery needed to move from manual bookings and orders to a simple static website backed by AWS services.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set expectations. The presentation is intentionally concise and uses speaker notes for extra detail.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 restaurant was chosen because it represents a realistic small-business AWS migration: high demand, manual processes, limited budget, and a need for fast deployment.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 the challenge to the assignment requirements: no cloud migration, operational inefficiency, no centralized customer data, and expensive scaling.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the website visually. Mention that customers can explore the menu, use search/category filters, and are guided toward sign-in for protected order history or checkout 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 current deployed artifact is static: S3 hosts the front-end pages and images. Dynamic capabilities are handled in the target architecture through Cognito, API Gateway, Lambda, RDS or DynamoDB, and SNS.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architecture from left to right. S3 and CloudFront serve static content. Secure actions go through Cognito, API Gateway, Lambda, and the database. SNS notifies staff when action is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this slide concise. The key is service-to-business-fit, not a deep AWS feature lecture.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flow as a practical restaurant journey: customer submits, Lambda checks business rules, the database stores the record, and SNS/Lambda handles notification and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this as a conservative migration plan. The restaurant does not need to buy servers or build everything at once.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Benefits should connect to restaurant pain points: fewer mistakes, quicker confirmations, lower infrastructure cost, less maintenance, and better customer visibility.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emphasizing business value: the website is the front door; AWS managed services make the operational workflow reliable, scalable, and affordable.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37ad212e8fd439e"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01ec3ca314eb4ccb" /><Relationship Type="http://schemas.openxmlformats.org/officeDocument/2006/relationships/slideLayout" Target="/ppt/slideLayouts/slideLayout2.xml" Id="Rcaa23cbf0e4d403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aa23cbf0e4d403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74d01d7b5a6a42ed" /><Relationship Type="http://schemas.openxmlformats.org/officeDocument/2006/relationships/image" Target="/ppt/media/image.png" Id="Rb1a0774f1e0d445f" /><Relationship Type="http://schemas.openxmlformats.org/officeDocument/2006/relationships/notesSlide" Target="/ppt/notesSlides/notesSlide1.xml" Id="Rb7f491bde7514d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5bce00eb3ce94315" /><Relationship Type="http://schemas.openxmlformats.org/officeDocument/2006/relationships/notesSlide" Target="/ppt/notesSlides/notesSlide2.xml" Id="R869d5d2d800847f9"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f13b5182768e4a52" /><Relationship Type="http://schemas.openxmlformats.org/officeDocument/2006/relationships/notesSlide" Target="/ppt/notesSlides/notesSlide3.xml" Id="R2363871e56a946d6"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06dbe956cb62494b" /><Relationship Type="http://schemas.openxmlformats.org/officeDocument/2006/relationships/notesSlide" Target="/ppt/notesSlides/notesSlide4.xml" Id="R2dbcdcf891bf4aaa"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b3ad32a1209f4ee0" /><Relationship Type="http://schemas.openxmlformats.org/officeDocument/2006/relationships/image" Target="/ppt/media/image2.png" Id="R1a3373f634f64b47" /><Relationship Type="http://schemas.openxmlformats.org/officeDocument/2006/relationships/image" Target="/ppt/media/image3.png" Id="Rad330a0a3f804908" /><Relationship Type="http://schemas.openxmlformats.org/officeDocument/2006/relationships/notesSlide" Target="/ppt/notesSlides/notesSlide5.xml" Id="R090f311b037a474a"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174060dac1f04edd" /><Relationship Type="http://schemas.openxmlformats.org/officeDocument/2006/relationships/notesSlide" Target="/ppt/notesSlides/notesSlide6.xml" Id="R53c73d896a20430b"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b64e204eeec44852" /><Relationship Type="http://schemas.openxmlformats.org/officeDocument/2006/relationships/notesSlide" Target="/ppt/notesSlides/notesSlide7.xml" Id="R5cce8f8a3d1849e6"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264756cf602c4208" /><Relationship Type="http://schemas.openxmlformats.org/officeDocument/2006/relationships/notesSlide" Target="/ppt/notesSlides/notesSlide8.xml" Id="R9c77522d6c894bfe"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ac0eef6973dd4aef" /><Relationship Type="http://schemas.openxmlformats.org/officeDocument/2006/relationships/notesSlide" Target="/ppt/notesSlides/notesSlide9.xml" Id="R57e910b46d584a6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0eade99d74cb4a67" /><Relationship Type="http://schemas.openxmlformats.org/officeDocument/2006/relationships/notesSlide" Target="/ppt/notesSlides/notesSlide10.xml" Id="R5eb5258b95f840d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c9f466545b064aa7" /><Relationship Type="http://schemas.openxmlformats.org/officeDocument/2006/relationships/notesSlide" Target="/ppt/notesSlides/notesSlide11.xml" Id="R5bb00b8110e5432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a6a944cf3e504f97" /><Relationship Type="http://schemas.openxmlformats.org/officeDocument/2006/relationships/image" Target="/ppt/media/image4.png" Id="R75414a254b15408c" /><Relationship Type="http://schemas.openxmlformats.org/officeDocument/2006/relationships/notesSlide" Target="/ppt/notesSlides/notesSlide12.xml" Id="Ra3aa5665bfe54a5c"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6970CAC-196C-4E73-8228-B1A95B17A67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90A0D"/>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F94358EE-3CB4-4EF6-B669-BF8702C46EE7}"/>
              </a:ext>
            </a:extLst>
          </p:cNvPr>
          <p:cNvSpPr>
            <a:spLocks xmlns:a="http://schemas.openxmlformats.org/drawingml/2006/main" noGrp="1"/>
          </p:cNvSpPr>
          <p:nvPr/>
        </p:nvSpPr>
        <p:spPr>
          <a:xfrm xmlns:a="http://schemas.openxmlformats.org/drawingml/2006/main">
            <a:off x="0" y="0"/>
            <a:ext cx="6572250" cy="6858000"/>
          </a:xfrm>
          <a:prstGeom xmlns:a="http://schemas.openxmlformats.org/drawingml/2006/main" prst="rect">
            <a:avLst/>
          </a:prstGeom>
          <a:solidFill xmlns:a="http://schemas.openxmlformats.org/drawingml/2006/main">
            <a:srgbClr val="050506"/>
          </a:solidFill>
          <a:ln xmlns:a="http://schemas.openxmlformats.org/drawingml/2006/main" w="0">
            <a:solidFill>
              <a:srgbClr val="000000">
                <a:alpha val="0"/>
              </a:srgbClr>
            </a:solidFill>
            <a:prstDash val="solid"/>
          </a:ln>
        </p:spPr>
      </p:sp>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b1a0774f1e0d445f"/>
          <a:srcRect xmlns:a="http://schemas.openxmlformats.org/drawingml/2006/main" l="27042" t="0" r="27042" b="0"/>
          <a:stretch xmlns:a="http://schemas.openxmlformats.org/drawingml/2006/main">
            <a:fillRect l="0" t="0" r="0" b="0"/>
          </a:stretch>
        </p:blipFill>
        <p:spPr>
          <a:xfrm xmlns:a="http://schemas.openxmlformats.org/drawingml/2006/main">
            <a:off x="6591300" y="0"/>
            <a:ext cx="5600700" cy="6858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C9E15A2-5935-460E-9942-EE36DE2EAF5C}"/>
              </a:ext>
            </a:extLst>
          </p:cNvPr>
          <p:cNvSpPr>
            <a:spLocks xmlns:a="http://schemas.openxmlformats.org/drawingml/2006/main" noGrp="1"/>
          </p:cNvSpPr>
          <p:nvPr/>
        </p:nvSpPr>
        <p:spPr>
          <a:xfrm xmlns:a="http://schemas.openxmlformats.org/drawingml/2006/main">
            <a:off x="6591300" y="0"/>
            <a:ext cx="5600700" cy="6858000"/>
          </a:xfrm>
          <a:prstGeom xmlns:a="http://schemas.openxmlformats.org/drawingml/2006/main" prst="rect">
            <a:avLst/>
          </a:prstGeom>
          <a:solidFill xmlns:a="http://schemas.openxmlformats.org/drawingml/2006/main">
            <a:srgbClr val="000000">
              <a:alpha val="53333"/>
            </a:srgbClr>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F5DE43AE-DD42-4B22-AA47-74AC4664EA59}"/>
              </a:ext>
            </a:extLst>
          </p:cNvPr>
          <p:cNvSpPr>
            <a:spLocks xmlns:a="http://schemas.openxmlformats.org/drawingml/2006/main" noGrp="1"/>
          </p:cNvSpPr>
          <p:nvPr/>
        </p:nvSpPr>
        <p:spPr>
          <a:xfrm xmlns:a="http://schemas.openxmlformats.org/drawingml/2006/main">
            <a:off x="6572250" y="0"/>
            <a:ext cx="19050" cy="6858000"/>
          </a:xfrm>
          <a:prstGeom xmlns:a="http://schemas.openxmlformats.org/drawingml/2006/main" prst="rect">
            <a:avLst/>
          </a:prstGeom>
          <a:solidFill xmlns:a="http://schemas.openxmlformats.org/drawingml/2006/main">
            <a:srgbClr val="D9B72F"/>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5A253DEE-1501-40BB-BF14-B310A2F0CC15}"/>
              </a:ext>
            </a:extLst>
          </p:cNvPr>
          <p:cNvSpPr>
            <a:spLocks xmlns:a="http://schemas.openxmlformats.org/drawingml/2006/main" noGrp="1"/>
          </p:cNvSpPr>
          <p:nvPr/>
        </p:nvSpPr>
        <p:spPr>
          <a:xfrm xmlns:a="http://schemas.openxmlformats.org/drawingml/2006/main">
            <a:off x="685800" y="723900"/>
            <a:ext cx="4953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D9B72F"/>
                </a:solidFill>
                <a:latin typeface="Aptos Mono"/>
                <a:ea typeface="Aptos Mono"/>
                <a:cs typeface="Aptos Mono"/>
              </a:defRPr>
            </a:pPr>
            <a:r>
              <a:rPr sz="1200" b="1">
                <a:solidFill>
                  <a:srgbClr val="D9B72F"/>
                </a:solidFill>
                <a:latin typeface="Aptos Mono"/>
                <a:ea typeface="Aptos Mono"/>
                <a:cs typeface="Aptos Mono"/>
              </a:rPr>
              <a:t>AWS Cloud Migration Presentation</a:t>
            </a:r>
          </a:p>
        </p:txBody>
      </p:sp>
      <p:sp>
        <p:nvSpPr>
          <p:cNvPr id="7" name="">
            <a:extLst xmlns:a="http://schemas.openxmlformats.org/drawingml/2006/main">
              <a:ext uri="{FF2B5EF4-FFF2-40B4-BE49-F238E27FC236}">
                <a16:creationId xmlns:a16="http://schemas.microsoft.com/office/drawing/2014/main" id="{F0B94409-7D3C-43AF-A0D7-FB3E6344EDEE}"/>
              </a:ext>
            </a:extLst>
          </p:cNvPr>
          <p:cNvSpPr>
            <a:spLocks xmlns:a="http://schemas.openxmlformats.org/drawingml/2006/main" noGrp="1"/>
          </p:cNvSpPr>
          <p:nvPr/>
        </p:nvSpPr>
        <p:spPr>
          <a:xfrm xmlns:a="http://schemas.openxmlformats.org/drawingml/2006/main">
            <a:off x="666750" y="1200150"/>
            <a:ext cx="590550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4350" b="0">
                <a:solidFill>
                  <a:srgbClr val="FFFFFF"/>
                </a:solidFill>
                <a:latin typeface="Georgia"/>
                <a:ea typeface="Georgia"/>
                <a:cs typeface="Georgia"/>
              </a:defRPr>
            </a:pPr>
            <a:r>
              <a:rPr sz="4350" b="0">
                <a:solidFill>
                  <a:srgbClr val="FFFFFF"/>
                </a:solidFill>
                <a:latin typeface="Georgia"/>
                <a:ea typeface="Georgia"/>
                <a:cs typeface="Georgia"/>
              </a:rPr>
              <a:t>Zani's Eatery</a:t>
            </a:r>
          </a:p>
        </p:txBody>
      </p:sp>
      <p:sp>
        <p:nvSpPr>
          <p:cNvPr id="8" name="">
            <a:extLst xmlns:a="http://schemas.openxmlformats.org/drawingml/2006/main">
              <a:ext uri="{FF2B5EF4-FFF2-40B4-BE49-F238E27FC236}">
                <a16:creationId xmlns:a16="http://schemas.microsoft.com/office/drawing/2014/main" id="{01BB06B6-251C-481E-BCB4-6645FEB28C15}"/>
              </a:ext>
            </a:extLst>
          </p:cNvPr>
          <p:cNvSpPr>
            <a:spLocks xmlns:a="http://schemas.openxmlformats.org/drawingml/2006/main" noGrp="1"/>
          </p:cNvSpPr>
          <p:nvPr/>
        </p:nvSpPr>
        <p:spPr>
          <a:xfrm xmlns:a="http://schemas.openxmlformats.org/drawingml/2006/main">
            <a:off x="695325" y="2114550"/>
            <a:ext cx="561975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0">
                <a:solidFill>
                  <a:srgbClr val="F4EFE6"/>
                </a:solidFill>
                <a:latin typeface="Aptos"/>
                <a:ea typeface="Aptos"/>
                <a:cs typeface="Aptos"/>
              </a:defRPr>
            </a:pPr>
            <a:r>
              <a:rPr sz="1725" b="0">
                <a:solidFill>
                  <a:srgbClr val="F4EFE6"/>
                </a:solidFill>
                <a:latin typeface="Aptos"/>
                <a:ea typeface="Aptos"/>
                <a:cs typeface="Aptos"/>
              </a:rPr>
              <a:t>Static website, online bookings, orders, and a serverless AWS architecture for a growing local restaurant.</a:t>
            </a:r>
          </a:p>
        </p:txBody>
      </p:sp>
      <p:sp>
        <p:nvSpPr>
          <p:cNvPr id="9" name="">
            <a:extLst xmlns:a="http://schemas.openxmlformats.org/drawingml/2006/main">
              <a:ext uri="{FF2B5EF4-FFF2-40B4-BE49-F238E27FC236}">
                <a16:creationId xmlns:a16="http://schemas.microsoft.com/office/drawing/2014/main" id="{EE039734-7C6C-4686-B179-43E52BFC348C}"/>
              </a:ext>
            </a:extLst>
          </p:cNvPr>
          <p:cNvSpPr>
            <a:spLocks xmlns:a="http://schemas.openxmlformats.org/drawingml/2006/main" noGrp="1"/>
          </p:cNvSpPr>
          <p:nvPr/>
        </p:nvSpPr>
        <p:spPr>
          <a:xfrm xmlns:a="http://schemas.openxmlformats.org/drawingml/2006/main">
            <a:off x="685800" y="4095750"/>
            <a:ext cx="2476500" cy="1066800"/>
          </a:xfrm>
          <a:prstGeom xmlns:a="http://schemas.openxmlformats.org/drawingml/2006/main" prst="roundRect">
            <a:avLst>
              <a:gd name="adj" fmla="val 7143"/>
            </a:avLst>
          </a:prstGeom>
          <a:solidFill xmlns:a="http://schemas.openxmlformats.org/drawingml/2006/main">
            <a:srgbClr val="242629"/>
          </a:solidFill>
          <a:ln xmlns:a="http://schemas.openxmlformats.org/drawingml/2006/main" w="9525">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2A74497F-3DF0-4EBB-8CC5-D51B1095C3FA}"/>
              </a:ext>
            </a:extLst>
          </p:cNvPr>
          <p:cNvSpPr>
            <a:spLocks xmlns:a="http://schemas.openxmlformats.org/drawingml/2006/main" noGrp="1"/>
          </p:cNvSpPr>
          <p:nvPr/>
        </p:nvSpPr>
        <p:spPr>
          <a:xfrm xmlns:a="http://schemas.openxmlformats.org/drawingml/2006/main">
            <a:off x="876300" y="4267200"/>
            <a:ext cx="2095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400" b="1">
                <a:solidFill>
                  <a:srgbClr val="D9B72F"/>
                </a:solidFill>
                <a:latin typeface="Georgia"/>
                <a:ea typeface="Georgia"/>
                <a:cs typeface="Georgia"/>
              </a:defRPr>
            </a:pPr>
            <a:r>
              <a:rPr sz="2400" b="1">
                <a:solidFill>
                  <a:srgbClr val="D9B72F"/>
                </a:solidFill>
                <a:latin typeface="Georgia"/>
                <a:ea typeface="Georgia"/>
                <a:cs typeface="Georgia"/>
              </a:rPr>
              <a:t>S3</a:t>
            </a:r>
          </a:p>
        </p:txBody>
      </p:sp>
      <p:sp>
        <p:nvSpPr>
          <p:cNvPr id="11" name="">
            <a:extLst xmlns:a="http://schemas.openxmlformats.org/drawingml/2006/main">
              <a:ext uri="{FF2B5EF4-FFF2-40B4-BE49-F238E27FC236}">
                <a16:creationId xmlns:a16="http://schemas.microsoft.com/office/drawing/2014/main" id="{7F1F4DB8-5768-4720-BB7E-F2CE3A398C57}"/>
              </a:ext>
            </a:extLst>
          </p:cNvPr>
          <p:cNvSpPr>
            <a:spLocks xmlns:a="http://schemas.openxmlformats.org/drawingml/2006/main" noGrp="1"/>
          </p:cNvSpPr>
          <p:nvPr/>
        </p:nvSpPr>
        <p:spPr>
          <a:xfrm xmlns:a="http://schemas.openxmlformats.org/drawingml/2006/main">
            <a:off x="876300" y="4686300"/>
            <a:ext cx="20955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FFFFFF"/>
                </a:solidFill>
                <a:latin typeface="Aptos"/>
                <a:ea typeface="Aptos"/>
                <a:cs typeface="Aptos"/>
              </a:defRPr>
            </a:pPr>
            <a:r>
              <a:rPr sz="1050" b="0">
                <a:solidFill>
                  <a:srgbClr val="FFFFFF"/>
                </a:solidFill>
                <a:latin typeface="Aptos"/>
                <a:ea typeface="Aptos"/>
                <a:cs typeface="Aptos"/>
              </a:rPr>
              <a:t>Static website hosting and menu assets</a:t>
            </a:r>
          </a:p>
        </p:txBody>
      </p:sp>
      <p:sp>
        <p:nvSpPr>
          <p:cNvPr id="12" name="">
            <a:extLst xmlns:a="http://schemas.openxmlformats.org/drawingml/2006/main">
              <a:ext uri="{FF2B5EF4-FFF2-40B4-BE49-F238E27FC236}">
                <a16:creationId xmlns:a16="http://schemas.microsoft.com/office/drawing/2014/main" id="{61CF287D-CB74-4511-AD5C-DEC7235D042A}"/>
              </a:ext>
            </a:extLst>
          </p:cNvPr>
          <p:cNvSpPr>
            <a:spLocks xmlns:a="http://schemas.openxmlformats.org/drawingml/2006/main" noGrp="1"/>
          </p:cNvSpPr>
          <p:nvPr/>
        </p:nvSpPr>
        <p:spPr>
          <a:xfrm xmlns:a="http://schemas.openxmlformats.org/drawingml/2006/main">
            <a:off x="3352800" y="4095750"/>
            <a:ext cx="2762250" cy="1066800"/>
          </a:xfrm>
          <a:prstGeom xmlns:a="http://schemas.openxmlformats.org/drawingml/2006/main" prst="roundRect">
            <a:avLst>
              <a:gd name="adj" fmla="val 7143"/>
            </a:avLst>
          </a:prstGeom>
          <a:solidFill xmlns:a="http://schemas.openxmlformats.org/drawingml/2006/main">
            <a:srgbClr val="242629"/>
          </a:solidFill>
          <a:ln xmlns:a="http://schemas.openxmlformats.org/drawingml/2006/main" w="9525">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F93BCF67-B444-470F-949A-3F8C5F41186C}"/>
              </a:ext>
            </a:extLst>
          </p:cNvPr>
          <p:cNvSpPr>
            <a:spLocks xmlns:a="http://schemas.openxmlformats.org/drawingml/2006/main" noGrp="1"/>
          </p:cNvSpPr>
          <p:nvPr/>
        </p:nvSpPr>
        <p:spPr>
          <a:xfrm xmlns:a="http://schemas.openxmlformats.org/drawingml/2006/main">
            <a:off x="3543300" y="4267200"/>
            <a:ext cx="2381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400" b="1">
                <a:solidFill>
                  <a:srgbClr val="D9B72F"/>
                </a:solidFill>
                <a:latin typeface="Georgia"/>
                <a:ea typeface="Georgia"/>
                <a:cs typeface="Georgia"/>
              </a:defRPr>
            </a:pPr>
            <a:r>
              <a:rPr sz="2400" b="1">
                <a:solidFill>
                  <a:srgbClr val="D9B72F"/>
                </a:solidFill>
                <a:latin typeface="Georgia"/>
                <a:ea typeface="Georgia"/>
                <a:cs typeface="Georgia"/>
              </a:rPr>
              <a:t>af-south-1</a:t>
            </a:r>
          </a:p>
        </p:txBody>
      </p:sp>
      <p:sp>
        <p:nvSpPr>
          <p:cNvPr id="14" name="">
            <a:extLst xmlns:a="http://schemas.openxmlformats.org/drawingml/2006/main">
              <a:ext uri="{FF2B5EF4-FFF2-40B4-BE49-F238E27FC236}">
                <a16:creationId xmlns:a16="http://schemas.microsoft.com/office/drawing/2014/main" id="{5192EF60-266D-4926-A0BC-B6FBADC68558}"/>
              </a:ext>
            </a:extLst>
          </p:cNvPr>
          <p:cNvSpPr>
            <a:spLocks xmlns:a="http://schemas.openxmlformats.org/drawingml/2006/main" noGrp="1"/>
          </p:cNvSpPr>
          <p:nvPr/>
        </p:nvSpPr>
        <p:spPr>
          <a:xfrm xmlns:a="http://schemas.openxmlformats.org/drawingml/2006/main">
            <a:off x="3543300" y="4686300"/>
            <a:ext cx="23812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FFFFFF"/>
                </a:solidFill>
                <a:latin typeface="Aptos"/>
                <a:ea typeface="Aptos"/>
                <a:cs typeface="Aptos"/>
              </a:defRPr>
            </a:pPr>
            <a:r>
              <a:rPr sz="1050" b="0">
                <a:solidFill>
                  <a:srgbClr val="FFFFFF"/>
                </a:solidFill>
                <a:latin typeface="Aptos"/>
                <a:ea typeface="Aptos"/>
                <a:cs typeface="Aptos"/>
              </a:rPr>
              <a:t>Cape Town region for South African users</a:t>
            </a:r>
          </a:p>
        </p:txBody>
      </p:sp>
      <p:sp>
        <p:nvSpPr>
          <p:cNvPr id="15" name="">
            <a:extLst xmlns:a="http://schemas.openxmlformats.org/drawingml/2006/main">
              <a:ext uri="{FF2B5EF4-FFF2-40B4-BE49-F238E27FC236}">
                <a16:creationId xmlns:a16="http://schemas.microsoft.com/office/drawing/2014/main" id="{39EC5B0D-93C5-4C0C-A871-851DADCD8702}"/>
              </a:ext>
            </a:extLst>
          </p:cNvPr>
          <p:cNvSpPr>
            <a:spLocks xmlns:a="http://schemas.openxmlformats.org/drawingml/2006/main" noGrp="1"/>
          </p:cNvSpPr>
          <p:nvPr/>
        </p:nvSpPr>
        <p:spPr>
          <a:xfrm xmlns:a="http://schemas.openxmlformats.org/drawingml/2006/main">
            <a:off x="704850" y="6343650"/>
            <a:ext cx="5334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D7D1C7"/>
                </a:solidFill>
                <a:latin typeface="Aptos"/>
                <a:ea typeface="Aptos"/>
                <a:cs typeface="Aptos"/>
              </a:defRPr>
            </a:pPr>
            <a:r>
              <a:rPr sz="900" b="0">
                <a:solidFill>
                  <a:srgbClr val="D7D1C7"/>
                </a:solidFill>
                <a:latin typeface="Aptos"/>
                <a:ea typeface="Aptos"/>
                <a:cs typeface="Aptos"/>
              </a:rPr>
              <a:t>Prepared as a solutions architecture deck | May 2026</a:t>
            </a:r>
          </a:p>
        </p:txBody>
      </p:sp>
    </p:spTree>
    <p:extLst>
      <p:ext uri="{BB962C8B-B14F-4D97-AF65-F5344CB8AC3E}">
        <p14:creationId xmlns:p14="http://schemas.microsoft.com/office/powerpoint/2010/main" val="58498209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BAF96F5-FD28-4B2D-A88D-653FC6C4DF9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7F0"/>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4D8B881F-8434-41D7-AC68-3B04597737D0}"/>
              </a:ext>
            </a:extLst>
          </p:cNvPr>
          <p:cNvSpPr>
            <a:spLocks xmlns:a="http://schemas.openxmlformats.org/drawingml/2006/main" noGrp="1"/>
          </p:cNvSpPr>
          <p:nvPr/>
        </p:nvSpPr>
        <p:spPr>
          <a:xfrm xmlns:a="http://schemas.openxmlformats.org/drawingml/2006/main">
            <a:off x="666750" y="581025"/>
            <a:ext cx="323850" cy="19050"/>
          </a:xfrm>
          <a:prstGeom xmlns:a="http://schemas.openxmlformats.org/drawingml/2006/main" prst="rect">
            <a:avLst/>
          </a:prstGeom>
          <a:solidFill xmlns:a="http://schemas.openxmlformats.org/drawingml/2006/main">
            <a:srgbClr val="D9B72F"/>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DF3C2841-FC36-40ED-A147-FE6CFBCC12BF}"/>
              </a:ext>
            </a:extLst>
          </p:cNvPr>
          <p:cNvSpPr>
            <a:spLocks xmlns:a="http://schemas.openxmlformats.org/drawingml/2006/main" noGrp="1"/>
          </p:cNvSpPr>
          <p:nvPr/>
        </p:nvSpPr>
        <p:spPr>
          <a:xfrm xmlns:a="http://schemas.openxmlformats.org/drawingml/2006/main">
            <a:off x="1104900" y="51435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D9B72F"/>
                </a:solidFill>
                <a:latin typeface="Aptos Mono"/>
                <a:ea typeface="Aptos Mono"/>
                <a:cs typeface="Aptos Mono"/>
              </a:defRPr>
            </a:pPr>
            <a:r>
              <a:rPr sz="975" b="1">
                <a:solidFill>
                  <a:srgbClr val="D9B72F"/>
                </a:solidFill>
                <a:latin typeface="Aptos Mono"/>
                <a:ea typeface="Aptos Mono"/>
                <a:cs typeface="Aptos Mono"/>
              </a:rPr>
              <a:t>TABLE OF CONTENTS</a:t>
            </a:r>
          </a:p>
        </p:txBody>
      </p:sp>
      <p:sp>
        <p:nvSpPr>
          <p:cNvPr id="4" name="">
            <a:extLst xmlns:a="http://schemas.openxmlformats.org/drawingml/2006/main">
              <a:ext uri="{FF2B5EF4-FFF2-40B4-BE49-F238E27FC236}">
                <a16:creationId xmlns:a16="http://schemas.microsoft.com/office/drawing/2014/main" id="{A743AAC6-93D2-43C1-941A-6B3825B4E3EA}"/>
              </a:ext>
            </a:extLst>
          </p:cNvPr>
          <p:cNvSpPr>
            <a:spLocks xmlns:a="http://schemas.openxmlformats.org/drawingml/2006/main" noGrp="1"/>
          </p:cNvSpPr>
          <p:nvPr/>
        </p:nvSpPr>
        <p:spPr>
          <a:xfrm xmlns:a="http://schemas.openxmlformats.org/drawingml/2006/main">
            <a:off x="666750" y="838200"/>
            <a:ext cx="752475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0">
                <a:solidFill>
                  <a:srgbClr val="111111"/>
                </a:solidFill>
                <a:latin typeface="Georgia"/>
                <a:ea typeface="Georgia"/>
                <a:cs typeface="Georgia"/>
              </a:defRPr>
            </a:pPr>
            <a:r>
              <a:rPr sz="3150" b="0">
                <a:solidFill>
                  <a:srgbClr val="111111"/>
                </a:solidFill>
                <a:latin typeface="Georgia"/>
                <a:ea typeface="Georgia"/>
                <a:cs typeface="Georgia"/>
              </a:rPr>
              <a:t>The story moves from business problem to AWS solution.</a:t>
            </a:r>
          </a:p>
        </p:txBody>
      </p:sp>
      <p:sp>
        <p:nvSpPr>
          <p:cNvPr id="5" name="">
            <a:extLst xmlns:a="http://schemas.openxmlformats.org/drawingml/2006/main">
              <a:ext uri="{FF2B5EF4-FFF2-40B4-BE49-F238E27FC236}">
                <a16:creationId xmlns:a16="http://schemas.microsoft.com/office/drawing/2014/main" id="{2E53BBFD-4729-4D10-A27E-E2BA325AF9F6}"/>
              </a:ext>
            </a:extLst>
          </p:cNvPr>
          <p:cNvSpPr>
            <a:spLocks xmlns:a="http://schemas.openxmlformats.org/drawingml/2006/main" noGrp="1"/>
          </p:cNvSpPr>
          <p:nvPr/>
        </p:nvSpPr>
        <p:spPr>
          <a:xfrm xmlns:a="http://schemas.openxmlformats.org/drawingml/2006/main">
            <a:off x="876300" y="2095500"/>
            <a:ext cx="9810750" cy="590550"/>
          </a:xfrm>
          <a:prstGeom xmlns:a="http://schemas.openxmlformats.org/drawingml/2006/main" prst="rect">
            <a:avLst/>
          </a:prstGeom>
          <a:solidFill xmlns:a="http://schemas.openxmlformats.org/drawingml/2006/main">
            <a:srgbClr val="F3EDDF"/>
          </a:solidFill>
          <a:ln xmlns:a="http://schemas.openxmlformats.org/drawingml/2006/main" w="9525">
            <a:solidFill>
              <a:srgbClr val="E2D9C7"/>
            </a:solidFill>
            <a:prstDash val="solid"/>
          </a:ln>
        </p:spPr>
      </p:sp>
      <p:sp>
        <p:nvSpPr>
          <p:cNvPr id="6" name="">
            <a:extLst xmlns:a="http://schemas.openxmlformats.org/drawingml/2006/main">
              <a:ext uri="{FF2B5EF4-FFF2-40B4-BE49-F238E27FC236}">
                <a16:creationId xmlns:a16="http://schemas.microsoft.com/office/drawing/2014/main" id="{732A7EF0-8E62-4217-9562-FE7F2D125965}"/>
              </a:ext>
            </a:extLst>
          </p:cNvPr>
          <p:cNvSpPr>
            <a:spLocks xmlns:a="http://schemas.openxmlformats.org/drawingml/2006/main" noGrp="1"/>
          </p:cNvSpPr>
          <p:nvPr/>
        </p:nvSpPr>
        <p:spPr>
          <a:xfrm xmlns:a="http://schemas.openxmlformats.org/drawingml/2006/main">
            <a:off x="1123950" y="2219325"/>
            <a:ext cx="523875"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B99322"/>
                </a:solidFill>
                <a:latin typeface="Aptos Mono"/>
                <a:ea typeface="Aptos Mono"/>
                <a:cs typeface="Aptos Mono"/>
              </a:defRPr>
            </a:pPr>
            <a:r>
              <a:rPr sz="1650" b="1">
                <a:solidFill>
                  <a:srgbClr val="B99322"/>
                </a:solidFill>
                <a:latin typeface="Aptos Mono"/>
                <a:ea typeface="Aptos Mono"/>
                <a:cs typeface="Aptos Mono"/>
              </a:rPr>
              <a:t>01</a:t>
            </a:r>
          </a:p>
        </p:txBody>
      </p:sp>
      <p:sp>
        <p:nvSpPr>
          <p:cNvPr id="7" name="">
            <a:extLst xmlns:a="http://schemas.openxmlformats.org/drawingml/2006/main">
              <a:ext uri="{FF2B5EF4-FFF2-40B4-BE49-F238E27FC236}">
                <a16:creationId xmlns:a16="http://schemas.microsoft.com/office/drawing/2014/main" id="{E40F0149-D77C-4F97-8928-2AF7B21E7BDE}"/>
              </a:ext>
            </a:extLst>
          </p:cNvPr>
          <p:cNvSpPr>
            <a:spLocks xmlns:a="http://schemas.openxmlformats.org/drawingml/2006/main" noGrp="1"/>
          </p:cNvSpPr>
          <p:nvPr/>
        </p:nvSpPr>
        <p:spPr>
          <a:xfrm xmlns:a="http://schemas.openxmlformats.org/drawingml/2006/main">
            <a:off x="1885950" y="2209800"/>
            <a:ext cx="29527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11111"/>
                </a:solidFill>
                <a:latin typeface="Aptos"/>
                <a:ea typeface="Aptos"/>
                <a:cs typeface="Aptos"/>
              </a:defRPr>
            </a:pPr>
            <a:r>
              <a:rPr sz="1650" b="1">
                <a:solidFill>
                  <a:srgbClr val="111111"/>
                </a:solidFill>
                <a:latin typeface="Aptos"/>
                <a:ea typeface="Aptos"/>
                <a:cs typeface="Aptos"/>
              </a:rPr>
              <a:t>Company overview</a:t>
            </a:r>
          </a:p>
        </p:txBody>
      </p:sp>
      <p:sp>
        <p:nvSpPr>
          <p:cNvPr id="8" name="">
            <a:extLst xmlns:a="http://schemas.openxmlformats.org/drawingml/2006/main">
              <a:ext uri="{FF2B5EF4-FFF2-40B4-BE49-F238E27FC236}">
                <a16:creationId xmlns:a16="http://schemas.microsoft.com/office/drawing/2014/main" id="{9B3DBF39-40AA-482A-8F8D-86F60661EFE6}"/>
              </a:ext>
            </a:extLst>
          </p:cNvPr>
          <p:cNvSpPr>
            <a:spLocks xmlns:a="http://schemas.openxmlformats.org/drawingml/2006/main" noGrp="1"/>
          </p:cNvSpPr>
          <p:nvPr/>
        </p:nvSpPr>
        <p:spPr>
          <a:xfrm xmlns:a="http://schemas.openxmlformats.org/drawingml/2006/main">
            <a:off x="5048250" y="2247900"/>
            <a:ext cx="5143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6F737A"/>
                </a:solidFill>
                <a:latin typeface="Aptos"/>
                <a:ea typeface="Aptos"/>
                <a:cs typeface="Aptos"/>
              </a:defRPr>
            </a:pPr>
            <a:r>
              <a:rPr sz="1275" b="0">
                <a:solidFill>
                  <a:srgbClr val="6F737A"/>
                </a:solidFill>
                <a:latin typeface="Aptos"/>
                <a:ea typeface="Aptos"/>
                <a:cs typeface="Aptos"/>
              </a:rPr>
              <a:t>Where the restaurant is from and why it was selected</a:t>
            </a:r>
          </a:p>
        </p:txBody>
      </p:sp>
      <p:sp>
        <p:nvSpPr>
          <p:cNvPr id="9" name="">
            <a:extLst xmlns:a="http://schemas.openxmlformats.org/drawingml/2006/main">
              <a:ext uri="{FF2B5EF4-FFF2-40B4-BE49-F238E27FC236}">
                <a16:creationId xmlns:a16="http://schemas.microsoft.com/office/drawing/2014/main" id="{ABD6EF99-0E4C-41B6-AFA3-D119906A7A8D}"/>
              </a:ext>
            </a:extLst>
          </p:cNvPr>
          <p:cNvSpPr>
            <a:spLocks xmlns:a="http://schemas.openxmlformats.org/drawingml/2006/main" noGrp="1"/>
          </p:cNvSpPr>
          <p:nvPr/>
        </p:nvSpPr>
        <p:spPr>
          <a:xfrm xmlns:a="http://schemas.openxmlformats.org/drawingml/2006/main">
            <a:off x="876300" y="2933700"/>
            <a:ext cx="9810750" cy="590550"/>
          </a:xfrm>
          <a:prstGeom xmlns:a="http://schemas.openxmlformats.org/drawingml/2006/main" prst="rect">
            <a:avLst/>
          </a:prstGeom>
          <a:solidFill xmlns:a="http://schemas.openxmlformats.org/drawingml/2006/main">
            <a:srgbClr val="FFFDF7"/>
          </a:solidFill>
          <a:ln xmlns:a="http://schemas.openxmlformats.org/drawingml/2006/main" w="9525">
            <a:solidFill>
              <a:srgbClr val="E2D9C7"/>
            </a:solidFill>
            <a:prstDash val="solid"/>
          </a:ln>
        </p:spPr>
      </p:sp>
      <p:sp>
        <p:nvSpPr>
          <p:cNvPr id="10" name="">
            <a:extLst xmlns:a="http://schemas.openxmlformats.org/drawingml/2006/main">
              <a:ext uri="{FF2B5EF4-FFF2-40B4-BE49-F238E27FC236}">
                <a16:creationId xmlns:a16="http://schemas.microsoft.com/office/drawing/2014/main" id="{22D2BB46-B170-4E53-90A8-944D2DD1DDEA}"/>
              </a:ext>
            </a:extLst>
          </p:cNvPr>
          <p:cNvSpPr>
            <a:spLocks xmlns:a="http://schemas.openxmlformats.org/drawingml/2006/main" noGrp="1"/>
          </p:cNvSpPr>
          <p:nvPr/>
        </p:nvSpPr>
        <p:spPr>
          <a:xfrm xmlns:a="http://schemas.openxmlformats.org/drawingml/2006/main">
            <a:off x="1123950" y="3057525"/>
            <a:ext cx="523875"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B99322"/>
                </a:solidFill>
                <a:latin typeface="Aptos Mono"/>
                <a:ea typeface="Aptos Mono"/>
                <a:cs typeface="Aptos Mono"/>
              </a:defRPr>
            </a:pPr>
            <a:r>
              <a:rPr sz="1650" b="1">
                <a:solidFill>
                  <a:srgbClr val="B99322"/>
                </a:solidFill>
                <a:latin typeface="Aptos Mono"/>
                <a:ea typeface="Aptos Mono"/>
                <a:cs typeface="Aptos Mono"/>
              </a:rPr>
              <a:t>02</a:t>
            </a:r>
          </a:p>
        </p:txBody>
      </p:sp>
      <p:sp>
        <p:nvSpPr>
          <p:cNvPr id="11" name="">
            <a:extLst xmlns:a="http://schemas.openxmlformats.org/drawingml/2006/main">
              <a:ext uri="{FF2B5EF4-FFF2-40B4-BE49-F238E27FC236}">
                <a16:creationId xmlns:a16="http://schemas.microsoft.com/office/drawing/2014/main" id="{CF411100-5CE9-401F-9FC0-E3AAE46CFC47}"/>
              </a:ext>
            </a:extLst>
          </p:cNvPr>
          <p:cNvSpPr>
            <a:spLocks xmlns:a="http://schemas.openxmlformats.org/drawingml/2006/main" noGrp="1"/>
          </p:cNvSpPr>
          <p:nvPr/>
        </p:nvSpPr>
        <p:spPr>
          <a:xfrm xmlns:a="http://schemas.openxmlformats.org/drawingml/2006/main">
            <a:off x="1885950" y="3048000"/>
            <a:ext cx="29527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11111"/>
                </a:solidFill>
                <a:latin typeface="Aptos"/>
                <a:ea typeface="Aptos"/>
                <a:cs typeface="Aptos"/>
              </a:defRPr>
            </a:pPr>
            <a:r>
              <a:rPr sz="1650" b="1">
                <a:solidFill>
                  <a:srgbClr val="111111"/>
                </a:solidFill>
                <a:latin typeface="Aptos"/>
                <a:ea typeface="Aptos"/>
                <a:cs typeface="Aptos"/>
              </a:rPr>
              <a:t>Restaurant challenges</a:t>
            </a:r>
          </a:p>
        </p:txBody>
      </p:sp>
      <p:sp>
        <p:nvSpPr>
          <p:cNvPr id="12" name="">
            <a:extLst xmlns:a="http://schemas.openxmlformats.org/drawingml/2006/main">
              <a:ext uri="{FF2B5EF4-FFF2-40B4-BE49-F238E27FC236}">
                <a16:creationId xmlns:a16="http://schemas.microsoft.com/office/drawing/2014/main" id="{7614F924-C7B6-4B8D-9F89-7934D7230072}"/>
              </a:ext>
            </a:extLst>
          </p:cNvPr>
          <p:cNvSpPr>
            <a:spLocks xmlns:a="http://schemas.openxmlformats.org/drawingml/2006/main" noGrp="1"/>
          </p:cNvSpPr>
          <p:nvPr/>
        </p:nvSpPr>
        <p:spPr>
          <a:xfrm xmlns:a="http://schemas.openxmlformats.org/drawingml/2006/main">
            <a:off x="5048250" y="3086100"/>
            <a:ext cx="5143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6F737A"/>
                </a:solidFill>
                <a:latin typeface="Aptos"/>
                <a:ea typeface="Aptos"/>
                <a:cs typeface="Aptos"/>
              </a:defRPr>
            </a:pPr>
            <a:r>
              <a:rPr sz="1275" b="0">
                <a:solidFill>
                  <a:srgbClr val="6F737A"/>
                </a:solidFill>
                <a:latin typeface="Aptos"/>
                <a:ea typeface="Aptos"/>
                <a:cs typeface="Aptos"/>
              </a:rPr>
              <a:t>Manual bookings, order mix-ups, and scaling limits</a:t>
            </a:r>
          </a:p>
        </p:txBody>
      </p:sp>
      <p:sp>
        <p:nvSpPr>
          <p:cNvPr id="13" name="">
            <a:extLst xmlns:a="http://schemas.openxmlformats.org/drawingml/2006/main">
              <a:ext uri="{FF2B5EF4-FFF2-40B4-BE49-F238E27FC236}">
                <a16:creationId xmlns:a16="http://schemas.microsoft.com/office/drawing/2014/main" id="{F1A8F686-6882-4129-99CB-35363957EF96}"/>
              </a:ext>
            </a:extLst>
          </p:cNvPr>
          <p:cNvSpPr>
            <a:spLocks xmlns:a="http://schemas.openxmlformats.org/drawingml/2006/main" noGrp="1"/>
          </p:cNvSpPr>
          <p:nvPr/>
        </p:nvSpPr>
        <p:spPr>
          <a:xfrm xmlns:a="http://schemas.openxmlformats.org/drawingml/2006/main">
            <a:off x="876300" y="3771900"/>
            <a:ext cx="9810750" cy="590550"/>
          </a:xfrm>
          <a:prstGeom xmlns:a="http://schemas.openxmlformats.org/drawingml/2006/main" prst="rect">
            <a:avLst/>
          </a:prstGeom>
          <a:solidFill xmlns:a="http://schemas.openxmlformats.org/drawingml/2006/main">
            <a:srgbClr val="F3EDDF"/>
          </a:solidFill>
          <a:ln xmlns:a="http://schemas.openxmlformats.org/drawingml/2006/main" w="9525">
            <a:solidFill>
              <a:srgbClr val="E2D9C7"/>
            </a:solidFill>
            <a:prstDash val="solid"/>
          </a:ln>
        </p:spPr>
      </p:sp>
      <p:sp>
        <p:nvSpPr>
          <p:cNvPr id="14" name="">
            <a:extLst xmlns:a="http://schemas.openxmlformats.org/drawingml/2006/main">
              <a:ext uri="{FF2B5EF4-FFF2-40B4-BE49-F238E27FC236}">
                <a16:creationId xmlns:a16="http://schemas.microsoft.com/office/drawing/2014/main" id="{EE285E4A-6EC5-498D-AEC1-7228A214E293}"/>
              </a:ext>
            </a:extLst>
          </p:cNvPr>
          <p:cNvSpPr>
            <a:spLocks xmlns:a="http://schemas.openxmlformats.org/drawingml/2006/main" noGrp="1"/>
          </p:cNvSpPr>
          <p:nvPr/>
        </p:nvSpPr>
        <p:spPr>
          <a:xfrm xmlns:a="http://schemas.openxmlformats.org/drawingml/2006/main">
            <a:off x="1123950" y="3895725"/>
            <a:ext cx="523875"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B99322"/>
                </a:solidFill>
                <a:latin typeface="Aptos Mono"/>
                <a:ea typeface="Aptos Mono"/>
                <a:cs typeface="Aptos Mono"/>
              </a:defRPr>
            </a:pPr>
            <a:r>
              <a:rPr sz="1650" b="1">
                <a:solidFill>
                  <a:srgbClr val="B99322"/>
                </a:solidFill>
                <a:latin typeface="Aptos Mono"/>
                <a:ea typeface="Aptos Mono"/>
                <a:cs typeface="Aptos Mono"/>
              </a:rPr>
              <a:t>03</a:t>
            </a:r>
          </a:p>
        </p:txBody>
      </p:sp>
      <p:sp>
        <p:nvSpPr>
          <p:cNvPr id="15" name="">
            <a:extLst xmlns:a="http://schemas.openxmlformats.org/drawingml/2006/main">
              <a:ext uri="{FF2B5EF4-FFF2-40B4-BE49-F238E27FC236}">
                <a16:creationId xmlns:a16="http://schemas.microsoft.com/office/drawing/2014/main" id="{8F8E60BB-3260-456E-8200-61B9EA781E77}"/>
              </a:ext>
            </a:extLst>
          </p:cNvPr>
          <p:cNvSpPr>
            <a:spLocks xmlns:a="http://schemas.openxmlformats.org/drawingml/2006/main" noGrp="1"/>
          </p:cNvSpPr>
          <p:nvPr/>
        </p:nvSpPr>
        <p:spPr>
          <a:xfrm xmlns:a="http://schemas.openxmlformats.org/drawingml/2006/main">
            <a:off x="1885950" y="3886200"/>
            <a:ext cx="29527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11111"/>
                </a:solidFill>
                <a:latin typeface="Aptos"/>
                <a:ea typeface="Aptos"/>
                <a:cs typeface="Aptos"/>
              </a:defRPr>
            </a:pPr>
            <a:r>
              <a:rPr sz="1650" b="1">
                <a:solidFill>
                  <a:srgbClr val="111111"/>
                </a:solidFill>
                <a:latin typeface="Aptos"/>
                <a:ea typeface="Aptos"/>
                <a:cs typeface="Aptos"/>
              </a:rPr>
              <a:t>Static website build</a:t>
            </a:r>
          </a:p>
        </p:txBody>
      </p:sp>
      <p:sp>
        <p:nvSpPr>
          <p:cNvPr id="16" name="">
            <a:extLst xmlns:a="http://schemas.openxmlformats.org/drawingml/2006/main">
              <a:ext uri="{FF2B5EF4-FFF2-40B4-BE49-F238E27FC236}">
                <a16:creationId xmlns:a16="http://schemas.microsoft.com/office/drawing/2014/main" id="{6CE312F3-4DCE-4483-8FFC-AF86F829CD81}"/>
              </a:ext>
            </a:extLst>
          </p:cNvPr>
          <p:cNvSpPr>
            <a:spLocks xmlns:a="http://schemas.openxmlformats.org/drawingml/2006/main" noGrp="1"/>
          </p:cNvSpPr>
          <p:nvPr/>
        </p:nvSpPr>
        <p:spPr>
          <a:xfrm xmlns:a="http://schemas.openxmlformats.org/drawingml/2006/main">
            <a:off x="5048250" y="3924300"/>
            <a:ext cx="5143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6F737A"/>
                </a:solidFill>
                <a:latin typeface="Aptos"/>
                <a:ea typeface="Aptos"/>
                <a:cs typeface="Aptos"/>
              </a:defRPr>
            </a:pPr>
            <a:r>
              <a:rPr sz="1275" b="0">
                <a:solidFill>
                  <a:srgbClr val="6F737A"/>
                </a:solidFill>
                <a:latin typeface="Aptos"/>
                <a:ea typeface="Aptos"/>
                <a:cs typeface="Aptos"/>
              </a:rPr>
              <a:t>How the front end was designed and deployed</a:t>
            </a:r>
          </a:p>
        </p:txBody>
      </p:sp>
      <p:sp>
        <p:nvSpPr>
          <p:cNvPr id="17" name="">
            <a:extLst xmlns:a="http://schemas.openxmlformats.org/drawingml/2006/main">
              <a:ext uri="{FF2B5EF4-FFF2-40B4-BE49-F238E27FC236}">
                <a16:creationId xmlns:a16="http://schemas.microsoft.com/office/drawing/2014/main" id="{63500F94-C0F1-48FD-82C1-17DF3800198A}"/>
              </a:ext>
            </a:extLst>
          </p:cNvPr>
          <p:cNvSpPr>
            <a:spLocks xmlns:a="http://schemas.openxmlformats.org/drawingml/2006/main" noGrp="1"/>
          </p:cNvSpPr>
          <p:nvPr/>
        </p:nvSpPr>
        <p:spPr>
          <a:xfrm xmlns:a="http://schemas.openxmlformats.org/drawingml/2006/main">
            <a:off x="876300" y="4610100"/>
            <a:ext cx="9810750" cy="590550"/>
          </a:xfrm>
          <a:prstGeom xmlns:a="http://schemas.openxmlformats.org/drawingml/2006/main" prst="rect">
            <a:avLst/>
          </a:prstGeom>
          <a:solidFill xmlns:a="http://schemas.openxmlformats.org/drawingml/2006/main">
            <a:srgbClr val="FFFDF7"/>
          </a:solidFill>
          <a:ln xmlns:a="http://schemas.openxmlformats.org/drawingml/2006/main" w="9525">
            <a:solidFill>
              <a:srgbClr val="E2D9C7"/>
            </a:solidFill>
            <a:prstDash val="solid"/>
          </a:ln>
        </p:spPr>
      </p:sp>
      <p:sp>
        <p:nvSpPr>
          <p:cNvPr id="18" name="">
            <a:extLst xmlns:a="http://schemas.openxmlformats.org/drawingml/2006/main">
              <a:ext uri="{FF2B5EF4-FFF2-40B4-BE49-F238E27FC236}">
                <a16:creationId xmlns:a16="http://schemas.microsoft.com/office/drawing/2014/main" id="{DF54AF3A-A434-48EE-A05A-E986E05D50CD}"/>
              </a:ext>
            </a:extLst>
          </p:cNvPr>
          <p:cNvSpPr>
            <a:spLocks xmlns:a="http://schemas.openxmlformats.org/drawingml/2006/main" noGrp="1"/>
          </p:cNvSpPr>
          <p:nvPr/>
        </p:nvSpPr>
        <p:spPr>
          <a:xfrm xmlns:a="http://schemas.openxmlformats.org/drawingml/2006/main">
            <a:off x="1123950" y="4733925"/>
            <a:ext cx="523875"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B99322"/>
                </a:solidFill>
                <a:latin typeface="Aptos Mono"/>
                <a:ea typeface="Aptos Mono"/>
                <a:cs typeface="Aptos Mono"/>
              </a:defRPr>
            </a:pPr>
            <a:r>
              <a:rPr sz="1650" b="1">
                <a:solidFill>
                  <a:srgbClr val="B99322"/>
                </a:solidFill>
                <a:latin typeface="Aptos Mono"/>
                <a:ea typeface="Aptos Mono"/>
                <a:cs typeface="Aptos Mono"/>
              </a:rPr>
              <a:t>04</a:t>
            </a:r>
          </a:p>
        </p:txBody>
      </p:sp>
      <p:sp>
        <p:nvSpPr>
          <p:cNvPr id="19" name="">
            <a:extLst xmlns:a="http://schemas.openxmlformats.org/drawingml/2006/main">
              <a:ext uri="{FF2B5EF4-FFF2-40B4-BE49-F238E27FC236}">
                <a16:creationId xmlns:a16="http://schemas.microsoft.com/office/drawing/2014/main" id="{5182F339-A51B-47F6-8798-83853C2CA6EC}"/>
              </a:ext>
            </a:extLst>
          </p:cNvPr>
          <p:cNvSpPr>
            <a:spLocks xmlns:a="http://schemas.openxmlformats.org/drawingml/2006/main" noGrp="1"/>
          </p:cNvSpPr>
          <p:nvPr/>
        </p:nvSpPr>
        <p:spPr>
          <a:xfrm xmlns:a="http://schemas.openxmlformats.org/drawingml/2006/main">
            <a:off x="1885950" y="4724400"/>
            <a:ext cx="29527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11111"/>
                </a:solidFill>
                <a:latin typeface="Aptos"/>
                <a:ea typeface="Aptos"/>
                <a:cs typeface="Aptos"/>
              </a:defRPr>
            </a:pPr>
            <a:r>
              <a:rPr sz="1650" b="1">
                <a:solidFill>
                  <a:srgbClr val="111111"/>
                </a:solidFill>
                <a:latin typeface="Aptos"/>
                <a:ea typeface="Aptos"/>
                <a:cs typeface="Aptos"/>
              </a:rPr>
              <a:t>AWS migration architecture</a:t>
            </a:r>
          </a:p>
        </p:txBody>
      </p:sp>
      <p:sp>
        <p:nvSpPr>
          <p:cNvPr id="20" name="">
            <a:extLst xmlns:a="http://schemas.openxmlformats.org/drawingml/2006/main">
              <a:ext uri="{FF2B5EF4-FFF2-40B4-BE49-F238E27FC236}">
                <a16:creationId xmlns:a16="http://schemas.microsoft.com/office/drawing/2014/main" id="{3E740BFB-BF33-493D-9102-4FD450250D7C}"/>
              </a:ext>
            </a:extLst>
          </p:cNvPr>
          <p:cNvSpPr>
            <a:spLocks xmlns:a="http://schemas.openxmlformats.org/drawingml/2006/main" noGrp="1"/>
          </p:cNvSpPr>
          <p:nvPr/>
        </p:nvSpPr>
        <p:spPr>
          <a:xfrm xmlns:a="http://schemas.openxmlformats.org/drawingml/2006/main">
            <a:off x="5048250" y="4762500"/>
            <a:ext cx="5143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6F737A"/>
                </a:solidFill>
                <a:latin typeface="Aptos"/>
                <a:ea typeface="Aptos"/>
                <a:cs typeface="Aptos"/>
              </a:defRPr>
            </a:pPr>
            <a:r>
              <a:rPr sz="1275" b="0">
                <a:solidFill>
                  <a:srgbClr val="6F737A"/>
                </a:solidFill>
                <a:latin typeface="Aptos"/>
                <a:ea typeface="Aptos"/>
                <a:cs typeface="Aptos"/>
              </a:rPr>
              <a:t>Services, data flow, benefits, and roadmap</a:t>
            </a:r>
          </a:p>
        </p:txBody>
      </p:sp>
      <p:sp>
        <p:nvSpPr>
          <p:cNvPr id="21" name="">
            <a:extLst xmlns:a="http://schemas.openxmlformats.org/drawingml/2006/main">
              <a:ext uri="{FF2B5EF4-FFF2-40B4-BE49-F238E27FC236}">
                <a16:creationId xmlns:a16="http://schemas.microsoft.com/office/drawing/2014/main" id="{5838B579-0BCE-450C-9CD2-1E1C5A2D868F}"/>
              </a:ext>
            </a:extLst>
          </p:cNvPr>
          <p:cNvSpPr>
            <a:spLocks xmlns:a="http://schemas.openxmlformats.org/drawingml/2006/main" noGrp="1"/>
          </p:cNvSpPr>
          <p:nvPr/>
        </p:nvSpPr>
        <p:spPr>
          <a:xfrm xmlns:a="http://schemas.openxmlformats.org/drawingml/2006/main">
            <a:off x="666750" y="65151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F737A"/>
                </a:solidFill>
                <a:latin typeface="Aptos"/>
                <a:ea typeface="Aptos"/>
                <a:cs typeface="Aptos"/>
              </a:defRPr>
            </a:pPr>
            <a:r>
              <a:rPr sz="750" b="0">
                <a:solidFill>
                  <a:srgbClr val="6F737A"/>
                </a:solidFill>
                <a:latin typeface="Aptos"/>
                <a:ea typeface="Aptos"/>
                <a:cs typeface="Aptos"/>
              </a:rPr>
              <a:t>Source: zani-eatery-aws-report.md and deployed S3 website</a:t>
            </a:r>
          </a:p>
        </p:txBody>
      </p:sp>
      <p:sp>
        <p:nvSpPr>
          <p:cNvPr id="22" name="">
            <a:extLst xmlns:a="http://schemas.openxmlformats.org/drawingml/2006/main">
              <a:ext uri="{FF2B5EF4-FFF2-40B4-BE49-F238E27FC236}">
                <a16:creationId xmlns:a16="http://schemas.microsoft.com/office/drawing/2014/main" id="{8650E18F-DBA7-43D0-A20B-3A2BC206C3C8}"/>
              </a:ext>
            </a:extLst>
          </p:cNvPr>
          <p:cNvSpPr>
            <a:spLocks xmlns:a="http://schemas.openxmlformats.org/drawingml/2006/main" noGrp="1"/>
          </p:cNvSpPr>
          <p:nvPr/>
        </p:nvSpPr>
        <p:spPr>
          <a:xfrm xmlns:a="http://schemas.openxmlformats.org/drawingml/2006/main">
            <a:off x="11239500" y="6438900"/>
            <a:ext cx="381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6F737A"/>
                </a:solidFill>
                <a:latin typeface="Aptos Mono"/>
                <a:ea typeface="Aptos Mono"/>
                <a:cs typeface="Aptos Mono"/>
              </a:defRPr>
            </a:pPr>
            <a:r>
              <a:rPr sz="900" b="0">
                <a:solidFill>
                  <a:srgbClr val="6F737A"/>
                </a:solidFill>
                <a:latin typeface="Aptos Mono"/>
                <a:ea typeface="Aptos Mono"/>
                <a:cs typeface="Aptos Mono"/>
              </a:rPr>
              <a:t>02</a:t>
            </a:r>
          </a:p>
        </p:txBody>
      </p:sp>
    </p:spTree>
    <p:extLst>
      <p:ext uri="{BB962C8B-B14F-4D97-AF65-F5344CB8AC3E}">
        <p14:creationId xmlns:p14="http://schemas.microsoft.com/office/powerpoint/2010/main" val="165605944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ED50AA5-6D0A-4E5D-A53A-DFC3253BF6B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7F0"/>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F193FDB-BD4E-42B1-80F5-AA5569BEA402}"/>
              </a:ext>
            </a:extLst>
          </p:cNvPr>
          <p:cNvSpPr>
            <a:spLocks xmlns:a="http://schemas.openxmlformats.org/drawingml/2006/main" noGrp="1"/>
          </p:cNvSpPr>
          <p:nvPr/>
        </p:nvSpPr>
        <p:spPr>
          <a:xfrm xmlns:a="http://schemas.openxmlformats.org/drawingml/2006/main">
            <a:off x="666750" y="581025"/>
            <a:ext cx="323850" cy="19050"/>
          </a:xfrm>
          <a:prstGeom xmlns:a="http://schemas.openxmlformats.org/drawingml/2006/main" prst="rect">
            <a:avLst/>
          </a:prstGeom>
          <a:solidFill xmlns:a="http://schemas.openxmlformats.org/drawingml/2006/main">
            <a:srgbClr val="D9B72F"/>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FEDE800F-779B-4DB8-9801-1BF3D4F9DB37}"/>
              </a:ext>
            </a:extLst>
          </p:cNvPr>
          <p:cNvSpPr>
            <a:spLocks xmlns:a="http://schemas.openxmlformats.org/drawingml/2006/main" noGrp="1"/>
          </p:cNvSpPr>
          <p:nvPr/>
        </p:nvSpPr>
        <p:spPr>
          <a:xfrm xmlns:a="http://schemas.openxmlformats.org/drawingml/2006/main">
            <a:off x="1104900" y="51435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D9B72F"/>
                </a:solidFill>
                <a:latin typeface="Aptos Mono"/>
                <a:ea typeface="Aptos Mono"/>
                <a:cs typeface="Aptos Mono"/>
              </a:defRPr>
            </a:pPr>
            <a:r>
              <a:rPr sz="975" b="1">
                <a:solidFill>
                  <a:srgbClr val="D9B72F"/>
                </a:solidFill>
                <a:latin typeface="Aptos Mono"/>
                <a:ea typeface="Aptos Mono"/>
                <a:cs typeface="Aptos Mono"/>
              </a:rPr>
              <a:t>COMPANY OVERVIEW</a:t>
            </a:r>
          </a:p>
        </p:txBody>
      </p:sp>
      <p:sp>
        <p:nvSpPr>
          <p:cNvPr id="4" name="">
            <a:extLst xmlns:a="http://schemas.openxmlformats.org/drawingml/2006/main">
              <a:ext uri="{FF2B5EF4-FFF2-40B4-BE49-F238E27FC236}">
                <a16:creationId xmlns:a16="http://schemas.microsoft.com/office/drawing/2014/main" id="{D70D7B93-42F9-45E1-AAFB-7EFF2B486617}"/>
              </a:ext>
            </a:extLst>
          </p:cNvPr>
          <p:cNvSpPr>
            <a:spLocks xmlns:a="http://schemas.openxmlformats.org/drawingml/2006/main" noGrp="1"/>
          </p:cNvSpPr>
          <p:nvPr/>
        </p:nvSpPr>
        <p:spPr>
          <a:xfrm xmlns:a="http://schemas.openxmlformats.org/drawingml/2006/main">
            <a:off x="666750" y="838200"/>
            <a:ext cx="752475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0">
                <a:solidFill>
                  <a:srgbClr val="111111"/>
                </a:solidFill>
                <a:latin typeface="Georgia"/>
                <a:ea typeface="Georgia"/>
                <a:cs typeface="Georgia"/>
              </a:defRPr>
            </a:pPr>
            <a:r>
              <a:rPr sz="3150" b="0">
                <a:solidFill>
                  <a:srgbClr val="111111"/>
                </a:solidFill>
                <a:latin typeface="Georgia"/>
                <a:ea typeface="Georgia"/>
                <a:cs typeface="Georgia"/>
              </a:rPr>
              <a:t>Zani's Eatery is a local restaurant ready for a digital operating model.</a:t>
            </a:r>
          </a:p>
        </p:txBody>
      </p:sp>
      <p:sp>
        <p:nvSpPr>
          <p:cNvPr id="5" name="">
            <a:extLst xmlns:a="http://schemas.openxmlformats.org/drawingml/2006/main">
              <a:ext uri="{FF2B5EF4-FFF2-40B4-BE49-F238E27FC236}">
                <a16:creationId xmlns:a16="http://schemas.microsoft.com/office/drawing/2014/main" id="{102B8427-D442-4835-A3B0-F8F47BE530EB}"/>
              </a:ext>
            </a:extLst>
          </p:cNvPr>
          <p:cNvSpPr>
            <a:spLocks xmlns:a="http://schemas.openxmlformats.org/drawingml/2006/main" noGrp="1"/>
          </p:cNvSpPr>
          <p:nvPr/>
        </p:nvSpPr>
        <p:spPr>
          <a:xfrm xmlns:a="http://schemas.openxmlformats.org/drawingml/2006/main">
            <a:off x="685800" y="2038350"/>
            <a:ext cx="4953000" cy="2952750"/>
          </a:xfrm>
          <a:prstGeom xmlns:a="http://schemas.openxmlformats.org/drawingml/2006/main" prst="roundRect">
            <a:avLst>
              <a:gd name="adj" fmla="val 2581"/>
            </a:avLst>
          </a:prstGeom>
          <a:solidFill xmlns:a="http://schemas.openxmlformats.org/drawingml/2006/main">
            <a:srgbClr val="242629"/>
          </a:solidFill>
          <a:ln xmlns:a="http://schemas.openxmlformats.org/drawingml/2006/main" w="9525">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8DFBF463-5B2F-4CF5-9BA3-5AA5ADF48E4E}"/>
              </a:ext>
            </a:extLst>
          </p:cNvPr>
          <p:cNvSpPr>
            <a:spLocks xmlns:a="http://schemas.openxmlformats.org/drawingml/2006/main" noGrp="1"/>
          </p:cNvSpPr>
          <p:nvPr/>
        </p:nvSpPr>
        <p:spPr>
          <a:xfrm xmlns:a="http://schemas.openxmlformats.org/drawingml/2006/main">
            <a:off x="990600" y="2343150"/>
            <a:ext cx="4000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025" b="0">
                <a:solidFill>
                  <a:srgbClr val="D9B72F"/>
                </a:solidFill>
                <a:latin typeface="Georgia"/>
                <a:ea typeface="Georgia"/>
                <a:cs typeface="Georgia"/>
              </a:defRPr>
            </a:pPr>
            <a:r>
              <a:rPr sz="2025" b="0">
                <a:solidFill>
                  <a:srgbClr val="D9B72F"/>
                </a:solidFill>
                <a:latin typeface="Georgia"/>
                <a:ea typeface="Georgia"/>
                <a:cs typeface="Georgia"/>
              </a:rPr>
              <a:t>Background</a:t>
            </a:r>
          </a:p>
        </p:txBody>
      </p:sp>
      <p:sp>
        <p:nvSpPr>
          <p:cNvPr id="7" name="">
            <a:extLst xmlns:a="http://schemas.openxmlformats.org/drawingml/2006/main">
              <a:ext uri="{FF2B5EF4-FFF2-40B4-BE49-F238E27FC236}">
                <a16:creationId xmlns:a16="http://schemas.microsoft.com/office/drawing/2014/main" id="{C71C3B3A-1B9C-4A2F-9A78-AE6F0B4774A7}"/>
              </a:ext>
            </a:extLst>
          </p:cNvPr>
          <p:cNvSpPr>
            <a:spLocks xmlns:a="http://schemas.openxmlformats.org/drawingml/2006/main" noGrp="1"/>
          </p:cNvSpPr>
          <p:nvPr/>
        </p:nvSpPr>
        <p:spPr>
          <a:xfrm xmlns:a="http://schemas.openxmlformats.org/drawingml/2006/main">
            <a:off x="1009650" y="2990850"/>
            <a:ext cx="76200" cy="76200"/>
          </a:xfrm>
          <a:prstGeom xmlns:a="http://schemas.openxmlformats.org/drawingml/2006/main" prst="ellipse">
            <a:avLst/>
          </a:prstGeom>
          <a:solidFill xmlns:a="http://schemas.openxmlformats.org/drawingml/2006/main">
            <a:srgbClr val="D9B72F"/>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4C90524D-3BFA-401C-8935-273214D59C0C}"/>
              </a:ext>
            </a:extLst>
          </p:cNvPr>
          <p:cNvSpPr>
            <a:spLocks xmlns:a="http://schemas.openxmlformats.org/drawingml/2006/main" noGrp="1"/>
          </p:cNvSpPr>
          <p:nvPr/>
        </p:nvSpPr>
        <p:spPr>
          <a:xfrm xmlns:a="http://schemas.openxmlformats.org/drawingml/2006/main">
            <a:off x="1219200" y="2914650"/>
            <a:ext cx="37909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FFFFFF"/>
                </a:solidFill>
                <a:latin typeface="Aptos"/>
                <a:ea typeface="Aptos"/>
                <a:cs typeface="Aptos"/>
              </a:defRPr>
            </a:pPr>
            <a:r>
              <a:rPr sz="1275" b="0">
                <a:solidFill>
                  <a:srgbClr val="FFFFFF"/>
                </a:solidFill>
                <a:latin typeface="Aptos"/>
                <a:ea typeface="Aptos"/>
                <a:cs typeface="Aptos"/>
              </a:rPr>
              <a:t>Local township restaurant in Katlehong, South Africa.</a:t>
            </a:r>
          </a:p>
        </p:txBody>
      </p:sp>
      <p:sp>
        <p:nvSpPr>
          <p:cNvPr id="9" name="">
            <a:extLst xmlns:a="http://schemas.openxmlformats.org/drawingml/2006/main">
              <a:ext uri="{FF2B5EF4-FFF2-40B4-BE49-F238E27FC236}">
                <a16:creationId xmlns:a16="http://schemas.microsoft.com/office/drawing/2014/main" id="{3431301F-4A5C-4177-99B9-E677514D0898}"/>
              </a:ext>
            </a:extLst>
          </p:cNvPr>
          <p:cNvSpPr>
            <a:spLocks xmlns:a="http://schemas.openxmlformats.org/drawingml/2006/main" noGrp="1"/>
          </p:cNvSpPr>
          <p:nvPr/>
        </p:nvSpPr>
        <p:spPr>
          <a:xfrm xmlns:a="http://schemas.openxmlformats.org/drawingml/2006/main">
            <a:off x="1009650" y="3448050"/>
            <a:ext cx="76200" cy="76200"/>
          </a:xfrm>
          <a:prstGeom xmlns:a="http://schemas.openxmlformats.org/drawingml/2006/main" prst="ellipse">
            <a:avLst/>
          </a:prstGeom>
          <a:solidFill xmlns:a="http://schemas.openxmlformats.org/drawingml/2006/main">
            <a:srgbClr val="D9B72F"/>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9D38B97D-AAAD-48BF-82EE-133581AA9D73}"/>
              </a:ext>
            </a:extLst>
          </p:cNvPr>
          <p:cNvSpPr>
            <a:spLocks xmlns:a="http://schemas.openxmlformats.org/drawingml/2006/main" noGrp="1"/>
          </p:cNvSpPr>
          <p:nvPr/>
        </p:nvSpPr>
        <p:spPr>
          <a:xfrm xmlns:a="http://schemas.openxmlformats.org/drawingml/2006/main">
            <a:off x="1219200" y="3371850"/>
            <a:ext cx="37909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FFFFFF"/>
                </a:solidFill>
                <a:latin typeface="Aptos"/>
                <a:ea typeface="Aptos"/>
                <a:cs typeface="Aptos"/>
              </a:defRPr>
            </a:pPr>
            <a:r>
              <a:rPr sz="1275" b="0">
                <a:solidFill>
                  <a:srgbClr val="FFFFFF"/>
                </a:solidFill>
                <a:latin typeface="Aptos"/>
                <a:ea typeface="Aptos"/>
                <a:cs typeface="Aptos"/>
              </a:rPr>
              <a:t>Growing demand across walk-ins, phone bookings, and food orders.</a:t>
            </a:r>
          </a:p>
        </p:txBody>
      </p:sp>
      <p:sp>
        <p:nvSpPr>
          <p:cNvPr id="11" name="">
            <a:extLst xmlns:a="http://schemas.openxmlformats.org/drawingml/2006/main">
              <a:ext uri="{FF2B5EF4-FFF2-40B4-BE49-F238E27FC236}">
                <a16:creationId xmlns:a16="http://schemas.microsoft.com/office/drawing/2014/main" id="{39DA10A0-DE47-41E8-8814-EA969C843601}"/>
              </a:ext>
            </a:extLst>
          </p:cNvPr>
          <p:cNvSpPr>
            <a:spLocks xmlns:a="http://schemas.openxmlformats.org/drawingml/2006/main" noGrp="1"/>
          </p:cNvSpPr>
          <p:nvPr/>
        </p:nvSpPr>
        <p:spPr>
          <a:xfrm xmlns:a="http://schemas.openxmlformats.org/drawingml/2006/main">
            <a:off x="1009650" y="3905250"/>
            <a:ext cx="76200" cy="76200"/>
          </a:xfrm>
          <a:prstGeom xmlns:a="http://schemas.openxmlformats.org/drawingml/2006/main" prst="ellipse">
            <a:avLst/>
          </a:prstGeom>
          <a:solidFill xmlns:a="http://schemas.openxmlformats.org/drawingml/2006/main">
            <a:srgbClr val="D9B72F"/>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60901DC2-3780-47EF-BE1E-BD9931BB4342}"/>
              </a:ext>
            </a:extLst>
          </p:cNvPr>
          <p:cNvSpPr>
            <a:spLocks xmlns:a="http://schemas.openxmlformats.org/drawingml/2006/main" noGrp="1"/>
          </p:cNvSpPr>
          <p:nvPr/>
        </p:nvSpPr>
        <p:spPr>
          <a:xfrm xmlns:a="http://schemas.openxmlformats.org/drawingml/2006/main">
            <a:off x="1219200" y="3829050"/>
            <a:ext cx="37909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FFFFFF"/>
                </a:solidFill>
                <a:latin typeface="Aptos"/>
                <a:ea typeface="Aptos"/>
                <a:cs typeface="Aptos"/>
              </a:defRPr>
            </a:pPr>
            <a:r>
              <a:rPr sz="1275" b="0">
                <a:solidFill>
                  <a:srgbClr val="FFFFFF"/>
                </a:solidFill>
                <a:latin typeface="Aptos"/>
                <a:ea typeface="Aptos"/>
                <a:cs typeface="Aptos"/>
              </a:rPr>
              <a:t>Selected because its manual process creates visible customer-service risk.</a:t>
            </a:r>
          </a:p>
        </p:txBody>
      </p:sp>
      <p:sp>
        <p:nvSpPr>
          <p:cNvPr id="13" name="">
            <a:extLst xmlns:a="http://schemas.openxmlformats.org/drawingml/2006/main">
              <a:ext uri="{FF2B5EF4-FFF2-40B4-BE49-F238E27FC236}">
                <a16:creationId xmlns:a16="http://schemas.microsoft.com/office/drawing/2014/main" id="{039B2FF0-9907-4BC3-B42D-05E85402AB30}"/>
              </a:ext>
            </a:extLst>
          </p:cNvPr>
          <p:cNvSpPr>
            <a:spLocks xmlns:a="http://schemas.openxmlformats.org/drawingml/2006/main" noGrp="1"/>
          </p:cNvSpPr>
          <p:nvPr/>
        </p:nvSpPr>
        <p:spPr>
          <a:xfrm xmlns:a="http://schemas.openxmlformats.org/drawingml/2006/main">
            <a:off x="1009650" y="4362450"/>
            <a:ext cx="76200" cy="76200"/>
          </a:xfrm>
          <a:prstGeom xmlns:a="http://schemas.openxmlformats.org/drawingml/2006/main" prst="ellipse">
            <a:avLst/>
          </a:prstGeom>
          <a:solidFill xmlns:a="http://schemas.openxmlformats.org/drawingml/2006/main">
            <a:srgbClr val="D9B72F"/>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75D58C4D-0345-4E4F-8949-8E21EFC3D99F}"/>
              </a:ext>
            </a:extLst>
          </p:cNvPr>
          <p:cNvSpPr>
            <a:spLocks xmlns:a="http://schemas.openxmlformats.org/drawingml/2006/main" noGrp="1"/>
          </p:cNvSpPr>
          <p:nvPr/>
        </p:nvSpPr>
        <p:spPr>
          <a:xfrm xmlns:a="http://schemas.openxmlformats.org/drawingml/2006/main">
            <a:off x="1219200" y="4286250"/>
            <a:ext cx="37909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FFFFFF"/>
                </a:solidFill>
                <a:latin typeface="Aptos"/>
                <a:ea typeface="Aptos"/>
                <a:cs typeface="Aptos"/>
              </a:defRPr>
            </a:pPr>
            <a:r>
              <a:rPr sz="1275" b="0">
                <a:solidFill>
                  <a:srgbClr val="FFFFFF"/>
                </a:solidFill>
                <a:latin typeface="Aptos"/>
                <a:ea typeface="Aptos"/>
                <a:cs typeface="Aptos"/>
              </a:rPr>
              <a:t>Goal: let customers browse, book, and order from a simple website.</a:t>
            </a:r>
          </a:p>
        </p:txBody>
      </p:sp>
      <p:sp>
        <p:nvSpPr>
          <p:cNvPr id="15" name="">
            <a:extLst xmlns:a="http://schemas.openxmlformats.org/drawingml/2006/main">
              <a:ext uri="{FF2B5EF4-FFF2-40B4-BE49-F238E27FC236}">
                <a16:creationId xmlns:a16="http://schemas.microsoft.com/office/drawing/2014/main" id="{E2F9C31D-9232-4DAE-8FDD-5A193FD5A46C}"/>
              </a:ext>
            </a:extLst>
          </p:cNvPr>
          <p:cNvSpPr>
            <a:spLocks xmlns:a="http://schemas.openxmlformats.org/drawingml/2006/main" noGrp="1"/>
          </p:cNvSpPr>
          <p:nvPr/>
        </p:nvSpPr>
        <p:spPr>
          <a:xfrm xmlns:a="http://schemas.openxmlformats.org/drawingml/2006/main">
            <a:off x="6191250" y="2209800"/>
            <a:ext cx="2286000" cy="1066800"/>
          </a:xfrm>
          <a:prstGeom xmlns:a="http://schemas.openxmlformats.org/drawingml/2006/main" prst="roundRect">
            <a:avLst>
              <a:gd name="adj" fmla="val 7143"/>
            </a:avLst>
          </a:prstGeom>
          <a:solidFill xmlns:a="http://schemas.openxmlformats.org/drawingml/2006/main">
            <a:srgbClr val="242629"/>
          </a:solidFill>
          <a:ln xmlns:a="http://schemas.openxmlformats.org/drawingml/2006/main" w="9525">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A077FF4B-469C-4344-8467-FA83E5E1379E}"/>
              </a:ext>
            </a:extLst>
          </p:cNvPr>
          <p:cNvSpPr>
            <a:spLocks xmlns:a="http://schemas.openxmlformats.org/drawingml/2006/main" noGrp="1"/>
          </p:cNvSpPr>
          <p:nvPr/>
        </p:nvSpPr>
        <p:spPr>
          <a:xfrm xmlns:a="http://schemas.openxmlformats.org/drawingml/2006/main">
            <a:off x="6381750" y="2381250"/>
            <a:ext cx="1905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400" b="1">
                <a:solidFill>
                  <a:srgbClr val="D9B72F"/>
                </a:solidFill>
                <a:latin typeface="Georgia"/>
                <a:ea typeface="Georgia"/>
                <a:cs typeface="Georgia"/>
              </a:defRPr>
            </a:pPr>
            <a:r>
              <a:rPr sz="2400" b="1">
                <a:solidFill>
                  <a:srgbClr val="D9B72F"/>
                </a:solidFill>
                <a:latin typeface="Georgia"/>
                <a:ea typeface="Georgia"/>
                <a:cs typeface="Georgia"/>
              </a:rPr>
              <a:t>100+</a:t>
            </a:r>
          </a:p>
        </p:txBody>
      </p:sp>
      <p:sp>
        <p:nvSpPr>
          <p:cNvPr id="17" name="">
            <a:extLst xmlns:a="http://schemas.openxmlformats.org/drawingml/2006/main">
              <a:ext uri="{FF2B5EF4-FFF2-40B4-BE49-F238E27FC236}">
                <a16:creationId xmlns:a16="http://schemas.microsoft.com/office/drawing/2014/main" id="{C7664C19-8EB5-4AF6-842F-023A7C136FED}"/>
              </a:ext>
            </a:extLst>
          </p:cNvPr>
          <p:cNvSpPr>
            <a:spLocks xmlns:a="http://schemas.openxmlformats.org/drawingml/2006/main" noGrp="1"/>
          </p:cNvSpPr>
          <p:nvPr/>
        </p:nvSpPr>
        <p:spPr>
          <a:xfrm xmlns:a="http://schemas.openxmlformats.org/drawingml/2006/main">
            <a:off x="6381750" y="2800350"/>
            <a:ext cx="19050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FFFFFF"/>
                </a:solidFill>
                <a:latin typeface="Aptos"/>
                <a:ea typeface="Aptos"/>
                <a:cs typeface="Aptos"/>
              </a:defRPr>
            </a:pPr>
            <a:r>
              <a:rPr sz="1050" b="0">
                <a:solidFill>
                  <a:srgbClr val="FFFFFF"/>
                </a:solidFill>
                <a:latin typeface="Aptos"/>
                <a:ea typeface="Aptos"/>
                <a:cs typeface="Aptos"/>
              </a:rPr>
              <a:t>daily customers noted in the project report</a:t>
            </a:r>
          </a:p>
        </p:txBody>
      </p:sp>
      <p:sp>
        <p:nvSpPr>
          <p:cNvPr id="18" name="">
            <a:extLst xmlns:a="http://schemas.openxmlformats.org/drawingml/2006/main">
              <a:ext uri="{FF2B5EF4-FFF2-40B4-BE49-F238E27FC236}">
                <a16:creationId xmlns:a16="http://schemas.microsoft.com/office/drawing/2014/main" id="{1560366A-4087-4742-915D-4EAE437FA210}"/>
              </a:ext>
            </a:extLst>
          </p:cNvPr>
          <p:cNvSpPr>
            <a:spLocks xmlns:a="http://schemas.openxmlformats.org/drawingml/2006/main" noGrp="1"/>
          </p:cNvSpPr>
          <p:nvPr/>
        </p:nvSpPr>
        <p:spPr>
          <a:xfrm xmlns:a="http://schemas.openxmlformats.org/drawingml/2006/main">
            <a:off x="8763000" y="2209800"/>
            <a:ext cx="2286000" cy="1066800"/>
          </a:xfrm>
          <a:prstGeom xmlns:a="http://schemas.openxmlformats.org/drawingml/2006/main" prst="roundRect">
            <a:avLst>
              <a:gd name="adj" fmla="val 7143"/>
            </a:avLst>
          </a:prstGeom>
          <a:solidFill xmlns:a="http://schemas.openxmlformats.org/drawingml/2006/main">
            <a:srgbClr val="242629"/>
          </a:solidFill>
          <a:ln xmlns:a="http://schemas.openxmlformats.org/drawingml/2006/main" w="9525">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6BE129C3-437A-42F0-A7A1-8E6129D7CF1D}"/>
              </a:ext>
            </a:extLst>
          </p:cNvPr>
          <p:cNvSpPr>
            <a:spLocks xmlns:a="http://schemas.openxmlformats.org/drawingml/2006/main" noGrp="1"/>
          </p:cNvSpPr>
          <p:nvPr/>
        </p:nvSpPr>
        <p:spPr>
          <a:xfrm xmlns:a="http://schemas.openxmlformats.org/drawingml/2006/main">
            <a:off x="8953500" y="2381250"/>
            <a:ext cx="1905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400" b="1">
                <a:solidFill>
                  <a:srgbClr val="D9B72F"/>
                </a:solidFill>
                <a:latin typeface="Georgia"/>
                <a:ea typeface="Georgia"/>
                <a:cs typeface="Georgia"/>
              </a:defRPr>
            </a:pPr>
            <a:r>
              <a:rPr sz="2400" b="1">
                <a:solidFill>
                  <a:srgbClr val="D9B72F"/>
                </a:solidFill>
                <a:latin typeface="Georgia"/>
                <a:ea typeface="Georgia"/>
                <a:cs typeface="Georgia"/>
              </a:rPr>
              <a:t>54.2K</a:t>
            </a:r>
          </a:p>
        </p:txBody>
      </p:sp>
      <p:sp>
        <p:nvSpPr>
          <p:cNvPr id="20" name="">
            <a:extLst xmlns:a="http://schemas.openxmlformats.org/drawingml/2006/main">
              <a:ext uri="{FF2B5EF4-FFF2-40B4-BE49-F238E27FC236}">
                <a16:creationId xmlns:a16="http://schemas.microsoft.com/office/drawing/2014/main" id="{38A67D3F-29FC-4C21-91C0-8039B7133C34}"/>
              </a:ext>
            </a:extLst>
          </p:cNvPr>
          <p:cNvSpPr>
            <a:spLocks xmlns:a="http://schemas.openxmlformats.org/drawingml/2006/main" noGrp="1"/>
          </p:cNvSpPr>
          <p:nvPr/>
        </p:nvSpPr>
        <p:spPr>
          <a:xfrm xmlns:a="http://schemas.openxmlformats.org/drawingml/2006/main">
            <a:off x="8953500" y="2800350"/>
            <a:ext cx="19050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FFFFFF"/>
                </a:solidFill>
                <a:latin typeface="Aptos"/>
                <a:ea typeface="Aptos"/>
                <a:cs typeface="Aptos"/>
              </a:defRPr>
            </a:pPr>
            <a:r>
              <a:rPr sz="1050" b="0">
                <a:solidFill>
                  <a:srgbClr val="FFFFFF"/>
                </a:solidFill>
                <a:latin typeface="Aptos"/>
                <a:ea typeface="Aptos"/>
                <a:cs typeface="Aptos"/>
              </a:rPr>
              <a:t>Instagram following used as demand signal</a:t>
            </a:r>
          </a:p>
        </p:txBody>
      </p:sp>
      <p:sp>
        <p:nvSpPr>
          <p:cNvPr id="21" name="">
            <a:extLst xmlns:a="http://schemas.openxmlformats.org/drawingml/2006/main">
              <a:ext uri="{FF2B5EF4-FFF2-40B4-BE49-F238E27FC236}">
                <a16:creationId xmlns:a16="http://schemas.microsoft.com/office/drawing/2014/main" id="{FA04005E-F5D5-44E4-88D5-2BCBF01577D1}"/>
              </a:ext>
            </a:extLst>
          </p:cNvPr>
          <p:cNvSpPr>
            <a:spLocks xmlns:a="http://schemas.openxmlformats.org/drawingml/2006/main" noGrp="1"/>
          </p:cNvSpPr>
          <p:nvPr/>
        </p:nvSpPr>
        <p:spPr>
          <a:xfrm xmlns:a="http://schemas.openxmlformats.org/drawingml/2006/main">
            <a:off x="6191250" y="3714750"/>
            <a:ext cx="4857750" cy="1200150"/>
          </a:xfrm>
          <a:prstGeom xmlns:a="http://schemas.openxmlformats.org/drawingml/2006/main" prst="rect">
            <a:avLst/>
          </a:prstGeom>
          <a:solidFill xmlns:a="http://schemas.openxmlformats.org/drawingml/2006/main">
            <a:srgbClr val="FFFDF7"/>
          </a:solidFill>
          <a:ln xmlns:a="http://schemas.openxmlformats.org/drawingml/2006/main" w="9525">
            <a:solidFill>
              <a:srgbClr val="D8D0C4"/>
            </a:solidFill>
            <a:prstDash val="solid"/>
          </a:ln>
        </p:spPr>
      </p:sp>
      <p:sp>
        <p:nvSpPr>
          <p:cNvPr id="22" name="">
            <a:extLst xmlns:a="http://schemas.openxmlformats.org/drawingml/2006/main">
              <a:ext uri="{FF2B5EF4-FFF2-40B4-BE49-F238E27FC236}">
                <a16:creationId xmlns:a16="http://schemas.microsoft.com/office/drawing/2014/main" id="{18650C92-EEB6-452B-A84C-8831EC744479}"/>
              </a:ext>
            </a:extLst>
          </p:cNvPr>
          <p:cNvSpPr>
            <a:spLocks xmlns:a="http://schemas.openxmlformats.org/drawingml/2006/main" noGrp="1"/>
          </p:cNvSpPr>
          <p:nvPr/>
        </p:nvSpPr>
        <p:spPr>
          <a:xfrm xmlns:a="http://schemas.openxmlformats.org/drawingml/2006/main">
            <a:off x="6477000" y="3962400"/>
            <a:ext cx="3810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11111"/>
                </a:solidFill>
                <a:latin typeface="Aptos"/>
                <a:ea typeface="Aptos"/>
                <a:cs typeface="Aptos"/>
              </a:defRPr>
            </a:pPr>
            <a:r>
              <a:rPr sz="1650" b="1">
                <a:solidFill>
                  <a:srgbClr val="111111"/>
                </a:solidFill>
                <a:latin typeface="Aptos"/>
                <a:ea typeface="Aptos"/>
                <a:cs typeface="Aptos"/>
              </a:rPr>
              <a:t>Solution architect view</a:t>
            </a:r>
          </a:p>
        </p:txBody>
      </p:sp>
      <p:sp>
        <p:nvSpPr>
          <p:cNvPr id="23" name="">
            <a:extLst xmlns:a="http://schemas.openxmlformats.org/drawingml/2006/main">
              <a:ext uri="{FF2B5EF4-FFF2-40B4-BE49-F238E27FC236}">
                <a16:creationId xmlns:a16="http://schemas.microsoft.com/office/drawing/2014/main" id="{E4C3974D-AF1A-44D5-9D9A-91C34A3733BF}"/>
              </a:ext>
            </a:extLst>
          </p:cNvPr>
          <p:cNvSpPr>
            <a:spLocks xmlns:a="http://schemas.openxmlformats.org/drawingml/2006/main" noGrp="1"/>
          </p:cNvSpPr>
          <p:nvPr/>
        </p:nvSpPr>
        <p:spPr>
          <a:xfrm xmlns:a="http://schemas.openxmlformats.org/drawingml/2006/main">
            <a:off x="6477000" y="4324350"/>
            <a:ext cx="41910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F737A"/>
                </a:solidFill>
                <a:latin typeface="Aptos"/>
                <a:ea typeface="Aptos"/>
                <a:cs typeface="Aptos"/>
              </a:defRPr>
            </a:pPr>
            <a:r>
              <a:rPr sz="1200" b="0">
                <a:solidFill>
                  <a:srgbClr val="6F737A"/>
                </a:solidFill>
                <a:latin typeface="Aptos"/>
                <a:ea typeface="Aptos"/>
                <a:cs typeface="Aptos"/>
              </a:rPr>
              <a:t>The first release should stay simple: static website on S3, then add secure identity, database-backed bookings, and staff notifications as the business grows.</a:t>
            </a:r>
          </a:p>
        </p:txBody>
      </p:sp>
      <p:sp>
        <p:nvSpPr>
          <p:cNvPr id="24" name="">
            <a:extLst xmlns:a="http://schemas.openxmlformats.org/drawingml/2006/main">
              <a:ext uri="{FF2B5EF4-FFF2-40B4-BE49-F238E27FC236}">
                <a16:creationId xmlns:a16="http://schemas.microsoft.com/office/drawing/2014/main" id="{DF9D3A24-40C5-4B20-A223-AFBF1CCC6F1A}"/>
              </a:ext>
            </a:extLst>
          </p:cNvPr>
          <p:cNvSpPr>
            <a:spLocks xmlns:a="http://schemas.openxmlformats.org/drawingml/2006/main" noGrp="1"/>
          </p:cNvSpPr>
          <p:nvPr/>
        </p:nvSpPr>
        <p:spPr>
          <a:xfrm xmlns:a="http://schemas.openxmlformats.org/drawingml/2006/main">
            <a:off x="666750" y="65151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F737A"/>
                </a:solidFill>
                <a:latin typeface="Aptos"/>
                <a:ea typeface="Aptos"/>
                <a:cs typeface="Aptos"/>
              </a:defRPr>
            </a:pPr>
            <a:r>
              <a:rPr sz="750" b="0">
                <a:solidFill>
                  <a:srgbClr val="6F737A"/>
                </a:solidFill>
                <a:latin typeface="Aptos"/>
                <a:ea typeface="Aptos"/>
                <a:cs typeface="Aptos"/>
              </a:rPr>
              <a:t>Source: zani-eatery-aws-report.md and deployed S3 website</a:t>
            </a:r>
          </a:p>
        </p:txBody>
      </p:sp>
      <p:sp>
        <p:nvSpPr>
          <p:cNvPr id="25" name="">
            <a:extLst xmlns:a="http://schemas.openxmlformats.org/drawingml/2006/main">
              <a:ext uri="{FF2B5EF4-FFF2-40B4-BE49-F238E27FC236}">
                <a16:creationId xmlns:a16="http://schemas.microsoft.com/office/drawing/2014/main" id="{FEFA22E4-7D06-484A-A88B-20C784CF3755}"/>
              </a:ext>
            </a:extLst>
          </p:cNvPr>
          <p:cNvSpPr>
            <a:spLocks xmlns:a="http://schemas.openxmlformats.org/drawingml/2006/main" noGrp="1"/>
          </p:cNvSpPr>
          <p:nvPr/>
        </p:nvSpPr>
        <p:spPr>
          <a:xfrm xmlns:a="http://schemas.openxmlformats.org/drawingml/2006/main">
            <a:off x="11239500" y="6438900"/>
            <a:ext cx="381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6F737A"/>
                </a:solidFill>
                <a:latin typeface="Aptos Mono"/>
                <a:ea typeface="Aptos Mono"/>
                <a:cs typeface="Aptos Mono"/>
              </a:defRPr>
            </a:pPr>
            <a:r>
              <a:rPr sz="900" b="0">
                <a:solidFill>
                  <a:srgbClr val="6F737A"/>
                </a:solidFill>
                <a:latin typeface="Aptos Mono"/>
                <a:ea typeface="Aptos Mono"/>
                <a:cs typeface="Aptos Mono"/>
              </a:rPr>
              <a:t>03</a:t>
            </a:r>
          </a:p>
        </p:txBody>
      </p:sp>
    </p:spTree>
    <p:extLst>
      <p:ext uri="{BB962C8B-B14F-4D97-AF65-F5344CB8AC3E}">
        <p14:creationId xmlns:p14="http://schemas.microsoft.com/office/powerpoint/2010/main" val="172450618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3495CA3-32E9-4AD7-91CF-F3968F9DE87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7F0"/>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94A37013-27E8-4DBE-8DE9-228653F0E82B}"/>
              </a:ext>
            </a:extLst>
          </p:cNvPr>
          <p:cNvSpPr>
            <a:spLocks xmlns:a="http://schemas.openxmlformats.org/drawingml/2006/main" noGrp="1"/>
          </p:cNvSpPr>
          <p:nvPr/>
        </p:nvSpPr>
        <p:spPr>
          <a:xfrm xmlns:a="http://schemas.openxmlformats.org/drawingml/2006/main">
            <a:off x="666750" y="581025"/>
            <a:ext cx="323850" cy="19050"/>
          </a:xfrm>
          <a:prstGeom xmlns:a="http://schemas.openxmlformats.org/drawingml/2006/main" prst="rect">
            <a:avLst/>
          </a:prstGeom>
          <a:solidFill xmlns:a="http://schemas.openxmlformats.org/drawingml/2006/main">
            <a:srgbClr val="D9B72F"/>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FBC334E6-031A-46EF-9912-627D6295A9B5}"/>
              </a:ext>
            </a:extLst>
          </p:cNvPr>
          <p:cNvSpPr>
            <a:spLocks xmlns:a="http://schemas.openxmlformats.org/drawingml/2006/main" noGrp="1"/>
          </p:cNvSpPr>
          <p:nvPr/>
        </p:nvSpPr>
        <p:spPr>
          <a:xfrm xmlns:a="http://schemas.openxmlformats.org/drawingml/2006/main">
            <a:off x="1104900" y="51435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D9B72F"/>
                </a:solidFill>
                <a:latin typeface="Aptos Mono"/>
                <a:ea typeface="Aptos Mono"/>
                <a:cs typeface="Aptos Mono"/>
              </a:defRPr>
            </a:pPr>
            <a:r>
              <a:rPr sz="975" b="1">
                <a:solidFill>
                  <a:srgbClr val="D9B72F"/>
                </a:solidFill>
                <a:latin typeface="Aptos Mono"/>
                <a:ea typeface="Aptos Mono"/>
                <a:cs typeface="Aptos Mono"/>
              </a:rPr>
              <a:t>RESTAURANT CHALLENGES</a:t>
            </a:r>
          </a:p>
        </p:txBody>
      </p:sp>
      <p:sp>
        <p:nvSpPr>
          <p:cNvPr id="4" name="">
            <a:extLst xmlns:a="http://schemas.openxmlformats.org/drawingml/2006/main">
              <a:ext uri="{FF2B5EF4-FFF2-40B4-BE49-F238E27FC236}">
                <a16:creationId xmlns:a16="http://schemas.microsoft.com/office/drawing/2014/main" id="{2DC17715-C3BC-4C02-B699-F34406253468}"/>
              </a:ext>
            </a:extLst>
          </p:cNvPr>
          <p:cNvSpPr>
            <a:spLocks xmlns:a="http://schemas.openxmlformats.org/drawingml/2006/main" noGrp="1"/>
          </p:cNvSpPr>
          <p:nvPr/>
        </p:nvSpPr>
        <p:spPr>
          <a:xfrm xmlns:a="http://schemas.openxmlformats.org/drawingml/2006/main">
            <a:off x="666750" y="838200"/>
            <a:ext cx="752475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0">
                <a:solidFill>
                  <a:srgbClr val="111111"/>
                </a:solidFill>
                <a:latin typeface="Georgia"/>
                <a:ea typeface="Georgia"/>
                <a:cs typeface="Georgia"/>
              </a:defRPr>
            </a:pPr>
            <a:r>
              <a:rPr sz="3150" b="0">
                <a:solidFill>
                  <a:srgbClr val="111111"/>
                </a:solidFill>
                <a:latin typeface="Georgia"/>
                <a:ea typeface="Georgia"/>
                <a:cs typeface="Georgia"/>
              </a:rPr>
              <a:t>Manual booking and order handling created avoidable errors.</a:t>
            </a:r>
          </a:p>
        </p:txBody>
      </p:sp>
      <p:sp>
        <p:nvSpPr>
          <p:cNvPr id="5" name="">
            <a:extLst xmlns:a="http://schemas.openxmlformats.org/drawingml/2006/main">
              <a:ext uri="{FF2B5EF4-FFF2-40B4-BE49-F238E27FC236}">
                <a16:creationId xmlns:a16="http://schemas.microsoft.com/office/drawing/2014/main" id="{E01DF584-972F-48B6-9927-E98C27C612F2}"/>
              </a:ext>
            </a:extLst>
          </p:cNvPr>
          <p:cNvSpPr>
            <a:spLocks xmlns:a="http://schemas.openxmlformats.org/drawingml/2006/main" noGrp="1"/>
          </p:cNvSpPr>
          <p:nvPr/>
        </p:nvSpPr>
        <p:spPr>
          <a:xfrm xmlns:a="http://schemas.openxmlformats.org/drawingml/2006/main">
            <a:off x="895350" y="1981200"/>
            <a:ext cx="2000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6F737A"/>
                </a:solidFill>
                <a:latin typeface="Aptos Mono"/>
                <a:ea typeface="Aptos Mono"/>
                <a:cs typeface="Aptos Mono"/>
              </a:defRPr>
            </a:pPr>
            <a:r>
              <a:rPr sz="975" b="1">
                <a:solidFill>
                  <a:srgbClr val="6F737A"/>
                </a:solidFill>
                <a:latin typeface="Aptos Mono"/>
                <a:ea typeface="Aptos Mono"/>
                <a:cs typeface="Aptos Mono"/>
              </a:rPr>
              <a:t>Challenge</a:t>
            </a:r>
          </a:p>
        </p:txBody>
      </p:sp>
      <p:sp>
        <p:nvSpPr>
          <p:cNvPr id="6" name="">
            <a:extLst xmlns:a="http://schemas.openxmlformats.org/drawingml/2006/main">
              <a:ext uri="{FF2B5EF4-FFF2-40B4-BE49-F238E27FC236}">
                <a16:creationId xmlns:a16="http://schemas.microsoft.com/office/drawing/2014/main" id="{C9844E42-83BE-4852-A130-C9FB48AE1552}"/>
              </a:ext>
            </a:extLst>
          </p:cNvPr>
          <p:cNvSpPr>
            <a:spLocks xmlns:a="http://schemas.openxmlformats.org/drawingml/2006/main" noGrp="1"/>
          </p:cNvSpPr>
          <p:nvPr/>
        </p:nvSpPr>
        <p:spPr>
          <a:xfrm xmlns:a="http://schemas.openxmlformats.org/drawingml/2006/main">
            <a:off x="3238500" y="1981200"/>
            <a:ext cx="4000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6F737A"/>
                </a:solidFill>
                <a:latin typeface="Aptos Mono"/>
                <a:ea typeface="Aptos Mono"/>
                <a:cs typeface="Aptos Mono"/>
              </a:defRPr>
            </a:pPr>
            <a:r>
              <a:rPr sz="975" b="1">
                <a:solidFill>
                  <a:srgbClr val="6F737A"/>
                </a:solidFill>
                <a:latin typeface="Aptos Mono"/>
                <a:ea typeface="Aptos Mono"/>
                <a:cs typeface="Aptos Mono"/>
              </a:rPr>
              <a:t>Business impact</a:t>
            </a:r>
          </a:p>
        </p:txBody>
      </p:sp>
      <p:sp>
        <p:nvSpPr>
          <p:cNvPr id="7" name="">
            <a:extLst xmlns:a="http://schemas.openxmlformats.org/drawingml/2006/main">
              <a:ext uri="{FF2B5EF4-FFF2-40B4-BE49-F238E27FC236}">
                <a16:creationId xmlns:a16="http://schemas.microsoft.com/office/drawing/2014/main" id="{54DA046B-4681-4382-830C-F8E49D2D34A5}"/>
              </a:ext>
            </a:extLst>
          </p:cNvPr>
          <p:cNvSpPr>
            <a:spLocks xmlns:a="http://schemas.openxmlformats.org/drawingml/2006/main" noGrp="1"/>
          </p:cNvSpPr>
          <p:nvPr/>
        </p:nvSpPr>
        <p:spPr>
          <a:xfrm xmlns:a="http://schemas.openxmlformats.org/drawingml/2006/main">
            <a:off x="9810750" y="1981200"/>
            <a:ext cx="857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6F737A"/>
                </a:solidFill>
                <a:latin typeface="Aptos Mono"/>
                <a:ea typeface="Aptos Mono"/>
                <a:cs typeface="Aptos Mono"/>
              </a:defRPr>
            </a:pPr>
            <a:r>
              <a:rPr sz="975" b="1">
                <a:solidFill>
                  <a:srgbClr val="6F737A"/>
                </a:solidFill>
                <a:latin typeface="Aptos Mono"/>
                <a:ea typeface="Aptos Mono"/>
                <a:cs typeface="Aptos Mono"/>
              </a:rPr>
              <a:t>Risk</a:t>
            </a:r>
          </a:p>
        </p:txBody>
      </p:sp>
      <p:sp>
        <p:nvSpPr>
          <p:cNvPr id="8" name="">
            <a:extLst xmlns:a="http://schemas.openxmlformats.org/drawingml/2006/main">
              <a:ext uri="{FF2B5EF4-FFF2-40B4-BE49-F238E27FC236}">
                <a16:creationId xmlns:a16="http://schemas.microsoft.com/office/drawing/2014/main" id="{AD429BC0-29C9-42EC-8EFE-211D063E2EFF}"/>
              </a:ext>
            </a:extLst>
          </p:cNvPr>
          <p:cNvSpPr>
            <a:spLocks xmlns:a="http://schemas.openxmlformats.org/drawingml/2006/main" noGrp="1"/>
          </p:cNvSpPr>
          <p:nvPr/>
        </p:nvSpPr>
        <p:spPr>
          <a:xfrm xmlns:a="http://schemas.openxmlformats.org/drawingml/2006/main">
            <a:off x="685800" y="2324100"/>
            <a:ext cx="10363200" cy="628650"/>
          </a:xfrm>
          <a:prstGeom xmlns:a="http://schemas.openxmlformats.org/drawingml/2006/main" prst="rect">
            <a:avLst/>
          </a:prstGeom>
          <a:solidFill xmlns:a="http://schemas.openxmlformats.org/drawingml/2006/main">
            <a:srgbClr val="F2EBDD"/>
          </a:solidFill>
          <a:ln xmlns:a="http://schemas.openxmlformats.org/drawingml/2006/main" w="9525">
            <a:solidFill>
              <a:srgbClr val="DFD5C6"/>
            </a:solidFill>
            <a:prstDash val="solid"/>
          </a:ln>
        </p:spPr>
      </p:sp>
      <p:sp>
        <p:nvSpPr>
          <p:cNvPr id="9" name="">
            <a:extLst xmlns:a="http://schemas.openxmlformats.org/drawingml/2006/main">
              <a:ext uri="{FF2B5EF4-FFF2-40B4-BE49-F238E27FC236}">
                <a16:creationId xmlns:a16="http://schemas.microsoft.com/office/drawing/2014/main" id="{B30489DE-DDF8-4213-9154-638D61A77FA1}"/>
              </a:ext>
            </a:extLst>
          </p:cNvPr>
          <p:cNvSpPr>
            <a:spLocks xmlns:a="http://schemas.openxmlformats.org/drawingml/2006/main" noGrp="1"/>
          </p:cNvSpPr>
          <p:nvPr/>
        </p:nvSpPr>
        <p:spPr>
          <a:xfrm xmlns:a="http://schemas.openxmlformats.org/drawingml/2006/main">
            <a:off x="914400" y="2486025"/>
            <a:ext cx="2000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111111"/>
                </a:solidFill>
                <a:latin typeface="Aptos"/>
                <a:ea typeface="Aptos"/>
                <a:cs typeface="Aptos"/>
              </a:defRPr>
            </a:pPr>
            <a:r>
              <a:rPr sz="1575" b="1">
                <a:solidFill>
                  <a:srgbClr val="111111"/>
                </a:solidFill>
                <a:latin typeface="Aptos"/>
                <a:ea typeface="Aptos"/>
                <a:cs typeface="Aptos"/>
              </a:rPr>
              <a:t>Manual bookings</a:t>
            </a:r>
          </a:p>
        </p:txBody>
      </p:sp>
      <p:sp>
        <p:nvSpPr>
          <p:cNvPr id="10" name="">
            <a:extLst xmlns:a="http://schemas.openxmlformats.org/drawingml/2006/main">
              <a:ext uri="{FF2B5EF4-FFF2-40B4-BE49-F238E27FC236}">
                <a16:creationId xmlns:a16="http://schemas.microsoft.com/office/drawing/2014/main" id="{63E3C7B2-8762-4176-8995-C014410FE173}"/>
              </a:ext>
            </a:extLst>
          </p:cNvPr>
          <p:cNvSpPr>
            <a:spLocks xmlns:a="http://schemas.openxmlformats.org/drawingml/2006/main" noGrp="1"/>
          </p:cNvSpPr>
          <p:nvPr/>
        </p:nvSpPr>
        <p:spPr>
          <a:xfrm xmlns:a="http://schemas.openxmlformats.org/drawingml/2006/main">
            <a:off x="3238500" y="2466975"/>
            <a:ext cx="58102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F737A"/>
                </a:solidFill>
                <a:latin typeface="Aptos"/>
                <a:ea typeface="Aptos"/>
                <a:cs typeface="Aptos"/>
              </a:defRPr>
            </a:pPr>
            <a:r>
              <a:rPr sz="1200" b="0">
                <a:solidFill>
                  <a:srgbClr val="6F737A"/>
                </a:solidFill>
                <a:latin typeface="Aptos"/>
                <a:ea typeface="Aptos"/>
                <a:cs typeface="Aptos"/>
              </a:rPr>
              <a:t>Paper or spreadsheet records caused double bookings and slow confirmations.</a:t>
            </a:r>
          </a:p>
        </p:txBody>
      </p:sp>
      <p:sp>
        <p:nvSpPr>
          <p:cNvPr id="11" name="">
            <a:extLst xmlns:a="http://schemas.openxmlformats.org/drawingml/2006/main">
              <a:ext uri="{FF2B5EF4-FFF2-40B4-BE49-F238E27FC236}">
                <a16:creationId xmlns:a16="http://schemas.microsoft.com/office/drawing/2014/main" id="{845C1442-9259-4CDA-9FFD-B6C3B1298A89}"/>
              </a:ext>
            </a:extLst>
          </p:cNvPr>
          <p:cNvSpPr>
            <a:spLocks xmlns:a="http://schemas.openxmlformats.org/drawingml/2006/main" noGrp="1"/>
          </p:cNvSpPr>
          <p:nvPr/>
        </p:nvSpPr>
        <p:spPr>
          <a:xfrm xmlns:a="http://schemas.openxmlformats.org/drawingml/2006/main">
            <a:off x="9696450" y="2486025"/>
            <a:ext cx="952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B99322"/>
                </a:solidFill>
                <a:latin typeface="Aptos"/>
                <a:ea typeface="Aptos"/>
                <a:cs typeface="Aptos"/>
              </a:defRPr>
            </a:pPr>
            <a:r>
              <a:rPr sz="1350" b="1">
                <a:solidFill>
                  <a:srgbClr val="B99322"/>
                </a:solidFill>
                <a:latin typeface="Aptos"/>
                <a:ea typeface="Aptos"/>
                <a:cs typeface="Aptos"/>
              </a:rPr>
              <a:t>High</a:t>
            </a:r>
          </a:p>
        </p:txBody>
      </p:sp>
      <p:sp>
        <p:nvSpPr>
          <p:cNvPr id="12" name="">
            <a:extLst xmlns:a="http://schemas.openxmlformats.org/drawingml/2006/main">
              <a:ext uri="{FF2B5EF4-FFF2-40B4-BE49-F238E27FC236}">
                <a16:creationId xmlns:a16="http://schemas.microsoft.com/office/drawing/2014/main" id="{839D9C45-07E5-4C4E-9F45-13848AB6F0DD}"/>
              </a:ext>
            </a:extLst>
          </p:cNvPr>
          <p:cNvSpPr>
            <a:spLocks xmlns:a="http://schemas.openxmlformats.org/drawingml/2006/main" noGrp="1"/>
          </p:cNvSpPr>
          <p:nvPr/>
        </p:nvSpPr>
        <p:spPr>
          <a:xfrm xmlns:a="http://schemas.openxmlformats.org/drawingml/2006/main">
            <a:off x="685800" y="3143250"/>
            <a:ext cx="10363200" cy="628650"/>
          </a:xfrm>
          <a:prstGeom xmlns:a="http://schemas.openxmlformats.org/drawingml/2006/main" prst="rect">
            <a:avLst/>
          </a:prstGeom>
          <a:solidFill xmlns:a="http://schemas.openxmlformats.org/drawingml/2006/main">
            <a:srgbClr val="FFFDF7"/>
          </a:solidFill>
          <a:ln xmlns:a="http://schemas.openxmlformats.org/drawingml/2006/main" w="9525">
            <a:solidFill>
              <a:srgbClr val="DFD5C6"/>
            </a:solidFill>
            <a:prstDash val="solid"/>
          </a:ln>
        </p:spPr>
      </p:sp>
      <p:sp>
        <p:nvSpPr>
          <p:cNvPr id="13" name="">
            <a:extLst xmlns:a="http://schemas.openxmlformats.org/drawingml/2006/main">
              <a:ext uri="{FF2B5EF4-FFF2-40B4-BE49-F238E27FC236}">
                <a16:creationId xmlns:a16="http://schemas.microsoft.com/office/drawing/2014/main" id="{0B3503DD-D8DC-4DD2-AF50-CD4EA97EEC79}"/>
              </a:ext>
            </a:extLst>
          </p:cNvPr>
          <p:cNvSpPr>
            <a:spLocks xmlns:a="http://schemas.openxmlformats.org/drawingml/2006/main" noGrp="1"/>
          </p:cNvSpPr>
          <p:nvPr/>
        </p:nvSpPr>
        <p:spPr>
          <a:xfrm xmlns:a="http://schemas.openxmlformats.org/drawingml/2006/main">
            <a:off x="914400" y="3305175"/>
            <a:ext cx="2000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111111"/>
                </a:solidFill>
                <a:latin typeface="Aptos"/>
                <a:ea typeface="Aptos"/>
                <a:cs typeface="Aptos"/>
              </a:defRPr>
            </a:pPr>
            <a:r>
              <a:rPr sz="1575" b="1">
                <a:solidFill>
                  <a:srgbClr val="111111"/>
                </a:solidFill>
                <a:latin typeface="Aptos"/>
                <a:ea typeface="Aptos"/>
                <a:cs typeface="Aptos"/>
              </a:rPr>
              <a:t>Order mix-ups</a:t>
            </a:r>
          </a:p>
        </p:txBody>
      </p:sp>
      <p:sp>
        <p:nvSpPr>
          <p:cNvPr id="14" name="">
            <a:extLst xmlns:a="http://schemas.openxmlformats.org/drawingml/2006/main">
              <a:ext uri="{FF2B5EF4-FFF2-40B4-BE49-F238E27FC236}">
                <a16:creationId xmlns:a16="http://schemas.microsoft.com/office/drawing/2014/main" id="{93E2B550-3760-4CBC-A721-E9E573F1A6FF}"/>
              </a:ext>
            </a:extLst>
          </p:cNvPr>
          <p:cNvSpPr>
            <a:spLocks xmlns:a="http://schemas.openxmlformats.org/drawingml/2006/main" noGrp="1"/>
          </p:cNvSpPr>
          <p:nvPr/>
        </p:nvSpPr>
        <p:spPr>
          <a:xfrm xmlns:a="http://schemas.openxmlformats.org/drawingml/2006/main">
            <a:off x="3238500" y="3286125"/>
            <a:ext cx="58102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F737A"/>
                </a:solidFill>
                <a:latin typeface="Aptos"/>
                <a:ea typeface="Aptos"/>
                <a:cs typeface="Aptos"/>
              </a:defRPr>
            </a:pPr>
            <a:r>
              <a:rPr sz="1200" b="0">
                <a:solidFill>
                  <a:srgbClr val="6F737A"/>
                </a:solidFill>
                <a:latin typeface="Aptos"/>
                <a:ea typeface="Aptos"/>
                <a:cs typeface="Aptos"/>
              </a:rPr>
              <a:t>Handwritten or phone orders were easy to misread during peak hours.</a:t>
            </a:r>
          </a:p>
        </p:txBody>
      </p:sp>
      <p:sp>
        <p:nvSpPr>
          <p:cNvPr id="15" name="">
            <a:extLst xmlns:a="http://schemas.openxmlformats.org/drawingml/2006/main">
              <a:ext uri="{FF2B5EF4-FFF2-40B4-BE49-F238E27FC236}">
                <a16:creationId xmlns:a16="http://schemas.microsoft.com/office/drawing/2014/main" id="{95EFAF7D-78F3-4F36-BB3D-DDCCB26E3E9C}"/>
              </a:ext>
            </a:extLst>
          </p:cNvPr>
          <p:cNvSpPr>
            <a:spLocks xmlns:a="http://schemas.openxmlformats.org/drawingml/2006/main" noGrp="1"/>
          </p:cNvSpPr>
          <p:nvPr/>
        </p:nvSpPr>
        <p:spPr>
          <a:xfrm xmlns:a="http://schemas.openxmlformats.org/drawingml/2006/main">
            <a:off x="9696450" y="3305175"/>
            <a:ext cx="952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B94A48"/>
                </a:solidFill>
                <a:latin typeface="Aptos"/>
                <a:ea typeface="Aptos"/>
                <a:cs typeface="Aptos"/>
              </a:defRPr>
            </a:pPr>
            <a:r>
              <a:rPr sz="1350" b="1">
                <a:solidFill>
                  <a:srgbClr val="B94A48"/>
                </a:solidFill>
                <a:latin typeface="Aptos"/>
                <a:ea typeface="Aptos"/>
                <a:cs typeface="Aptos"/>
              </a:rPr>
              <a:t>Critical</a:t>
            </a:r>
          </a:p>
        </p:txBody>
      </p:sp>
      <p:sp>
        <p:nvSpPr>
          <p:cNvPr id="16" name="">
            <a:extLst xmlns:a="http://schemas.openxmlformats.org/drawingml/2006/main">
              <a:ext uri="{FF2B5EF4-FFF2-40B4-BE49-F238E27FC236}">
                <a16:creationId xmlns:a16="http://schemas.microsoft.com/office/drawing/2014/main" id="{A68127FB-9D56-46F8-A3AF-274286D192F4}"/>
              </a:ext>
            </a:extLst>
          </p:cNvPr>
          <p:cNvSpPr>
            <a:spLocks xmlns:a="http://schemas.openxmlformats.org/drawingml/2006/main" noGrp="1"/>
          </p:cNvSpPr>
          <p:nvPr/>
        </p:nvSpPr>
        <p:spPr>
          <a:xfrm xmlns:a="http://schemas.openxmlformats.org/drawingml/2006/main">
            <a:off x="685800" y="3962400"/>
            <a:ext cx="10363200" cy="628650"/>
          </a:xfrm>
          <a:prstGeom xmlns:a="http://schemas.openxmlformats.org/drawingml/2006/main" prst="rect">
            <a:avLst/>
          </a:prstGeom>
          <a:solidFill xmlns:a="http://schemas.openxmlformats.org/drawingml/2006/main">
            <a:srgbClr val="F2EBDD"/>
          </a:solidFill>
          <a:ln xmlns:a="http://schemas.openxmlformats.org/drawingml/2006/main" w="9525">
            <a:solidFill>
              <a:srgbClr val="DFD5C6"/>
            </a:solidFill>
            <a:prstDash val="solid"/>
          </a:ln>
        </p:spPr>
      </p:sp>
      <p:sp>
        <p:nvSpPr>
          <p:cNvPr id="17" name="">
            <a:extLst xmlns:a="http://schemas.openxmlformats.org/drawingml/2006/main">
              <a:ext uri="{FF2B5EF4-FFF2-40B4-BE49-F238E27FC236}">
                <a16:creationId xmlns:a16="http://schemas.microsoft.com/office/drawing/2014/main" id="{BF376120-9138-4C6F-B000-AC11E3A94CE9}"/>
              </a:ext>
            </a:extLst>
          </p:cNvPr>
          <p:cNvSpPr>
            <a:spLocks xmlns:a="http://schemas.openxmlformats.org/drawingml/2006/main" noGrp="1"/>
          </p:cNvSpPr>
          <p:nvPr/>
        </p:nvSpPr>
        <p:spPr>
          <a:xfrm xmlns:a="http://schemas.openxmlformats.org/drawingml/2006/main">
            <a:off x="914400" y="4124325"/>
            <a:ext cx="2000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111111"/>
                </a:solidFill>
                <a:latin typeface="Aptos"/>
                <a:ea typeface="Aptos"/>
                <a:cs typeface="Aptos"/>
              </a:defRPr>
            </a:pPr>
            <a:r>
              <a:rPr sz="1575" b="1">
                <a:solidFill>
                  <a:srgbClr val="111111"/>
                </a:solidFill>
                <a:latin typeface="Aptos"/>
                <a:ea typeface="Aptos"/>
                <a:cs typeface="Aptos"/>
              </a:rPr>
              <a:t>No customer history</a:t>
            </a:r>
          </a:p>
        </p:txBody>
      </p:sp>
      <p:sp>
        <p:nvSpPr>
          <p:cNvPr id="18" name="">
            <a:extLst xmlns:a="http://schemas.openxmlformats.org/drawingml/2006/main">
              <a:ext uri="{FF2B5EF4-FFF2-40B4-BE49-F238E27FC236}">
                <a16:creationId xmlns:a16="http://schemas.microsoft.com/office/drawing/2014/main" id="{52E858D0-B037-40C9-B253-FED13F9C5EC0}"/>
              </a:ext>
            </a:extLst>
          </p:cNvPr>
          <p:cNvSpPr>
            <a:spLocks xmlns:a="http://schemas.openxmlformats.org/drawingml/2006/main" noGrp="1"/>
          </p:cNvSpPr>
          <p:nvPr/>
        </p:nvSpPr>
        <p:spPr>
          <a:xfrm xmlns:a="http://schemas.openxmlformats.org/drawingml/2006/main">
            <a:off x="3238500" y="4105275"/>
            <a:ext cx="58102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F737A"/>
                </a:solidFill>
                <a:latin typeface="Aptos"/>
                <a:ea typeface="Aptos"/>
                <a:cs typeface="Aptos"/>
              </a:defRPr>
            </a:pPr>
            <a:r>
              <a:rPr sz="1200" b="0">
                <a:solidFill>
                  <a:srgbClr val="6F737A"/>
                </a:solidFill>
                <a:latin typeface="Aptos"/>
                <a:ea typeface="Aptos"/>
                <a:cs typeface="Aptos"/>
              </a:rPr>
              <a:t>Repeat customers, preferences, and special requests were not centralized.</a:t>
            </a:r>
          </a:p>
        </p:txBody>
      </p:sp>
      <p:sp>
        <p:nvSpPr>
          <p:cNvPr id="19" name="">
            <a:extLst xmlns:a="http://schemas.openxmlformats.org/drawingml/2006/main">
              <a:ext uri="{FF2B5EF4-FFF2-40B4-BE49-F238E27FC236}">
                <a16:creationId xmlns:a16="http://schemas.microsoft.com/office/drawing/2014/main" id="{C3FD0802-9F63-42F5-922D-F1E4971E5994}"/>
              </a:ext>
            </a:extLst>
          </p:cNvPr>
          <p:cNvSpPr>
            <a:spLocks xmlns:a="http://schemas.openxmlformats.org/drawingml/2006/main" noGrp="1"/>
          </p:cNvSpPr>
          <p:nvPr/>
        </p:nvSpPr>
        <p:spPr>
          <a:xfrm xmlns:a="http://schemas.openxmlformats.org/drawingml/2006/main">
            <a:off x="9696450" y="4124325"/>
            <a:ext cx="952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B99322"/>
                </a:solidFill>
                <a:latin typeface="Aptos"/>
                <a:ea typeface="Aptos"/>
                <a:cs typeface="Aptos"/>
              </a:defRPr>
            </a:pPr>
            <a:r>
              <a:rPr sz="1350" b="1">
                <a:solidFill>
                  <a:srgbClr val="B99322"/>
                </a:solidFill>
                <a:latin typeface="Aptos"/>
                <a:ea typeface="Aptos"/>
                <a:cs typeface="Aptos"/>
              </a:rPr>
              <a:t>High</a:t>
            </a:r>
          </a:p>
        </p:txBody>
      </p:sp>
      <p:sp>
        <p:nvSpPr>
          <p:cNvPr id="20" name="">
            <a:extLst xmlns:a="http://schemas.openxmlformats.org/drawingml/2006/main">
              <a:ext uri="{FF2B5EF4-FFF2-40B4-BE49-F238E27FC236}">
                <a16:creationId xmlns:a16="http://schemas.microsoft.com/office/drawing/2014/main" id="{93361196-8367-482D-BF58-E9E426FA673B}"/>
              </a:ext>
            </a:extLst>
          </p:cNvPr>
          <p:cNvSpPr>
            <a:spLocks xmlns:a="http://schemas.openxmlformats.org/drawingml/2006/main" noGrp="1"/>
          </p:cNvSpPr>
          <p:nvPr/>
        </p:nvSpPr>
        <p:spPr>
          <a:xfrm xmlns:a="http://schemas.openxmlformats.org/drawingml/2006/main">
            <a:off x="685800" y="4781550"/>
            <a:ext cx="10363200" cy="628650"/>
          </a:xfrm>
          <a:prstGeom xmlns:a="http://schemas.openxmlformats.org/drawingml/2006/main" prst="rect">
            <a:avLst/>
          </a:prstGeom>
          <a:solidFill xmlns:a="http://schemas.openxmlformats.org/drawingml/2006/main">
            <a:srgbClr val="FFFDF7"/>
          </a:solidFill>
          <a:ln xmlns:a="http://schemas.openxmlformats.org/drawingml/2006/main" w="9525">
            <a:solidFill>
              <a:srgbClr val="DFD5C6"/>
            </a:solidFill>
            <a:prstDash val="solid"/>
          </a:ln>
        </p:spPr>
      </p:sp>
      <p:sp>
        <p:nvSpPr>
          <p:cNvPr id="21" name="">
            <a:extLst xmlns:a="http://schemas.openxmlformats.org/drawingml/2006/main">
              <a:ext uri="{FF2B5EF4-FFF2-40B4-BE49-F238E27FC236}">
                <a16:creationId xmlns:a16="http://schemas.microsoft.com/office/drawing/2014/main" id="{B95B26A3-DBEB-4762-9299-253DBF578B6C}"/>
              </a:ext>
            </a:extLst>
          </p:cNvPr>
          <p:cNvSpPr>
            <a:spLocks xmlns:a="http://schemas.openxmlformats.org/drawingml/2006/main" noGrp="1"/>
          </p:cNvSpPr>
          <p:nvPr/>
        </p:nvSpPr>
        <p:spPr>
          <a:xfrm xmlns:a="http://schemas.openxmlformats.org/drawingml/2006/main">
            <a:off x="914400" y="4943475"/>
            <a:ext cx="2000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111111"/>
                </a:solidFill>
                <a:latin typeface="Aptos"/>
                <a:ea typeface="Aptos"/>
                <a:cs typeface="Aptos"/>
              </a:defRPr>
            </a:pPr>
            <a:r>
              <a:rPr sz="1575" b="1">
                <a:solidFill>
                  <a:srgbClr val="111111"/>
                </a:solidFill>
                <a:latin typeface="Aptos"/>
                <a:ea typeface="Aptos"/>
                <a:cs typeface="Aptos"/>
              </a:rPr>
              <a:t>Scaling cost</a:t>
            </a:r>
          </a:p>
        </p:txBody>
      </p:sp>
      <p:sp>
        <p:nvSpPr>
          <p:cNvPr id="22" name="">
            <a:extLst xmlns:a="http://schemas.openxmlformats.org/drawingml/2006/main">
              <a:ext uri="{FF2B5EF4-FFF2-40B4-BE49-F238E27FC236}">
                <a16:creationId xmlns:a16="http://schemas.microsoft.com/office/drawing/2014/main" id="{1B312942-27AE-46B5-B388-248B2FBE14FD}"/>
              </a:ext>
            </a:extLst>
          </p:cNvPr>
          <p:cNvSpPr>
            <a:spLocks xmlns:a="http://schemas.openxmlformats.org/drawingml/2006/main" noGrp="1"/>
          </p:cNvSpPr>
          <p:nvPr/>
        </p:nvSpPr>
        <p:spPr>
          <a:xfrm xmlns:a="http://schemas.openxmlformats.org/drawingml/2006/main">
            <a:off x="3238500" y="4924425"/>
            <a:ext cx="58102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F737A"/>
                </a:solidFill>
                <a:latin typeface="Aptos"/>
                <a:ea typeface="Aptos"/>
                <a:cs typeface="Aptos"/>
              </a:defRPr>
            </a:pPr>
            <a:r>
              <a:rPr sz="1200" b="0">
                <a:solidFill>
                  <a:srgbClr val="6F737A"/>
                </a:solidFill>
                <a:latin typeface="Aptos"/>
                <a:ea typeface="Aptos"/>
                <a:cs typeface="Aptos"/>
              </a:rPr>
              <a:t>More demand meant more admin work, staff pressure, and on-premises risk.</a:t>
            </a:r>
          </a:p>
        </p:txBody>
      </p:sp>
      <p:sp>
        <p:nvSpPr>
          <p:cNvPr id="23" name="">
            <a:extLst xmlns:a="http://schemas.openxmlformats.org/drawingml/2006/main">
              <a:ext uri="{FF2B5EF4-FFF2-40B4-BE49-F238E27FC236}">
                <a16:creationId xmlns:a16="http://schemas.microsoft.com/office/drawing/2014/main" id="{B93A3D1A-B263-4B7E-9F72-0C86AB780F46}"/>
              </a:ext>
            </a:extLst>
          </p:cNvPr>
          <p:cNvSpPr>
            <a:spLocks xmlns:a="http://schemas.openxmlformats.org/drawingml/2006/main" noGrp="1"/>
          </p:cNvSpPr>
          <p:nvPr/>
        </p:nvSpPr>
        <p:spPr>
          <a:xfrm xmlns:a="http://schemas.openxmlformats.org/drawingml/2006/main">
            <a:off x="9696450" y="4943475"/>
            <a:ext cx="952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B99322"/>
                </a:solidFill>
                <a:latin typeface="Aptos"/>
                <a:ea typeface="Aptos"/>
                <a:cs typeface="Aptos"/>
              </a:defRPr>
            </a:pPr>
            <a:r>
              <a:rPr sz="1350" b="1">
                <a:solidFill>
                  <a:srgbClr val="B99322"/>
                </a:solidFill>
                <a:latin typeface="Aptos"/>
                <a:ea typeface="Aptos"/>
                <a:cs typeface="Aptos"/>
              </a:rPr>
              <a:t>High</a:t>
            </a:r>
          </a:p>
        </p:txBody>
      </p:sp>
      <p:sp>
        <p:nvSpPr>
          <p:cNvPr id="24" name="">
            <a:extLst xmlns:a="http://schemas.openxmlformats.org/drawingml/2006/main">
              <a:ext uri="{FF2B5EF4-FFF2-40B4-BE49-F238E27FC236}">
                <a16:creationId xmlns:a16="http://schemas.microsoft.com/office/drawing/2014/main" id="{CF53B72F-A490-47E8-9530-23A3040F04E2}"/>
              </a:ext>
            </a:extLst>
          </p:cNvPr>
          <p:cNvSpPr>
            <a:spLocks xmlns:a="http://schemas.openxmlformats.org/drawingml/2006/main" noGrp="1"/>
          </p:cNvSpPr>
          <p:nvPr/>
        </p:nvSpPr>
        <p:spPr>
          <a:xfrm xmlns:a="http://schemas.openxmlformats.org/drawingml/2006/main">
            <a:off x="666750" y="65151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F737A"/>
                </a:solidFill>
                <a:latin typeface="Aptos"/>
                <a:ea typeface="Aptos"/>
                <a:cs typeface="Aptos"/>
              </a:defRPr>
            </a:pPr>
            <a:r>
              <a:rPr sz="750" b="0">
                <a:solidFill>
                  <a:srgbClr val="6F737A"/>
                </a:solidFill>
                <a:latin typeface="Aptos"/>
                <a:ea typeface="Aptos"/>
                <a:cs typeface="Aptos"/>
              </a:rPr>
              <a:t>Source: zani-eatery-aws-report.md and deployed S3 website</a:t>
            </a:r>
          </a:p>
        </p:txBody>
      </p:sp>
      <p:sp>
        <p:nvSpPr>
          <p:cNvPr id="25" name="">
            <a:extLst xmlns:a="http://schemas.openxmlformats.org/drawingml/2006/main">
              <a:ext uri="{FF2B5EF4-FFF2-40B4-BE49-F238E27FC236}">
                <a16:creationId xmlns:a16="http://schemas.microsoft.com/office/drawing/2014/main" id="{159BD5B6-EA28-470B-B4EC-D1F3C44D8453}"/>
              </a:ext>
            </a:extLst>
          </p:cNvPr>
          <p:cNvSpPr>
            <a:spLocks xmlns:a="http://schemas.openxmlformats.org/drawingml/2006/main" noGrp="1"/>
          </p:cNvSpPr>
          <p:nvPr/>
        </p:nvSpPr>
        <p:spPr>
          <a:xfrm xmlns:a="http://schemas.openxmlformats.org/drawingml/2006/main">
            <a:off x="11239500" y="6438900"/>
            <a:ext cx="381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6F737A"/>
                </a:solidFill>
                <a:latin typeface="Aptos Mono"/>
                <a:ea typeface="Aptos Mono"/>
                <a:cs typeface="Aptos Mono"/>
              </a:defRPr>
            </a:pPr>
            <a:r>
              <a:rPr sz="900" b="0">
                <a:solidFill>
                  <a:srgbClr val="6F737A"/>
                </a:solidFill>
                <a:latin typeface="Aptos Mono"/>
                <a:ea typeface="Aptos Mono"/>
                <a:cs typeface="Aptos Mono"/>
              </a:rPr>
              <a:t>04</a:t>
            </a:r>
          </a:p>
        </p:txBody>
      </p:sp>
    </p:spTree>
    <p:extLst>
      <p:ext uri="{BB962C8B-B14F-4D97-AF65-F5344CB8AC3E}">
        <p14:creationId xmlns:p14="http://schemas.microsoft.com/office/powerpoint/2010/main" val="110362919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A4E52AE-3D83-4DD9-B802-2CA88BEFD2A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90A0D"/>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F727C45F-6A40-4750-A356-D4F99B0D4213}"/>
              </a:ext>
            </a:extLst>
          </p:cNvPr>
          <p:cNvSpPr>
            <a:spLocks xmlns:a="http://schemas.openxmlformats.org/drawingml/2006/main" noGrp="1"/>
          </p:cNvSpPr>
          <p:nvPr/>
        </p:nvSpPr>
        <p:spPr>
          <a:xfrm xmlns:a="http://schemas.openxmlformats.org/drawingml/2006/main">
            <a:off x="666750" y="523875"/>
            <a:ext cx="323850" cy="19050"/>
          </a:xfrm>
          <a:prstGeom xmlns:a="http://schemas.openxmlformats.org/drawingml/2006/main" prst="rect">
            <a:avLst/>
          </a:prstGeom>
          <a:solidFill xmlns:a="http://schemas.openxmlformats.org/drawingml/2006/main">
            <a:srgbClr val="D9B72F"/>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9A5D24CF-B603-4E33-AD48-3418EA78F3A3}"/>
              </a:ext>
            </a:extLst>
          </p:cNvPr>
          <p:cNvSpPr>
            <a:spLocks xmlns:a="http://schemas.openxmlformats.org/drawingml/2006/main" noGrp="1"/>
          </p:cNvSpPr>
          <p:nvPr/>
        </p:nvSpPr>
        <p:spPr>
          <a:xfrm xmlns:a="http://schemas.openxmlformats.org/drawingml/2006/main">
            <a:off x="1104900" y="45720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D9B72F"/>
                </a:solidFill>
                <a:latin typeface="Aptos Mono"/>
                <a:ea typeface="Aptos Mono"/>
                <a:cs typeface="Aptos Mono"/>
              </a:defRPr>
            </a:pPr>
            <a:r>
              <a:rPr sz="975" b="1">
                <a:solidFill>
                  <a:srgbClr val="D9B72F"/>
                </a:solidFill>
                <a:latin typeface="Aptos Mono"/>
                <a:ea typeface="Aptos Mono"/>
                <a:cs typeface="Aptos Mono"/>
              </a:rPr>
              <a:t>STATIC WEBSITE DESIGN</a:t>
            </a:r>
          </a:p>
        </p:txBody>
      </p:sp>
      <p:sp>
        <p:nvSpPr>
          <p:cNvPr id="4" name="">
            <a:extLst xmlns:a="http://schemas.openxmlformats.org/drawingml/2006/main">
              <a:ext uri="{FF2B5EF4-FFF2-40B4-BE49-F238E27FC236}">
                <a16:creationId xmlns:a16="http://schemas.microsoft.com/office/drawing/2014/main" id="{2B2299B9-16A8-4FD0-A326-9CEE3AFC57B8}"/>
              </a:ext>
            </a:extLst>
          </p:cNvPr>
          <p:cNvSpPr>
            <a:spLocks xmlns:a="http://schemas.openxmlformats.org/drawingml/2006/main" noGrp="1"/>
          </p:cNvSpPr>
          <p:nvPr/>
        </p:nvSpPr>
        <p:spPr>
          <a:xfrm xmlns:a="http://schemas.openxmlformats.org/drawingml/2006/main">
            <a:off x="666750" y="781050"/>
            <a:ext cx="752475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0">
                <a:solidFill>
                  <a:srgbClr val="FFFFFF"/>
                </a:solidFill>
                <a:latin typeface="Georgia"/>
                <a:ea typeface="Georgia"/>
                <a:cs typeface="Georgia"/>
              </a:defRPr>
            </a:pPr>
            <a:r>
              <a:rPr sz="3150" b="0">
                <a:solidFill>
                  <a:srgbClr val="FFFFFF"/>
                </a:solidFill>
                <a:latin typeface="Georgia"/>
                <a:ea typeface="Georgia"/>
                <a:cs typeface="Georgia"/>
              </a:rPr>
              <a:t>The website gives customers a direct path to menu browsing and orders.</a:t>
            </a:r>
          </a:p>
        </p:txBody>
      </p:sp>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1a3373f634f64b47"/>
          <a:srcRect xmlns:a="http://schemas.openxmlformats.org/drawingml/2006/main" l="0" t="52" r="0" b="52"/>
          <a:stretch xmlns:a="http://schemas.openxmlformats.org/drawingml/2006/main">
            <a:fillRect l="0" t="0" r="0" b="0"/>
          </a:stretch>
        </p:blipFill>
        <p:spPr>
          <a:xfrm xmlns:a="http://schemas.openxmlformats.org/drawingml/2006/main">
            <a:off x="666750" y="1962150"/>
            <a:ext cx="6953250" cy="3905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EFC7121-8FD0-4ECE-A93C-E0AFDDA8EB9D}"/>
              </a:ext>
            </a:extLst>
          </p:cNvPr>
          <p:cNvSpPr>
            <a:spLocks xmlns:a="http://schemas.openxmlformats.org/drawingml/2006/main" noGrp="1"/>
          </p:cNvSpPr>
          <p:nvPr/>
        </p:nvSpPr>
        <p:spPr>
          <a:xfrm xmlns:a="http://schemas.openxmlformats.org/drawingml/2006/main">
            <a:off x="7924800" y="1962150"/>
            <a:ext cx="2952750" cy="3905250"/>
          </a:xfrm>
          <a:prstGeom xmlns:a="http://schemas.openxmlformats.org/drawingml/2006/main" prst="roundRect">
            <a:avLst>
              <a:gd name="adj" fmla="val 2581"/>
            </a:avLst>
          </a:prstGeom>
          <a:solidFill xmlns:a="http://schemas.openxmlformats.org/drawingml/2006/main">
            <a:srgbClr val="111318"/>
          </a:solidFill>
          <a:ln xmlns:a="http://schemas.openxmlformats.org/drawingml/2006/main" w="9525">
            <a:solidFill>
              <a:srgbClr val="3A3529"/>
            </a:solidFill>
            <a:prstDash val="solid"/>
          </a:ln>
        </p:spPr>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ad330a0a3f804908"/>
          <a:srcRect xmlns:a="http://schemas.openxmlformats.org/drawingml/2006/main" l="59" t="0" r="59" b="0"/>
          <a:stretch xmlns:a="http://schemas.openxmlformats.org/drawingml/2006/main">
            <a:fillRect l="0" t="0" r="0" b="0"/>
          </a:stretch>
        </p:blipFill>
        <p:spPr>
          <a:xfrm xmlns:a="http://schemas.openxmlformats.org/drawingml/2006/main">
            <a:off x="8172450" y="2228850"/>
            <a:ext cx="1143000" cy="24765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44C7B5D-F983-4586-A53D-E3916F4A2771}"/>
              </a:ext>
            </a:extLst>
          </p:cNvPr>
          <p:cNvSpPr>
            <a:spLocks xmlns:a="http://schemas.openxmlformats.org/drawingml/2006/main" noGrp="1"/>
          </p:cNvSpPr>
          <p:nvPr/>
        </p:nvSpPr>
        <p:spPr>
          <a:xfrm xmlns:a="http://schemas.openxmlformats.org/drawingml/2006/main">
            <a:off x="9525000" y="2247900"/>
            <a:ext cx="1238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D9B72F"/>
                </a:solidFill>
                <a:latin typeface="Aptos"/>
                <a:ea typeface="Aptos"/>
                <a:cs typeface="Aptos"/>
              </a:defRPr>
            </a:pPr>
            <a:r>
              <a:rPr sz="1650" b="1">
                <a:solidFill>
                  <a:srgbClr val="D9B72F"/>
                </a:solidFill>
                <a:latin typeface="Aptos"/>
                <a:ea typeface="Aptos"/>
                <a:cs typeface="Aptos"/>
              </a:rPr>
              <a:t>Design decisions</a:t>
            </a:r>
          </a:p>
        </p:txBody>
      </p:sp>
      <p:sp>
        <p:nvSpPr>
          <p:cNvPr id="9" name="">
            <a:extLst xmlns:a="http://schemas.openxmlformats.org/drawingml/2006/main">
              <a:ext uri="{FF2B5EF4-FFF2-40B4-BE49-F238E27FC236}">
                <a16:creationId xmlns:a16="http://schemas.microsoft.com/office/drawing/2014/main" id="{B2E62B52-5A1F-4606-A300-675C8D2DB899}"/>
              </a:ext>
            </a:extLst>
          </p:cNvPr>
          <p:cNvSpPr>
            <a:spLocks xmlns:a="http://schemas.openxmlformats.org/drawingml/2006/main" noGrp="1"/>
          </p:cNvSpPr>
          <p:nvPr/>
        </p:nvSpPr>
        <p:spPr>
          <a:xfrm xmlns:a="http://schemas.openxmlformats.org/drawingml/2006/main">
            <a:off x="9563100" y="2800350"/>
            <a:ext cx="76200" cy="76200"/>
          </a:xfrm>
          <a:prstGeom xmlns:a="http://schemas.openxmlformats.org/drawingml/2006/main" prst="ellipse">
            <a:avLst/>
          </a:prstGeom>
          <a:solidFill xmlns:a="http://schemas.openxmlformats.org/drawingml/2006/main">
            <a:srgbClr val="D9B72F"/>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6355115B-8BD7-4602-BE65-79E5EEBD8AF7}"/>
              </a:ext>
            </a:extLst>
          </p:cNvPr>
          <p:cNvSpPr>
            <a:spLocks xmlns:a="http://schemas.openxmlformats.org/drawingml/2006/main" noGrp="1"/>
          </p:cNvSpPr>
          <p:nvPr/>
        </p:nvSpPr>
        <p:spPr>
          <a:xfrm xmlns:a="http://schemas.openxmlformats.org/drawingml/2006/main">
            <a:off x="9772650" y="2724150"/>
            <a:ext cx="9144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FFFFFF"/>
                </a:solidFill>
                <a:latin typeface="Aptos"/>
                <a:ea typeface="Aptos"/>
                <a:cs typeface="Aptos"/>
              </a:defRPr>
            </a:pPr>
            <a:r>
              <a:rPr sz="975" b="0">
                <a:solidFill>
                  <a:srgbClr val="FFFFFF"/>
                </a:solidFill>
                <a:latin typeface="Aptos"/>
                <a:ea typeface="Aptos"/>
                <a:cs typeface="Aptos"/>
              </a:rPr>
              <a:t>Dark restaurant theme with gold call-to-action accents.</a:t>
            </a:r>
          </a:p>
        </p:txBody>
      </p:sp>
      <p:sp>
        <p:nvSpPr>
          <p:cNvPr id="11" name="">
            <a:extLst xmlns:a="http://schemas.openxmlformats.org/drawingml/2006/main">
              <a:ext uri="{FF2B5EF4-FFF2-40B4-BE49-F238E27FC236}">
                <a16:creationId xmlns:a16="http://schemas.microsoft.com/office/drawing/2014/main" id="{CE86CED4-2D1E-4C6C-97DB-8BA230526D9B}"/>
              </a:ext>
            </a:extLst>
          </p:cNvPr>
          <p:cNvSpPr>
            <a:spLocks xmlns:a="http://schemas.openxmlformats.org/drawingml/2006/main" noGrp="1"/>
          </p:cNvSpPr>
          <p:nvPr/>
        </p:nvSpPr>
        <p:spPr>
          <a:xfrm xmlns:a="http://schemas.openxmlformats.org/drawingml/2006/main">
            <a:off x="9563100" y="3314700"/>
            <a:ext cx="76200" cy="76200"/>
          </a:xfrm>
          <a:prstGeom xmlns:a="http://schemas.openxmlformats.org/drawingml/2006/main" prst="ellipse">
            <a:avLst/>
          </a:prstGeom>
          <a:solidFill xmlns:a="http://schemas.openxmlformats.org/drawingml/2006/main">
            <a:srgbClr val="D9B72F"/>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A0D94981-265B-422A-B627-5C56A0B926BC}"/>
              </a:ext>
            </a:extLst>
          </p:cNvPr>
          <p:cNvSpPr>
            <a:spLocks xmlns:a="http://schemas.openxmlformats.org/drawingml/2006/main" noGrp="1"/>
          </p:cNvSpPr>
          <p:nvPr/>
        </p:nvSpPr>
        <p:spPr>
          <a:xfrm xmlns:a="http://schemas.openxmlformats.org/drawingml/2006/main">
            <a:off x="9772650" y="3238500"/>
            <a:ext cx="9144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FFFFFF"/>
                </a:solidFill>
                <a:latin typeface="Aptos"/>
                <a:ea typeface="Aptos"/>
                <a:cs typeface="Aptos"/>
              </a:defRPr>
            </a:pPr>
            <a:r>
              <a:rPr sz="975" b="0">
                <a:solidFill>
                  <a:srgbClr val="FFFFFF"/>
                </a:solidFill>
                <a:latin typeface="Aptos"/>
                <a:ea typeface="Aptos"/>
                <a:cs typeface="Aptos"/>
              </a:rPr>
              <a:t>Responsive navigation for desktop and mobile visitors.</a:t>
            </a:r>
          </a:p>
        </p:txBody>
      </p:sp>
      <p:sp>
        <p:nvSpPr>
          <p:cNvPr id="13" name="">
            <a:extLst xmlns:a="http://schemas.openxmlformats.org/drawingml/2006/main">
              <a:ext uri="{FF2B5EF4-FFF2-40B4-BE49-F238E27FC236}">
                <a16:creationId xmlns:a16="http://schemas.microsoft.com/office/drawing/2014/main" id="{237CC499-476D-4345-90EC-BD96FAC90BD1}"/>
              </a:ext>
            </a:extLst>
          </p:cNvPr>
          <p:cNvSpPr>
            <a:spLocks xmlns:a="http://schemas.openxmlformats.org/drawingml/2006/main" noGrp="1"/>
          </p:cNvSpPr>
          <p:nvPr/>
        </p:nvSpPr>
        <p:spPr>
          <a:xfrm xmlns:a="http://schemas.openxmlformats.org/drawingml/2006/main">
            <a:off x="9563100" y="3829050"/>
            <a:ext cx="76200" cy="76200"/>
          </a:xfrm>
          <a:prstGeom xmlns:a="http://schemas.openxmlformats.org/drawingml/2006/main" prst="ellipse">
            <a:avLst/>
          </a:prstGeom>
          <a:solidFill xmlns:a="http://schemas.openxmlformats.org/drawingml/2006/main">
            <a:srgbClr val="D9B72F"/>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41D46526-FC6D-43C1-B3F2-832D045A4975}"/>
              </a:ext>
            </a:extLst>
          </p:cNvPr>
          <p:cNvSpPr>
            <a:spLocks xmlns:a="http://schemas.openxmlformats.org/drawingml/2006/main" noGrp="1"/>
          </p:cNvSpPr>
          <p:nvPr/>
        </p:nvSpPr>
        <p:spPr>
          <a:xfrm xmlns:a="http://schemas.openxmlformats.org/drawingml/2006/main">
            <a:off x="9772650" y="3752850"/>
            <a:ext cx="9144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FFFFFF"/>
                </a:solidFill>
                <a:latin typeface="Aptos"/>
                <a:ea typeface="Aptos"/>
                <a:cs typeface="Aptos"/>
              </a:defRPr>
            </a:pPr>
            <a:r>
              <a:rPr sz="975" b="0">
                <a:solidFill>
                  <a:srgbClr val="FFFFFF"/>
                </a:solidFill>
                <a:latin typeface="Aptos"/>
                <a:ea typeface="Aptos"/>
                <a:cs typeface="Aptos"/>
              </a:rPr>
              <a:t>Search and category filters for fast menu discovery.</a:t>
            </a:r>
          </a:p>
        </p:txBody>
      </p:sp>
      <p:sp>
        <p:nvSpPr>
          <p:cNvPr id="15" name="">
            <a:extLst xmlns:a="http://schemas.openxmlformats.org/drawingml/2006/main">
              <a:ext uri="{FF2B5EF4-FFF2-40B4-BE49-F238E27FC236}">
                <a16:creationId xmlns:a16="http://schemas.microsoft.com/office/drawing/2014/main" id="{19AB8D59-42BC-46B4-8AF7-6397CBD65D75}"/>
              </a:ext>
            </a:extLst>
          </p:cNvPr>
          <p:cNvSpPr>
            <a:spLocks xmlns:a="http://schemas.openxmlformats.org/drawingml/2006/main" noGrp="1"/>
          </p:cNvSpPr>
          <p:nvPr/>
        </p:nvSpPr>
        <p:spPr>
          <a:xfrm xmlns:a="http://schemas.openxmlformats.org/drawingml/2006/main">
            <a:off x="9563100" y="4343400"/>
            <a:ext cx="76200" cy="76200"/>
          </a:xfrm>
          <a:prstGeom xmlns:a="http://schemas.openxmlformats.org/drawingml/2006/main" prst="ellipse">
            <a:avLst/>
          </a:prstGeom>
          <a:solidFill xmlns:a="http://schemas.openxmlformats.org/drawingml/2006/main">
            <a:srgbClr val="D9B72F"/>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6ABC417A-6365-4244-87F7-8427FD6E0AD6}"/>
              </a:ext>
            </a:extLst>
          </p:cNvPr>
          <p:cNvSpPr>
            <a:spLocks xmlns:a="http://schemas.openxmlformats.org/drawingml/2006/main" noGrp="1"/>
          </p:cNvSpPr>
          <p:nvPr/>
        </p:nvSpPr>
        <p:spPr>
          <a:xfrm xmlns:a="http://schemas.openxmlformats.org/drawingml/2006/main">
            <a:off x="9772650" y="4267200"/>
            <a:ext cx="9144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FFFFFF"/>
                </a:solidFill>
                <a:latin typeface="Aptos"/>
                <a:ea typeface="Aptos"/>
                <a:cs typeface="Aptos"/>
              </a:defRPr>
            </a:pPr>
            <a:r>
              <a:rPr sz="975" b="0">
                <a:solidFill>
                  <a:srgbClr val="FFFFFF"/>
                </a:solidFill>
                <a:latin typeface="Aptos"/>
                <a:ea typeface="Aptos"/>
                <a:cs typeface="Aptos"/>
              </a:rPr>
              <a:t>Authentication gate before checkout and order history.</a:t>
            </a:r>
          </a:p>
        </p:txBody>
      </p:sp>
      <p:sp>
        <p:nvSpPr>
          <p:cNvPr id="17" name="">
            <a:extLst xmlns:a="http://schemas.openxmlformats.org/drawingml/2006/main">
              <a:ext uri="{FF2B5EF4-FFF2-40B4-BE49-F238E27FC236}">
                <a16:creationId xmlns:a16="http://schemas.microsoft.com/office/drawing/2014/main" id="{16FE1AD0-C142-457A-B44F-957E344A7127}"/>
              </a:ext>
            </a:extLst>
          </p:cNvPr>
          <p:cNvSpPr>
            <a:spLocks xmlns:a="http://schemas.openxmlformats.org/drawingml/2006/main" noGrp="1"/>
          </p:cNvSpPr>
          <p:nvPr/>
        </p:nvSpPr>
        <p:spPr>
          <a:xfrm xmlns:a="http://schemas.openxmlformats.org/drawingml/2006/main">
            <a:off x="666750" y="65151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F737A"/>
                </a:solidFill>
                <a:latin typeface="Aptos"/>
                <a:ea typeface="Aptos"/>
                <a:cs typeface="Aptos"/>
              </a:defRPr>
            </a:pPr>
            <a:r>
              <a:rPr sz="750" b="0">
                <a:solidFill>
                  <a:srgbClr val="6F737A"/>
                </a:solidFill>
                <a:latin typeface="Aptos"/>
                <a:ea typeface="Aptos"/>
                <a:cs typeface="Aptos"/>
              </a:rPr>
              <a:t>Source: deployed S3 website screenshots</a:t>
            </a:r>
          </a:p>
        </p:txBody>
      </p:sp>
      <p:sp>
        <p:nvSpPr>
          <p:cNvPr id="18" name="">
            <a:extLst xmlns:a="http://schemas.openxmlformats.org/drawingml/2006/main">
              <a:ext uri="{FF2B5EF4-FFF2-40B4-BE49-F238E27FC236}">
                <a16:creationId xmlns:a16="http://schemas.microsoft.com/office/drawing/2014/main" id="{9943FAB4-35F1-4448-91AE-5C0262C33B26}"/>
              </a:ext>
            </a:extLst>
          </p:cNvPr>
          <p:cNvSpPr>
            <a:spLocks xmlns:a="http://schemas.openxmlformats.org/drawingml/2006/main" noGrp="1"/>
          </p:cNvSpPr>
          <p:nvPr/>
        </p:nvSpPr>
        <p:spPr>
          <a:xfrm xmlns:a="http://schemas.openxmlformats.org/drawingml/2006/main">
            <a:off x="11239500" y="6438900"/>
            <a:ext cx="381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6F737A"/>
                </a:solidFill>
                <a:latin typeface="Aptos Mono"/>
                <a:ea typeface="Aptos Mono"/>
                <a:cs typeface="Aptos Mono"/>
              </a:defRPr>
            </a:pPr>
            <a:r>
              <a:rPr sz="900" b="0">
                <a:solidFill>
                  <a:srgbClr val="6F737A"/>
                </a:solidFill>
                <a:latin typeface="Aptos Mono"/>
                <a:ea typeface="Aptos Mono"/>
                <a:cs typeface="Aptos Mono"/>
              </a:rPr>
              <a:t>05</a:t>
            </a:r>
          </a:p>
        </p:txBody>
      </p:sp>
    </p:spTree>
    <p:extLst>
      <p:ext uri="{BB962C8B-B14F-4D97-AF65-F5344CB8AC3E}">
        <p14:creationId xmlns:p14="http://schemas.microsoft.com/office/powerpoint/2010/main" val="10000672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50B3A1E-F595-4D1C-9BAC-28AB828AA7B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7F0"/>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2515BA9-B8DC-47E1-82FF-BDB188C64ED5}"/>
              </a:ext>
            </a:extLst>
          </p:cNvPr>
          <p:cNvSpPr>
            <a:spLocks xmlns:a="http://schemas.openxmlformats.org/drawingml/2006/main" noGrp="1"/>
          </p:cNvSpPr>
          <p:nvPr/>
        </p:nvSpPr>
        <p:spPr>
          <a:xfrm xmlns:a="http://schemas.openxmlformats.org/drawingml/2006/main">
            <a:off x="666750" y="581025"/>
            <a:ext cx="323850" cy="19050"/>
          </a:xfrm>
          <a:prstGeom xmlns:a="http://schemas.openxmlformats.org/drawingml/2006/main" prst="rect">
            <a:avLst/>
          </a:prstGeom>
          <a:solidFill xmlns:a="http://schemas.openxmlformats.org/drawingml/2006/main">
            <a:srgbClr val="D9B72F"/>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BFF828B2-376E-4EF9-9C34-4B995743E05F}"/>
              </a:ext>
            </a:extLst>
          </p:cNvPr>
          <p:cNvSpPr>
            <a:spLocks xmlns:a="http://schemas.openxmlformats.org/drawingml/2006/main" noGrp="1"/>
          </p:cNvSpPr>
          <p:nvPr/>
        </p:nvSpPr>
        <p:spPr>
          <a:xfrm xmlns:a="http://schemas.openxmlformats.org/drawingml/2006/main">
            <a:off x="1104900" y="51435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D9B72F"/>
                </a:solidFill>
                <a:latin typeface="Aptos Mono"/>
                <a:ea typeface="Aptos Mono"/>
                <a:cs typeface="Aptos Mono"/>
              </a:defRPr>
            </a:pPr>
            <a:r>
              <a:rPr sz="975" b="1">
                <a:solidFill>
                  <a:srgbClr val="D9B72F"/>
                </a:solidFill>
                <a:latin typeface="Aptos Mono"/>
                <a:ea typeface="Aptos Mono"/>
                <a:cs typeface="Aptos Mono"/>
              </a:rPr>
              <a:t>BUILD AND DEPLOYMENT</a:t>
            </a:r>
          </a:p>
        </p:txBody>
      </p:sp>
      <p:sp>
        <p:nvSpPr>
          <p:cNvPr id="4" name="">
            <a:extLst xmlns:a="http://schemas.openxmlformats.org/drawingml/2006/main">
              <a:ext uri="{FF2B5EF4-FFF2-40B4-BE49-F238E27FC236}">
                <a16:creationId xmlns:a16="http://schemas.microsoft.com/office/drawing/2014/main" id="{BF77B42E-E23D-478A-8788-29DDFD9B414D}"/>
              </a:ext>
            </a:extLst>
          </p:cNvPr>
          <p:cNvSpPr>
            <a:spLocks xmlns:a="http://schemas.openxmlformats.org/drawingml/2006/main" noGrp="1"/>
          </p:cNvSpPr>
          <p:nvPr/>
        </p:nvSpPr>
        <p:spPr>
          <a:xfrm xmlns:a="http://schemas.openxmlformats.org/drawingml/2006/main">
            <a:off x="666750" y="838200"/>
            <a:ext cx="752475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0">
                <a:solidFill>
                  <a:srgbClr val="111111"/>
                </a:solidFill>
                <a:latin typeface="Georgia"/>
                <a:ea typeface="Georgia"/>
                <a:cs typeface="Georgia"/>
              </a:defRPr>
            </a:pPr>
            <a:r>
              <a:rPr sz="3150" b="0">
                <a:solidFill>
                  <a:srgbClr val="111111"/>
                </a:solidFill>
                <a:latin typeface="Georgia"/>
                <a:ea typeface="Georgia"/>
                <a:cs typeface="Georgia"/>
              </a:rPr>
              <a:t>The first release is a static front end deployed to Amazon S3.</a:t>
            </a:r>
          </a:p>
        </p:txBody>
      </p:sp>
      <p:sp>
        <p:nvSpPr>
          <p:cNvPr id="5" name="">
            <a:extLst xmlns:a="http://schemas.openxmlformats.org/drawingml/2006/main">
              <a:ext uri="{FF2B5EF4-FFF2-40B4-BE49-F238E27FC236}">
                <a16:creationId xmlns:a16="http://schemas.microsoft.com/office/drawing/2014/main" id="{EC4DDC57-8576-4A49-A87D-F4B01423A5BC}"/>
              </a:ext>
            </a:extLst>
          </p:cNvPr>
          <p:cNvSpPr>
            <a:spLocks xmlns:a="http://schemas.openxmlformats.org/drawingml/2006/main" noGrp="1"/>
          </p:cNvSpPr>
          <p:nvPr/>
        </p:nvSpPr>
        <p:spPr>
          <a:xfrm xmlns:a="http://schemas.openxmlformats.org/drawingml/2006/main">
            <a:off x="685800" y="2476500"/>
            <a:ext cx="2000250" cy="1066800"/>
          </a:xfrm>
          <a:prstGeom xmlns:a="http://schemas.openxmlformats.org/drawingml/2006/main" prst="roundRect">
            <a:avLst>
              <a:gd name="adj" fmla="val 7143"/>
            </a:avLst>
          </a:prstGeom>
          <a:solidFill xmlns:a="http://schemas.openxmlformats.org/drawingml/2006/main">
            <a:srgbClr val="FFFDF7"/>
          </a:solidFill>
          <a:ln xmlns:a="http://schemas.openxmlformats.org/drawingml/2006/main" w="9525">
            <a:solidFill>
              <a:srgbClr val="D8D0C4"/>
            </a:solidFill>
            <a:prstDash val="solid"/>
          </a:ln>
        </p:spPr>
      </p:sp>
      <p:sp>
        <p:nvSpPr>
          <p:cNvPr id="6" name="">
            <a:extLst xmlns:a="http://schemas.openxmlformats.org/drawingml/2006/main">
              <a:ext uri="{FF2B5EF4-FFF2-40B4-BE49-F238E27FC236}">
                <a16:creationId xmlns:a16="http://schemas.microsoft.com/office/drawing/2014/main" id="{A5D39CBD-72C8-4BF8-BABC-4C4701313B56}"/>
              </a:ext>
            </a:extLst>
          </p:cNvPr>
          <p:cNvSpPr>
            <a:spLocks xmlns:a="http://schemas.openxmlformats.org/drawingml/2006/main" noGrp="1"/>
          </p:cNvSpPr>
          <p:nvPr/>
        </p:nvSpPr>
        <p:spPr>
          <a:xfrm xmlns:a="http://schemas.openxmlformats.org/drawingml/2006/main">
            <a:off x="819150" y="2600325"/>
            <a:ext cx="17335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11111"/>
                </a:solidFill>
                <a:latin typeface="Aptos"/>
                <a:ea typeface="Aptos"/>
                <a:cs typeface="Aptos"/>
              </a:defRPr>
            </a:pPr>
            <a:r>
              <a:rPr sz="1200" b="1">
                <a:solidFill>
                  <a:srgbClr val="111111"/>
                </a:solidFill>
                <a:latin typeface="Aptos"/>
                <a:ea typeface="Aptos"/>
                <a:cs typeface="Aptos"/>
              </a:rPr>
              <a:t>1. Design</a:t>
            </a:r>
          </a:p>
        </p:txBody>
      </p:sp>
      <p:sp>
        <p:nvSpPr>
          <p:cNvPr id="7" name="">
            <a:extLst xmlns:a="http://schemas.openxmlformats.org/drawingml/2006/main">
              <a:ext uri="{FF2B5EF4-FFF2-40B4-BE49-F238E27FC236}">
                <a16:creationId xmlns:a16="http://schemas.microsoft.com/office/drawing/2014/main" id="{731725C8-31D3-43A0-AE9C-292C07B97B3E}"/>
              </a:ext>
            </a:extLst>
          </p:cNvPr>
          <p:cNvSpPr>
            <a:spLocks xmlns:a="http://schemas.openxmlformats.org/drawingml/2006/main" noGrp="1"/>
          </p:cNvSpPr>
          <p:nvPr/>
        </p:nvSpPr>
        <p:spPr>
          <a:xfrm xmlns:a="http://schemas.openxmlformats.org/drawingml/2006/main">
            <a:off x="819150" y="2876550"/>
            <a:ext cx="17335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F737A"/>
                </a:solidFill>
                <a:latin typeface="Aptos"/>
                <a:ea typeface="Aptos"/>
                <a:cs typeface="Aptos"/>
              </a:defRPr>
            </a:pPr>
            <a:r>
              <a:rPr sz="900" b="0">
                <a:solidFill>
                  <a:srgbClr val="6F737A"/>
                </a:solidFill>
                <a:latin typeface="Aptos"/>
                <a:ea typeface="Aptos"/>
                <a:cs typeface="Aptos"/>
              </a:rPr>
              <a:t>HTML, CSS, JavaScript, responsive pages, menu data, and images</a:t>
            </a:r>
          </a:p>
        </p:txBody>
      </p:sp>
      <p:sp>
        <p:nvSpPr>
          <p:cNvPr id="8" name="">
            <a:extLst xmlns:a="http://schemas.openxmlformats.org/drawingml/2006/main">
              <a:ext uri="{FF2B5EF4-FFF2-40B4-BE49-F238E27FC236}">
                <a16:creationId xmlns:a16="http://schemas.microsoft.com/office/drawing/2014/main" id="{21E551DB-37D5-4EC7-A25F-FA3A2AF5CD2E}"/>
              </a:ext>
            </a:extLst>
          </p:cNvPr>
          <p:cNvSpPr>
            <a:spLocks xmlns:a="http://schemas.openxmlformats.org/drawingml/2006/main" noGrp="1"/>
          </p:cNvSpPr>
          <p:nvPr/>
        </p:nvSpPr>
        <p:spPr>
          <a:xfrm xmlns:a="http://schemas.openxmlformats.org/drawingml/2006/main">
            <a:off x="3181350" y="2476500"/>
            <a:ext cx="2247900" cy="1066800"/>
          </a:xfrm>
          <a:prstGeom xmlns:a="http://schemas.openxmlformats.org/drawingml/2006/main" prst="roundRect">
            <a:avLst>
              <a:gd name="adj" fmla="val 7143"/>
            </a:avLst>
          </a:prstGeom>
          <a:solidFill xmlns:a="http://schemas.openxmlformats.org/drawingml/2006/main">
            <a:srgbClr val="FFFDF7"/>
          </a:solidFill>
          <a:ln xmlns:a="http://schemas.openxmlformats.org/drawingml/2006/main" w="9525">
            <a:solidFill>
              <a:srgbClr val="D8D0C4"/>
            </a:solidFill>
            <a:prstDash val="solid"/>
          </a:ln>
        </p:spPr>
      </p:sp>
      <p:sp>
        <p:nvSpPr>
          <p:cNvPr id="9" name="">
            <a:extLst xmlns:a="http://schemas.openxmlformats.org/drawingml/2006/main">
              <a:ext uri="{FF2B5EF4-FFF2-40B4-BE49-F238E27FC236}">
                <a16:creationId xmlns:a16="http://schemas.microsoft.com/office/drawing/2014/main" id="{FDB02781-70F0-45D4-B94D-BAFB9BD1DF71}"/>
              </a:ext>
            </a:extLst>
          </p:cNvPr>
          <p:cNvSpPr>
            <a:spLocks xmlns:a="http://schemas.openxmlformats.org/drawingml/2006/main" noGrp="1"/>
          </p:cNvSpPr>
          <p:nvPr/>
        </p:nvSpPr>
        <p:spPr>
          <a:xfrm xmlns:a="http://schemas.openxmlformats.org/drawingml/2006/main">
            <a:off x="3314700" y="2600325"/>
            <a:ext cx="1981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11111"/>
                </a:solidFill>
                <a:latin typeface="Aptos"/>
                <a:ea typeface="Aptos"/>
                <a:cs typeface="Aptos"/>
              </a:defRPr>
            </a:pPr>
            <a:r>
              <a:rPr sz="1200" b="1">
                <a:solidFill>
                  <a:srgbClr val="111111"/>
                </a:solidFill>
                <a:latin typeface="Aptos"/>
                <a:ea typeface="Aptos"/>
                <a:cs typeface="Aptos"/>
              </a:rPr>
              <a:t>2. Package</a:t>
            </a:r>
          </a:p>
        </p:txBody>
      </p:sp>
      <p:sp>
        <p:nvSpPr>
          <p:cNvPr id="10" name="">
            <a:extLst xmlns:a="http://schemas.openxmlformats.org/drawingml/2006/main">
              <a:ext uri="{FF2B5EF4-FFF2-40B4-BE49-F238E27FC236}">
                <a16:creationId xmlns:a16="http://schemas.microsoft.com/office/drawing/2014/main" id="{F1DAB2F2-7169-4F6F-BB3B-497AD014065C}"/>
              </a:ext>
            </a:extLst>
          </p:cNvPr>
          <p:cNvSpPr>
            <a:spLocks xmlns:a="http://schemas.openxmlformats.org/drawingml/2006/main" noGrp="1"/>
          </p:cNvSpPr>
          <p:nvPr/>
        </p:nvSpPr>
        <p:spPr>
          <a:xfrm xmlns:a="http://schemas.openxmlformats.org/drawingml/2006/main">
            <a:off x="3314700" y="2876550"/>
            <a:ext cx="19812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F737A"/>
                </a:solidFill>
                <a:latin typeface="Aptos"/>
                <a:ea typeface="Aptos"/>
                <a:cs typeface="Aptos"/>
              </a:defRPr>
            </a:pPr>
            <a:r>
              <a:rPr sz="900" b="0">
                <a:solidFill>
                  <a:srgbClr val="6F737A"/>
                </a:solidFill>
                <a:latin typeface="Aptos"/>
                <a:ea typeface="Aptos"/>
                <a:cs typeface="Aptos"/>
              </a:rPr>
              <a:t>Optimized static files: index.html, /pages, /styles, /scripts, /data</a:t>
            </a:r>
          </a:p>
        </p:txBody>
      </p:sp>
      <p:sp>
        <p:nvSpPr>
          <p:cNvPr id="11" name="">
            <a:extLst xmlns:a="http://schemas.openxmlformats.org/drawingml/2006/main">
              <a:ext uri="{FF2B5EF4-FFF2-40B4-BE49-F238E27FC236}">
                <a16:creationId xmlns:a16="http://schemas.microsoft.com/office/drawing/2014/main" id="{1566251F-B10E-48CE-AAA4-7BC98BE14156}"/>
              </a:ext>
            </a:extLst>
          </p:cNvPr>
          <p:cNvSpPr>
            <a:spLocks xmlns:a="http://schemas.openxmlformats.org/drawingml/2006/main" noGrp="1"/>
          </p:cNvSpPr>
          <p:nvPr/>
        </p:nvSpPr>
        <p:spPr>
          <a:xfrm xmlns:a="http://schemas.openxmlformats.org/drawingml/2006/main">
            <a:off x="5962650" y="2476500"/>
            <a:ext cx="2114550" cy="1066800"/>
          </a:xfrm>
          <a:prstGeom xmlns:a="http://schemas.openxmlformats.org/drawingml/2006/main" prst="roundRect">
            <a:avLst>
              <a:gd name="adj" fmla="val 7143"/>
            </a:avLst>
          </a:prstGeom>
          <a:solidFill xmlns:a="http://schemas.openxmlformats.org/drawingml/2006/main">
            <a:srgbClr val="FFFDF7"/>
          </a:solidFill>
          <a:ln xmlns:a="http://schemas.openxmlformats.org/drawingml/2006/main" w="9525">
            <a:solidFill>
              <a:srgbClr val="D8D0C4"/>
            </a:solidFill>
            <a:prstDash val="solid"/>
          </a:ln>
        </p:spPr>
      </p:sp>
      <p:sp>
        <p:nvSpPr>
          <p:cNvPr id="12" name="">
            <a:extLst xmlns:a="http://schemas.openxmlformats.org/drawingml/2006/main">
              <a:ext uri="{FF2B5EF4-FFF2-40B4-BE49-F238E27FC236}">
                <a16:creationId xmlns:a16="http://schemas.microsoft.com/office/drawing/2014/main" id="{515E40E6-E36E-49D0-A92A-E9FAD3E67178}"/>
              </a:ext>
            </a:extLst>
          </p:cNvPr>
          <p:cNvSpPr>
            <a:spLocks xmlns:a="http://schemas.openxmlformats.org/drawingml/2006/main" noGrp="1"/>
          </p:cNvSpPr>
          <p:nvPr/>
        </p:nvSpPr>
        <p:spPr>
          <a:xfrm xmlns:a="http://schemas.openxmlformats.org/drawingml/2006/main">
            <a:off x="6096000" y="2600325"/>
            <a:ext cx="1847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11111"/>
                </a:solidFill>
                <a:latin typeface="Aptos"/>
                <a:ea typeface="Aptos"/>
                <a:cs typeface="Aptos"/>
              </a:defRPr>
            </a:pPr>
            <a:r>
              <a:rPr sz="1200" b="1">
                <a:solidFill>
                  <a:srgbClr val="111111"/>
                </a:solidFill>
                <a:latin typeface="Aptos"/>
                <a:ea typeface="Aptos"/>
                <a:cs typeface="Aptos"/>
              </a:rPr>
              <a:t>3. Upload</a:t>
            </a:r>
          </a:p>
        </p:txBody>
      </p:sp>
      <p:sp>
        <p:nvSpPr>
          <p:cNvPr id="13" name="">
            <a:extLst xmlns:a="http://schemas.openxmlformats.org/drawingml/2006/main">
              <a:ext uri="{FF2B5EF4-FFF2-40B4-BE49-F238E27FC236}">
                <a16:creationId xmlns:a16="http://schemas.microsoft.com/office/drawing/2014/main" id="{E403B34F-2704-4F47-855A-0814CE450A96}"/>
              </a:ext>
            </a:extLst>
          </p:cNvPr>
          <p:cNvSpPr>
            <a:spLocks xmlns:a="http://schemas.openxmlformats.org/drawingml/2006/main" noGrp="1"/>
          </p:cNvSpPr>
          <p:nvPr/>
        </p:nvSpPr>
        <p:spPr>
          <a:xfrm xmlns:a="http://schemas.openxmlformats.org/drawingml/2006/main">
            <a:off x="6096000" y="2876550"/>
            <a:ext cx="18478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F737A"/>
                </a:solidFill>
                <a:latin typeface="Aptos"/>
                <a:ea typeface="Aptos"/>
                <a:cs typeface="Aptos"/>
              </a:defRPr>
            </a:pPr>
            <a:r>
              <a:rPr sz="900" b="0">
                <a:solidFill>
                  <a:srgbClr val="6F737A"/>
                </a:solidFill>
                <a:latin typeface="Aptos"/>
                <a:ea typeface="Aptos"/>
                <a:cs typeface="Aptos"/>
              </a:rPr>
              <a:t>aws s3 sync build/ to the website bucket in af-south-1</a:t>
            </a:r>
          </a:p>
        </p:txBody>
      </p:sp>
      <p:sp>
        <p:nvSpPr>
          <p:cNvPr id="14" name="">
            <a:extLst xmlns:a="http://schemas.openxmlformats.org/drawingml/2006/main">
              <a:ext uri="{FF2B5EF4-FFF2-40B4-BE49-F238E27FC236}">
                <a16:creationId xmlns:a16="http://schemas.microsoft.com/office/drawing/2014/main" id="{887EC2D2-0BFD-4103-A98C-3A9A14CE94F7}"/>
              </a:ext>
            </a:extLst>
          </p:cNvPr>
          <p:cNvSpPr>
            <a:spLocks xmlns:a="http://schemas.openxmlformats.org/drawingml/2006/main" noGrp="1"/>
          </p:cNvSpPr>
          <p:nvPr/>
        </p:nvSpPr>
        <p:spPr>
          <a:xfrm xmlns:a="http://schemas.openxmlformats.org/drawingml/2006/main">
            <a:off x="8572500" y="2476500"/>
            <a:ext cx="2076450" cy="1066800"/>
          </a:xfrm>
          <a:prstGeom xmlns:a="http://schemas.openxmlformats.org/drawingml/2006/main" prst="roundRect">
            <a:avLst>
              <a:gd name="adj" fmla="val 7143"/>
            </a:avLst>
          </a:prstGeom>
          <a:solidFill xmlns:a="http://schemas.openxmlformats.org/drawingml/2006/main">
            <a:srgbClr val="FFFDF7"/>
          </a:solidFill>
          <a:ln xmlns:a="http://schemas.openxmlformats.org/drawingml/2006/main" w="9525">
            <a:solidFill>
              <a:srgbClr val="D8D0C4"/>
            </a:solidFill>
            <a:prstDash val="solid"/>
          </a:ln>
        </p:spPr>
      </p:sp>
      <p:sp>
        <p:nvSpPr>
          <p:cNvPr id="15" name="">
            <a:extLst xmlns:a="http://schemas.openxmlformats.org/drawingml/2006/main">
              <a:ext uri="{FF2B5EF4-FFF2-40B4-BE49-F238E27FC236}">
                <a16:creationId xmlns:a16="http://schemas.microsoft.com/office/drawing/2014/main" id="{215EFEA7-F0E4-40EF-B8D9-E2AC1C9589F6}"/>
              </a:ext>
            </a:extLst>
          </p:cNvPr>
          <p:cNvSpPr>
            <a:spLocks xmlns:a="http://schemas.openxmlformats.org/drawingml/2006/main" noGrp="1"/>
          </p:cNvSpPr>
          <p:nvPr/>
        </p:nvSpPr>
        <p:spPr>
          <a:xfrm xmlns:a="http://schemas.openxmlformats.org/drawingml/2006/main">
            <a:off x="8705850" y="2600325"/>
            <a:ext cx="1809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11111"/>
                </a:solidFill>
                <a:latin typeface="Aptos"/>
                <a:ea typeface="Aptos"/>
                <a:cs typeface="Aptos"/>
              </a:defRPr>
            </a:pPr>
            <a:r>
              <a:rPr sz="1200" b="1">
                <a:solidFill>
                  <a:srgbClr val="111111"/>
                </a:solidFill>
                <a:latin typeface="Aptos"/>
                <a:ea typeface="Aptos"/>
                <a:cs typeface="Aptos"/>
              </a:rPr>
              <a:t>4. Serve</a:t>
            </a:r>
          </a:p>
        </p:txBody>
      </p:sp>
      <p:sp>
        <p:nvSpPr>
          <p:cNvPr id="16" name="">
            <a:extLst xmlns:a="http://schemas.openxmlformats.org/drawingml/2006/main">
              <a:ext uri="{FF2B5EF4-FFF2-40B4-BE49-F238E27FC236}">
                <a16:creationId xmlns:a16="http://schemas.microsoft.com/office/drawing/2014/main" id="{C8AFE3D7-C00D-4427-89EB-06801DEBF9C7}"/>
              </a:ext>
            </a:extLst>
          </p:cNvPr>
          <p:cNvSpPr>
            <a:spLocks xmlns:a="http://schemas.openxmlformats.org/drawingml/2006/main" noGrp="1"/>
          </p:cNvSpPr>
          <p:nvPr/>
        </p:nvSpPr>
        <p:spPr>
          <a:xfrm xmlns:a="http://schemas.openxmlformats.org/drawingml/2006/main">
            <a:off x="8705850" y="2876550"/>
            <a:ext cx="18097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F737A"/>
                </a:solidFill>
                <a:latin typeface="Aptos"/>
                <a:ea typeface="Aptos"/>
                <a:cs typeface="Aptos"/>
              </a:defRPr>
            </a:pPr>
            <a:r>
              <a:rPr sz="900" b="0">
                <a:solidFill>
                  <a:srgbClr val="6F737A"/>
                </a:solidFill>
                <a:latin typeface="Aptos"/>
                <a:ea typeface="Aptos"/>
                <a:cs typeface="Aptos"/>
              </a:rPr>
              <a:t>S3 website endpoint hosts the live restaurant site</a:t>
            </a:r>
          </a:p>
        </p:txBody>
      </p:sp>
      <p:sp>
        <p:nvSpPr>
          <p:cNvPr id="17" name="">
            <a:extLst xmlns:a="http://schemas.openxmlformats.org/drawingml/2006/main">
              <a:ext uri="{FF2B5EF4-FFF2-40B4-BE49-F238E27FC236}">
                <a16:creationId xmlns:a16="http://schemas.microsoft.com/office/drawing/2014/main" id="{E5502D3C-8202-40BA-B742-D12FB3C054A9}"/>
              </a:ext>
            </a:extLst>
          </p:cNvPr>
          <p:cNvSpPr>
            <a:spLocks xmlns:a="http://schemas.openxmlformats.org/drawingml/2006/main" noGrp="1"/>
          </p:cNvSpPr>
          <p:nvPr/>
        </p:nvSpPr>
        <p:spPr>
          <a:xfrm xmlns:a="http://schemas.openxmlformats.org/drawingml/2006/main">
            <a:off x="2705100" y="3009900"/>
            <a:ext cx="438150" cy="0"/>
          </a:xfrm>
          <a:prstGeom xmlns:a="http://schemas.openxmlformats.org/drawingml/2006/main" prst="line">
            <a:avLst/>
          </a:prstGeom>
          <a:solidFill xmlns:a="http://schemas.openxmlformats.org/drawingml/2006/main">
            <a:srgbClr val="000000">
              <a:alpha val="0"/>
            </a:srgbClr>
          </a:solidFill>
          <a:ln xmlns:a="http://schemas.openxmlformats.org/drawingml/2006/main" w="28575">
            <a:solidFill>
              <a:srgbClr val="D9B72F"/>
            </a:solidFill>
            <a:prstDash val="solid"/>
          </a:ln>
        </p:spPr>
      </p:sp>
      <p:sp>
        <p:nvSpPr>
          <p:cNvPr id="18" name="">
            <a:extLst xmlns:a="http://schemas.openxmlformats.org/drawingml/2006/main">
              <a:ext uri="{FF2B5EF4-FFF2-40B4-BE49-F238E27FC236}">
                <a16:creationId xmlns:a16="http://schemas.microsoft.com/office/drawing/2014/main" id="{42930578-B505-4AA4-88CA-A32D847E8E50}"/>
              </a:ext>
            </a:extLst>
          </p:cNvPr>
          <p:cNvSpPr>
            <a:spLocks xmlns:a="http://schemas.openxmlformats.org/drawingml/2006/main" noGrp="1"/>
          </p:cNvSpPr>
          <p:nvPr/>
        </p:nvSpPr>
        <p:spPr>
          <a:xfrm xmlns:a="http://schemas.openxmlformats.org/drawingml/2006/main">
            <a:off x="5448300" y="3009900"/>
            <a:ext cx="476250" cy="0"/>
          </a:xfrm>
          <a:prstGeom xmlns:a="http://schemas.openxmlformats.org/drawingml/2006/main" prst="line">
            <a:avLst/>
          </a:prstGeom>
          <a:solidFill xmlns:a="http://schemas.openxmlformats.org/drawingml/2006/main">
            <a:srgbClr val="000000">
              <a:alpha val="0"/>
            </a:srgbClr>
          </a:solidFill>
          <a:ln xmlns:a="http://schemas.openxmlformats.org/drawingml/2006/main" w="28575">
            <a:solidFill>
              <a:srgbClr val="D9B72F"/>
            </a:solidFill>
            <a:prstDash val="solid"/>
          </a:ln>
        </p:spPr>
      </p:sp>
      <p:sp>
        <p:nvSpPr>
          <p:cNvPr id="19" name="">
            <a:extLst xmlns:a="http://schemas.openxmlformats.org/drawingml/2006/main">
              <a:ext uri="{FF2B5EF4-FFF2-40B4-BE49-F238E27FC236}">
                <a16:creationId xmlns:a16="http://schemas.microsoft.com/office/drawing/2014/main" id="{C3FB8440-17BF-4CB4-83D0-0085C52B361E}"/>
              </a:ext>
            </a:extLst>
          </p:cNvPr>
          <p:cNvSpPr>
            <a:spLocks xmlns:a="http://schemas.openxmlformats.org/drawingml/2006/main" noGrp="1"/>
          </p:cNvSpPr>
          <p:nvPr/>
        </p:nvSpPr>
        <p:spPr>
          <a:xfrm xmlns:a="http://schemas.openxmlformats.org/drawingml/2006/main">
            <a:off x="8096250" y="3009900"/>
            <a:ext cx="438150" cy="0"/>
          </a:xfrm>
          <a:prstGeom xmlns:a="http://schemas.openxmlformats.org/drawingml/2006/main" prst="line">
            <a:avLst/>
          </a:prstGeom>
          <a:solidFill xmlns:a="http://schemas.openxmlformats.org/drawingml/2006/main">
            <a:srgbClr val="000000">
              <a:alpha val="0"/>
            </a:srgbClr>
          </a:solidFill>
          <a:ln xmlns:a="http://schemas.openxmlformats.org/drawingml/2006/main" w="28575">
            <a:solidFill>
              <a:srgbClr val="D9B72F"/>
            </a:solidFill>
            <a:prstDash val="solid"/>
          </a:ln>
        </p:spPr>
      </p:sp>
      <p:sp>
        <p:nvSpPr>
          <p:cNvPr id="20" name="">
            <a:extLst xmlns:a="http://schemas.openxmlformats.org/drawingml/2006/main">
              <a:ext uri="{FF2B5EF4-FFF2-40B4-BE49-F238E27FC236}">
                <a16:creationId xmlns:a16="http://schemas.microsoft.com/office/drawing/2014/main" id="{3FDC1228-1F9B-4B3B-A0A8-D160344145C3}"/>
              </a:ext>
            </a:extLst>
          </p:cNvPr>
          <p:cNvSpPr>
            <a:spLocks xmlns:a="http://schemas.openxmlformats.org/drawingml/2006/main" noGrp="1"/>
          </p:cNvSpPr>
          <p:nvPr/>
        </p:nvSpPr>
        <p:spPr>
          <a:xfrm xmlns:a="http://schemas.openxmlformats.org/drawingml/2006/main">
            <a:off x="1066800" y="4267200"/>
            <a:ext cx="9239250" cy="857250"/>
          </a:xfrm>
          <a:prstGeom xmlns:a="http://schemas.openxmlformats.org/drawingml/2006/main" prst="roundRect">
            <a:avLst>
              <a:gd name="adj" fmla="val 8889"/>
            </a:avLst>
          </a:prstGeom>
          <a:solidFill xmlns:a="http://schemas.openxmlformats.org/drawingml/2006/main">
            <a:srgbClr val="242629"/>
          </a:solidFill>
          <a:ln xmlns:a="http://schemas.openxmlformats.org/drawingml/2006/main" w="9525">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2063C4A3-FEA7-46D8-A398-6638E6112793}"/>
              </a:ext>
            </a:extLst>
          </p:cNvPr>
          <p:cNvSpPr>
            <a:spLocks xmlns:a="http://schemas.openxmlformats.org/drawingml/2006/main" noGrp="1"/>
          </p:cNvSpPr>
          <p:nvPr/>
        </p:nvSpPr>
        <p:spPr>
          <a:xfrm xmlns:a="http://schemas.openxmlformats.org/drawingml/2006/main">
            <a:off x="1371600" y="4476750"/>
            <a:ext cx="952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D9B72F"/>
                </a:solidFill>
                <a:latin typeface="Aptos Mono"/>
                <a:ea typeface="Aptos Mono"/>
                <a:cs typeface="Aptos Mono"/>
              </a:defRPr>
            </a:pPr>
            <a:r>
              <a:rPr sz="1200" b="1">
                <a:solidFill>
                  <a:srgbClr val="D9B72F"/>
                </a:solidFill>
                <a:latin typeface="Aptos Mono"/>
                <a:ea typeface="Aptos Mono"/>
                <a:cs typeface="Aptos Mono"/>
              </a:rPr>
              <a:t>Live URL</a:t>
            </a:r>
          </a:p>
        </p:txBody>
      </p:sp>
      <p:sp>
        <p:nvSpPr>
          <p:cNvPr id="22" name="">
            <a:extLst xmlns:a="http://schemas.openxmlformats.org/drawingml/2006/main">
              <a:ext uri="{FF2B5EF4-FFF2-40B4-BE49-F238E27FC236}">
                <a16:creationId xmlns:a16="http://schemas.microsoft.com/office/drawing/2014/main" id="{D3B31741-C09B-4C00-9E2F-1A17E3FEF2B6}"/>
              </a:ext>
            </a:extLst>
          </p:cNvPr>
          <p:cNvSpPr>
            <a:spLocks xmlns:a="http://schemas.openxmlformats.org/drawingml/2006/main" noGrp="1"/>
          </p:cNvSpPr>
          <p:nvPr/>
        </p:nvSpPr>
        <p:spPr>
          <a:xfrm xmlns:a="http://schemas.openxmlformats.org/drawingml/2006/main">
            <a:off x="2457450" y="4476750"/>
            <a:ext cx="7239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FFFFFF"/>
                </a:solidFill>
                <a:latin typeface="Aptos"/>
                <a:ea typeface="Aptos"/>
                <a:cs typeface="Aptos"/>
              </a:defRPr>
            </a:pPr>
            <a:r>
              <a:rPr sz="1500" b="0">
                <a:solidFill>
                  <a:srgbClr val="FFFFFF"/>
                </a:solidFill>
                <a:latin typeface="Aptos"/>
                <a:ea typeface="Aptos"/>
                <a:cs typeface="Aptos"/>
              </a:rPr>
              <a:t>http://aws-restart-03.s3-website.af-south-1.amazonaws.com/pages/menu.html</a:t>
            </a:r>
          </a:p>
        </p:txBody>
      </p:sp>
      <p:sp>
        <p:nvSpPr>
          <p:cNvPr id="23" name="">
            <a:extLst xmlns:a="http://schemas.openxmlformats.org/drawingml/2006/main">
              <a:ext uri="{FF2B5EF4-FFF2-40B4-BE49-F238E27FC236}">
                <a16:creationId xmlns:a16="http://schemas.microsoft.com/office/drawing/2014/main" id="{C9660D4D-C9F1-4634-8199-5580C0F9B41B}"/>
              </a:ext>
            </a:extLst>
          </p:cNvPr>
          <p:cNvSpPr>
            <a:spLocks xmlns:a="http://schemas.openxmlformats.org/drawingml/2006/main" noGrp="1"/>
          </p:cNvSpPr>
          <p:nvPr/>
        </p:nvSpPr>
        <p:spPr>
          <a:xfrm xmlns:a="http://schemas.openxmlformats.org/drawingml/2006/main">
            <a:off x="2457450" y="4800600"/>
            <a:ext cx="6572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D9D4CA"/>
                </a:solidFill>
                <a:latin typeface="Aptos"/>
                <a:ea typeface="Aptos"/>
                <a:cs typeface="Aptos"/>
              </a:defRPr>
            </a:pPr>
            <a:r>
              <a:rPr sz="1125" b="0">
                <a:solidFill>
                  <a:srgbClr val="D9D4CA"/>
                </a:solidFill>
                <a:latin typeface="Aptos"/>
                <a:ea typeface="Aptos"/>
                <a:cs typeface="Aptos"/>
              </a:rPr>
              <a:t>S3 gives the restaurant a low-cost public website without managing web servers.</a:t>
            </a:r>
          </a:p>
        </p:txBody>
      </p:sp>
      <p:sp>
        <p:nvSpPr>
          <p:cNvPr id="24" name="">
            <a:extLst xmlns:a="http://schemas.openxmlformats.org/drawingml/2006/main">
              <a:ext uri="{FF2B5EF4-FFF2-40B4-BE49-F238E27FC236}">
                <a16:creationId xmlns:a16="http://schemas.microsoft.com/office/drawing/2014/main" id="{3AD7505A-855A-4B97-9674-7803C4109959}"/>
              </a:ext>
            </a:extLst>
          </p:cNvPr>
          <p:cNvSpPr>
            <a:spLocks xmlns:a="http://schemas.openxmlformats.org/drawingml/2006/main" noGrp="1"/>
          </p:cNvSpPr>
          <p:nvPr/>
        </p:nvSpPr>
        <p:spPr>
          <a:xfrm xmlns:a="http://schemas.openxmlformats.org/drawingml/2006/main">
            <a:off x="666750" y="65151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F737A"/>
                </a:solidFill>
                <a:latin typeface="Aptos"/>
                <a:ea typeface="Aptos"/>
                <a:cs typeface="Aptos"/>
              </a:defRPr>
            </a:pPr>
            <a:r>
              <a:rPr sz="750" b="0">
                <a:solidFill>
                  <a:srgbClr val="6F737A"/>
                </a:solidFill>
                <a:latin typeface="Aptos"/>
                <a:ea typeface="Aptos"/>
                <a:cs typeface="Aptos"/>
              </a:rPr>
              <a:t>Source: zani-eatery-aws-report.md and deployed S3 website</a:t>
            </a:r>
          </a:p>
        </p:txBody>
      </p:sp>
      <p:sp>
        <p:nvSpPr>
          <p:cNvPr id="25" name="">
            <a:extLst xmlns:a="http://schemas.openxmlformats.org/drawingml/2006/main">
              <a:ext uri="{FF2B5EF4-FFF2-40B4-BE49-F238E27FC236}">
                <a16:creationId xmlns:a16="http://schemas.microsoft.com/office/drawing/2014/main" id="{5BD6AD10-644E-453B-84FC-D77A862E46D0}"/>
              </a:ext>
            </a:extLst>
          </p:cNvPr>
          <p:cNvSpPr>
            <a:spLocks xmlns:a="http://schemas.openxmlformats.org/drawingml/2006/main" noGrp="1"/>
          </p:cNvSpPr>
          <p:nvPr/>
        </p:nvSpPr>
        <p:spPr>
          <a:xfrm xmlns:a="http://schemas.openxmlformats.org/drawingml/2006/main">
            <a:off x="11239500" y="6438900"/>
            <a:ext cx="381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6F737A"/>
                </a:solidFill>
                <a:latin typeface="Aptos Mono"/>
                <a:ea typeface="Aptos Mono"/>
                <a:cs typeface="Aptos Mono"/>
              </a:defRPr>
            </a:pPr>
            <a:r>
              <a:rPr sz="900" b="0">
                <a:solidFill>
                  <a:srgbClr val="6F737A"/>
                </a:solidFill>
                <a:latin typeface="Aptos Mono"/>
                <a:ea typeface="Aptos Mono"/>
                <a:cs typeface="Aptos Mono"/>
              </a:rPr>
              <a:t>06</a:t>
            </a:r>
          </a:p>
        </p:txBody>
      </p:sp>
    </p:spTree>
    <p:extLst>
      <p:ext uri="{BB962C8B-B14F-4D97-AF65-F5344CB8AC3E}">
        <p14:creationId xmlns:p14="http://schemas.microsoft.com/office/powerpoint/2010/main" val="148711967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C59B642-8FF3-4BA1-A324-2F06EEFA304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7F0"/>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BCB779C4-FE21-4E08-9F2E-0F210B62F778}"/>
              </a:ext>
            </a:extLst>
          </p:cNvPr>
          <p:cNvSpPr>
            <a:spLocks xmlns:a="http://schemas.openxmlformats.org/drawingml/2006/main" noGrp="1"/>
          </p:cNvSpPr>
          <p:nvPr/>
        </p:nvSpPr>
        <p:spPr>
          <a:xfrm xmlns:a="http://schemas.openxmlformats.org/drawingml/2006/main">
            <a:off x="666750" y="581025"/>
            <a:ext cx="323850" cy="19050"/>
          </a:xfrm>
          <a:prstGeom xmlns:a="http://schemas.openxmlformats.org/drawingml/2006/main" prst="rect">
            <a:avLst/>
          </a:prstGeom>
          <a:solidFill xmlns:a="http://schemas.openxmlformats.org/drawingml/2006/main">
            <a:srgbClr val="D9B72F"/>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BC6B1A32-6C6C-4119-AFB3-99F98665F113}"/>
              </a:ext>
            </a:extLst>
          </p:cNvPr>
          <p:cNvSpPr>
            <a:spLocks xmlns:a="http://schemas.openxmlformats.org/drawingml/2006/main" noGrp="1"/>
          </p:cNvSpPr>
          <p:nvPr/>
        </p:nvSpPr>
        <p:spPr>
          <a:xfrm xmlns:a="http://schemas.openxmlformats.org/drawingml/2006/main">
            <a:off x="1104900" y="51435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D9B72F"/>
                </a:solidFill>
                <a:latin typeface="Aptos Mono"/>
                <a:ea typeface="Aptos Mono"/>
                <a:cs typeface="Aptos Mono"/>
              </a:defRPr>
            </a:pPr>
            <a:r>
              <a:rPr sz="975" b="1">
                <a:solidFill>
                  <a:srgbClr val="D9B72F"/>
                </a:solidFill>
                <a:latin typeface="Aptos Mono"/>
                <a:ea typeface="Aptos Mono"/>
                <a:cs typeface="Aptos Mono"/>
              </a:rPr>
              <a:t>TARGET AWS INFRASTRUCTURE</a:t>
            </a:r>
          </a:p>
        </p:txBody>
      </p:sp>
      <p:sp>
        <p:nvSpPr>
          <p:cNvPr id="4" name="">
            <a:extLst xmlns:a="http://schemas.openxmlformats.org/drawingml/2006/main">
              <a:ext uri="{FF2B5EF4-FFF2-40B4-BE49-F238E27FC236}">
                <a16:creationId xmlns:a16="http://schemas.microsoft.com/office/drawing/2014/main" id="{EA172B3D-3A96-45A0-B6B3-A2D4D1C40284}"/>
              </a:ext>
            </a:extLst>
          </p:cNvPr>
          <p:cNvSpPr>
            <a:spLocks xmlns:a="http://schemas.openxmlformats.org/drawingml/2006/main" noGrp="1"/>
          </p:cNvSpPr>
          <p:nvPr/>
        </p:nvSpPr>
        <p:spPr>
          <a:xfrm xmlns:a="http://schemas.openxmlformats.org/drawingml/2006/main">
            <a:off x="666750" y="838200"/>
            <a:ext cx="752475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0">
                <a:solidFill>
                  <a:srgbClr val="111111"/>
                </a:solidFill>
                <a:latin typeface="Georgia"/>
                <a:ea typeface="Georgia"/>
                <a:cs typeface="Georgia"/>
              </a:defRPr>
            </a:pPr>
            <a:r>
              <a:rPr sz="3150" b="0">
                <a:solidFill>
                  <a:srgbClr val="111111"/>
                </a:solidFill>
                <a:latin typeface="Georgia"/>
                <a:ea typeface="Georgia"/>
                <a:cs typeface="Georgia"/>
              </a:rPr>
              <a:t>AWS separates the static website from secure business workflows.</a:t>
            </a:r>
          </a:p>
        </p:txBody>
      </p:sp>
      <p:sp>
        <p:nvSpPr>
          <p:cNvPr id="5" name="">
            <a:extLst xmlns:a="http://schemas.openxmlformats.org/drawingml/2006/main">
              <a:ext uri="{FF2B5EF4-FFF2-40B4-BE49-F238E27FC236}">
                <a16:creationId xmlns:a16="http://schemas.microsoft.com/office/drawing/2014/main" id="{E7C20F99-E0C6-4D94-8C6E-205BF08FE273}"/>
              </a:ext>
            </a:extLst>
          </p:cNvPr>
          <p:cNvSpPr>
            <a:spLocks xmlns:a="http://schemas.openxmlformats.org/drawingml/2006/main" noGrp="1"/>
          </p:cNvSpPr>
          <p:nvPr/>
        </p:nvSpPr>
        <p:spPr>
          <a:xfrm xmlns:a="http://schemas.openxmlformats.org/drawingml/2006/main">
            <a:off x="514350" y="1809750"/>
            <a:ext cx="10572750" cy="4095750"/>
          </a:xfrm>
          <a:prstGeom xmlns:a="http://schemas.openxmlformats.org/drawingml/2006/main" prst="rect">
            <a:avLst/>
          </a:prstGeom>
          <a:solidFill xmlns:a="http://schemas.openxmlformats.org/drawingml/2006/main">
            <a:srgbClr val="FFFDF7"/>
          </a:solidFill>
          <a:ln xmlns:a="http://schemas.openxmlformats.org/drawingml/2006/main" w="9525">
            <a:solidFill>
              <a:srgbClr val="DED5C7"/>
            </a:solidFill>
            <a:prstDash val="solid"/>
          </a:ln>
        </p:spPr>
      </p:sp>
      <p:sp>
        <p:nvSpPr>
          <p:cNvPr id="6" name="">
            <a:extLst xmlns:a="http://schemas.openxmlformats.org/drawingml/2006/main">
              <a:ext uri="{FF2B5EF4-FFF2-40B4-BE49-F238E27FC236}">
                <a16:creationId xmlns:a16="http://schemas.microsoft.com/office/drawing/2014/main" id="{6C7801C8-7EEB-48B4-B0A5-EBE5D7D2636F}"/>
              </a:ext>
            </a:extLst>
          </p:cNvPr>
          <p:cNvSpPr>
            <a:spLocks xmlns:a="http://schemas.openxmlformats.org/drawingml/2006/main" noGrp="1"/>
          </p:cNvSpPr>
          <p:nvPr/>
        </p:nvSpPr>
        <p:spPr>
          <a:xfrm xmlns:a="http://schemas.openxmlformats.org/drawingml/2006/main">
            <a:off x="742950" y="2038350"/>
            <a:ext cx="1524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6F737A"/>
                </a:solidFill>
                <a:latin typeface="Aptos Mono"/>
                <a:ea typeface="Aptos Mono"/>
                <a:cs typeface="Aptos Mono"/>
              </a:defRPr>
            </a:pPr>
            <a:r>
              <a:rPr sz="975" b="1">
                <a:solidFill>
                  <a:srgbClr val="6F737A"/>
                </a:solidFill>
                <a:latin typeface="Aptos Mono"/>
                <a:ea typeface="Aptos Mono"/>
                <a:cs typeface="Aptos Mono"/>
              </a:rPr>
              <a:t>Customer layer</a:t>
            </a:r>
          </a:p>
        </p:txBody>
      </p:sp>
      <p:sp>
        <p:nvSpPr>
          <p:cNvPr id="7" name="">
            <a:extLst xmlns:a="http://schemas.openxmlformats.org/drawingml/2006/main">
              <a:ext uri="{FF2B5EF4-FFF2-40B4-BE49-F238E27FC236}">
                <a16:creationId xmlns:a16="http://schemas.microsoft.com/office/drawing/2014/main" id="{23405F6A-27CC-4796-8754-E9C4E18D77F8}"/>
              </a:ext>
            </a:extLst>
          </p:cNvPr>
          <p:cNvSpPr>
            <a:spLocks xmlns:a="http://schemas.openxmlformats.org/drawingml/2006/main" noGrp="1"/>
          </p:cNvSpPr>
          <p:nvPr/>
        </p:nvSpPr>
        <p:spPr>
          <a:xfrm xmlns:a="http://schemas.openxmlformats.org/drawingml/2006/main">
            <a:off x="800100" y="2343150"/>
            <a:ext cx="1581150" cy="666750"/>
          </a:xfrm>
          <a:prstGeom xmlns:a="http://schemas.openxmlformats.org/drawingml/2006/main" prst="roundRect">
            <a:avLst>
              <a:gd name="adj" fmla="val 11429"/>
            </a:avLst>
          </a:prstGeom>
          <a:solidFill xmlns:a="http://schemas.openxmlformats.org/drawingml/2006/main">
            <a:srgbClr val="F7F0E3"/>
          </a:solidFill>
          <a:ln xmlns:a="http://schemas.openxmlformats.org/drawingml/2006/main" w="9525">
            <a:solidFill>
              <a:srgbClr val="D8D0C4"/>
            </a:solidFill>
            <a:prstDash val="solid"/>
          </a:ln>
        </p:spPr>
      </p:sp>
      <p:sp>
        <p:nvSpPr>
          <p:cNvPr id="8" name="">
            <a:extLst xmlns:a="http://schemas.openxmlformats.org/drawingml/2006/main">
              <a:ext uri="{FF2B5EF4-FFF2-40B4-BE49-F238E27FC236}">
                <a16:creationId xmlns:a16="http://schemas.microsoft.com/office/drawing/2014/main" id="{79ADFF62-9B4E-41DE-AF3F-2C1FF492D791}"/>
              </a:ext>
            </a:extLst>
          </p:cNvPr>
          <p:cNvSpPr>
            <a:spLocks xmlns:a="http://schemas.openxmlformats.org/drawingml/2006/main" noGrp="1"/>
          </p:cNvSpPr>
          <p:nvPr/>
        </p:nvSpPr>
        <p:spPr>
          <a:xfrm xmlns:a="http://schemas.openxmlformats.org/drawingml/2006/main">
            <a:off x="933450" y="2466975"/>
            <a:ext cx="13144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11111"/>
                </a:solidFill>
                <a:latin typeface="Aptos"/>
                <a:ea typeface="Aptos"/>
                <a:cs typeface="Aptos"/>
              </a:defRPr>
            </a:pPr>
            <a:r>
              <a:rPr sz="1200" b="1">
                <a:solidFill>
                  <a:srgbClr val="111111"/>
                </a:solidFill>
                <a:latin typeface="Aptos"/>
                <a:ea typeface="Aptos"/>
                <a:cs typeface="Aptos"/>
              </a:rPr>
              <a:t>Customer browser</a:t>
            </a:r>
          </a:p>
        </p:txBody>
      </p:sp>
      <p:sp>
        <p:nvSpPr>
          <p:cNvPr id="9" name="">
            <a:extLst xmlns:a="http://schemas.openxmlformats.org/drawingml/2006/main">
              <a:ext uri="{FF2B5EF4-FFF2-40B4-BE49-F238E27FC236}">
                <a16:creationId xmlns:a16="http://schemas.microsoft.com/office/drawing/2014/main" id="{FBE70785-FAB2-42B2-94D6-35D3627B19BD}"/>
              </a:ext>
            </a:extLst>
          </p:cNvPr>
          <p:cNvSpPr>
            <a:spLocks xmlns:a="http://schemas.openxmlformats.org/drawingml/2006/main" noGrp="1"/>
          </p:cNvSpPr>
          <p:nvPr/>
        </p:nvSpPr>
        <p:spPr>
          <a:xfrm xmlns:a="http://schemas.openxmlformats.org/drawingml/2006/main">
            <a:off x="933450" y="2743200"/>
            <a:ext cx="13144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F737A"/>
                </a:solidFill>
                <a:latin typeface="Aptos"/>
                <a:ea typeface="Aptos"/>
                <a:cs typeface="Aptos"/>
              </a:defRPr>
            </a:pPr>
            <a:r>
              <a:rPr sz="900" b="0">
                <a:solidFill>
                  <a:srgbClr val="6F737A"/>
                </a:solidFill>
                <a:latin typeface="Aptos"/>
                <a:ea typeface="Aptos"/>
                <a:cs typeface="Aptos"/>
              </a:rPr>
              <a:t>Mobile or desktop</a:t>
            </a:r>
          </a:p>
        </p:txBody>
      </p:sp>
      <p:sp>
        <p:nvSpPr>
          <p:cNvPr id="10" name="">
            <a:extLst xmlns:a="http://schemas.openxmlformats.org/drawingml/2006/main">
              <a:ext uri="{FF2B5EF4-FFF2-40B4-BE49-F238E27FC236}">
                <a16:creationId xmlns:a16="http://schemas.microsoft.com/office/drawing/2014/main" id="{61193AFE-0A2F-43B3-AC09-4FFFCD640FCA}"/>
              </a:ext>
            </a:extLst>
          </p:cNvPr>
          <p:cNvSpPr>
            <a:spLocks xmlns:a="http://schemas.openxmlformats.org/drawingml/2006/main" noGrp="1"/>
          </p:cNvSpPr>
          <p:nvPr/>
        </p:nvSpPr>
        <p:spPr>
          <a:xfrm xmlns:a="http://schemas.openxmlformats.org/drawingml/2006/main">
            <a:off x="3048000" y="2343150"/>
            <a:ext cx="1657350" cy="666750"/>
          </a:xfrm>
          <a:prstGeom xmlns:a="http://schemas.openxmlformats.org/drawingml/2006/main" prst="roundRect">
            <a:avLst>
              <a:gd name="adj" fmla="val 11429"/>
            </a:avLst>
          </a:prstGeom>
          <a:solidFill xmlns:a="http://schemas.openxmlformats.org/drawingml/2006/main">
            <a:srgbClr val="F7F0E3"/>
          </a:solidFill>
          <a:ln xmlns:a="http://schemas.openxmlformats.org/drawingml/2006/main" w="9525">
            <a:solidFill>
              <a:srgbClr val="D8D0C4"/>
            </a:solidFill>
            <a:prstDash val="solid"/>
          </a:ln>
        </p:spPr>
      </p:sp>
      <p:sp>
        <p:nvSpPr>
          <p:cNvPr id="11" name="">
            <a:extLst xmlns:a="http://schemas.openxmlformats.org/drawingml/2006/main">
              <a:ext uri="{FF2B5EF4-FFF2-40B4-BE49-F238E27FC236}">
                <a16:creationId xmlns:a16="http://schemas.microsoft.com/office/drawing/2014/main" id="{18280009-D485-4E35-98B6-B02843FDAEB5}"/>
              </a:ext>
            </a:extLst>
          </p:cNvPr>
          <p:cNvSpPr>
            <a:spLocks xmlns:a="http://schemas.openxmlformats.org/drawingml/2006/main" noGrp="1"/>
          </p:cNvSpPr>
          <p:nvPr/>
        </p:nvSpPr>
        <p:spPr>
          <a:xfrm xmlns:a="http://schemas.openxmlformats.org/drawingml/2006/main">
            <a:off x="3181350" y="2466975"/>
            <a:ext cx="13906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11111"/>
                </a:solidFill>
                <a:latin typeface="Aptos"/>
                <a:ea typeface="Aptos"/>
                <a:cs typeface="Aptos"/>
              </a:defRPr>
            </a:pPr>
            <a:r>
              <a:rPr sz="1200" b="1">
                <a:solidFill>
                  <a:srgbClr val="111111"/>
                </a:solidFill>
                <a:latin typeface="Aptos"/>
                <a:ea typeface="Aptos"/>
                <a:cs typeface="Aptos"/>
              </a:rPr>
              <a:t>Amazon CloudFront</a:t>
            </a:r>
          </a:p>
        </p:txBody>
      </p:sp>
      <p:sp>
        <p:nvSpPr>
          <p:cNvPr id="12" name="">
            <a:extLst xmlns:a="http://schemas.openxmlformats.org/drawingml/2006/main">
              <a:ext uri="{FF2B5EF4-FFF2-40B4-BE49-F238E27FC236}">
                <a16:creationId xmlns:a16="http://schemas.microsoft.com/office/drawing/2014/main" id="{0D27F832-C2C2-48D8-A65A-3E4F37C5AD36}"/>
              </a:ext>
            </a:extLst>
          </p:cNvPr>
          <p:cNvSpPr>
            <a:spLocks xmlns:a="http://schemas.openxmlformats.org/drawingml/2006/main" noGrp="1"/>
          </p:cNvSpPr>
          <p:nvPr/>
        </p:nvSpPr>
        <p:spPr>
          <a:xfrm xmlns:a="http://schemas.openxmlformats.org/drawingml/2006/main">
            <a:off x="3181350" y="2743200"/>
            <a:ext cx="1390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F737A"/>
                </a:solidFill>
                <a:latin typeface="Aptos"/>
                <a:ea typeface="Aptos"/>
                <a:cs typeface="Aptos"/>
              </a:defRPr>
            </a:pPr>
            <a:r>
              <a:rPr sz="900" b="0">
                <a:solidFill>
                  <a:srgbClr val="6F737A"/>
                </a:solidFill>
                <a:latin typeface="Aptos"/>
                <a:ea typeface="Aptos"/>
                <a:cs typeface="Aptos"/>
              </a:rPr>
              <a:t>Fast cached delivery</a:t>
            </a:r>
          </a:p>
        </p:txBody>
      </p:sp>
      <p:sp>
        <p:nvSpPr>
          <p:cNvPr id="13" name="">
            <a:extLst xmlns:a="http://schemas.openxmlformats.org/drawingml/2006/main">
              <a:ext uri="{FF2B5EF4-FFF2-40B4-BE49-F238E27FC236}">
                <a16:creationId xmlns:a16="http://schemas.microsoft.com/office/drawing/2014/main" id="{BAC6672B-8691-41C0-A993-B16AB6DE588B}"/>
              </a:ext>
            </a:extLst>
          </p:cNvPr>
          <p:cNvSpPr>
            <a:spLocks xmlns:a="http://schemas.openxmlformats.org/drawingml/2006/main" noGrp="1"/>
          </p:cNvSpPr>
          <p:nvPr/>
        </p:nvSpPr>
        <p:spPr>
          <a:xfrm xmlns:a="http://schemas.openxmlformats.org/drawingml/2006/main">
            <a:off x="5353050" y="2343150"/>
            <a:ext cx="1657350" cy="666750"/>
          </a:xfrm>
          <a:prstGeom xmlns:a="http://schemas.openxmlformats.org/drawingml/2006/main" prst="roundRect">
            <a:avLst>
              <a:gd name="adj" fmla="val 11429"/>
            </a:avLst>
          </a:prstGeom>
          <a:solidFill xmlns:a="http://schemas.openxmlformats.org/drawingml/2006/main">
            <a:srgbClr val="F7F0E3"/>
          </a:solidFill>
          <a:ln xmlns:a="http://schemas.openxmlformats.org/drawingml/2006/main" w="9525">
            <a:solidFill>
              <a:srgbClr val="D8D0C4"/>
            </a:solidFill>
            <a:prstDash val="solid"/>
          </a:ln>
        </p:spPr>
      </p:sp>
      <p:sp>
        <p:nvSpPr>
          <p:cNvPr id="14" name="">
            <a:extLst xmlns:a="http://schemas.openxmlformats.org/drawingml/2006/main">
              <a:ext uri="{FF2B5EF4-FFF2-40B4-BE49-F238E27FC236}">
                <a16:creationId xmlns:a16="http://schemas.microsoft.com/office/drawing/2014/main" id="{BEEAAE4B-21FF-4274-BDDE-4440DEFA540E}"/>
              </a:ext>
            </a:extLst>
          </p:cNvPr>
          <p:cNvSpPr>
            <a:spLocks xmlns:a="http://schemas.openxmlformats.org/drawingml/2006/main" noGrp="1"/>
          </p:cNvSpPr>
          <p:nvPr/>
        </p:nvSpPr>
        <p:spPr>
          <a:xfrm xmlns:a="http://schemas.openxmlformats.org/drawingml/2006/main">
            <a:off x="5486400" y="2466975"/>
            <a:ext cx="13906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11111"/>
                </a:solidFill>
                <a:latin typeface="Aptos"/>
                <a:ea typeface="Aptos"/>
                <a:cs typeface="Aptos"/>
              </a:defRPr>
            </a:pPr>
            <a:r>
              <a:rPr sz="1200" b="1">
                <a:solidFill>
                  <a:srgbClr val="111111"/>
                </a:solidFill>
                <a:latin typeface="Aptos"/>
                <a:ea typeface="Aptos"/>
                <a:cs typeface="Aptos"/>
              </a:rPr>
              <a:t>Amazon S3</a:t>
            </a:r>
          </a:p>
        </p:txBody>
      </p:sp>
      <p:sp>
        <p:nvSpPr>
          <p:cNvPr id="15" name="">
            <a:extLst xmlns:a="http://schemas.openxmlformats.org/drawingml/2006/main">
              <a:ext uri="{FF2B5EF4-FFF2-40B4-BE49-F238E27FC236}">
                <a16:creationId xmlns:a16="http://schemas.microsoft.com/office/drawing/2014/main" id="{13868FC6-54E7-4CAC-9FA6-30FB3EDA25CF}"/>
              </a:ext>
            </a:extLst>
          </p:cNvPr>
          <p:cNvSpPr>
            <a:spLocks xmlns:a="http://schemas.openxmlformats.org/drawingml/2006/main" noGrp="1"/>
          </p:cNvSpPr>
          <p:nvPr/>
        </p:nvSpPr>
        <p:spPr>
          <a:xfrm xmlns:a="http://schemas.openxmlformats.org/drawingml/2006/main">
            <a:off x="5486400" y="2743200"/>
            <a:ext cx="1390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F737A"/>
                </a:solidFill>
                <a:latin typeface="Aptos"/>
                <a:ea typeface="Aptos"/>
                <a:cs typeface="Aptos"/>
              </a:defRPr>
            </a:pPr>
            <a:r>
              <a:rPr sz="900" b="0">
                <a:solidFill>
                  <a:srgbClr val="6F737A"/>
                </a:solidFill>
                <a:latin typeface="Aptos"/>
                <a:ea typeface="Aptos"/>
                <a:cs typeface="Aptos"/>
              </a:rPr>
              <a:t>Static website and menu images</a:t>
            </a:r>
          </a:p>
        </p:txBody>
      </p:sp>
      <p:sp>
        <p:nvSpPr>
          <p:cNvPr id="16" name="">
            <a:extLst xmlns:a="http://schemas.openxmlformats.org/drawingml/2006/main">
              <a:ext uri="{FF2B5EF4-FFF2-40B4-BE49-F238E27FC236}">
                <a16:creationId xmlns:a16="http://schemas.microsoft.com/office/drawing/2014/main" id="{1A84105A-8AF7-4DEA-B9F8-B11BEB327EFD}"/>
              </a:ext>
            </a:extLst>
          </p:cNvPr>
          <p:cNvSpPr>
            <a:spLocks xmlns:a="http://schemas.openxmlformats.org/drawingml/2006/main" noGrp="1"/>
          </p:cNvSpPr>
          <p:nvPr/>
        </p:nvSpPr>
        <p:spPr>
          <a:xfrm xmlns:a="http://schemas.openxmlformats.org/drawingml/2006/main">
            <a:off x="2400300" y="2676525"/>
            <a:ext cx="628650" cy="0"/>
          </a:xfrm>
          <a:prstGeom xmlns:a="http://schemas.openxmlformats.org/drawingml/2006/main" prst="line">
            <a:avLst/>
          </a:prstGeom>
          <a:solidFill xmlns:a="http://schemas.openxmlformats.org/drawingml/2006/main">
            <a:srgbClr val="000000">
              <a:alpha val="0"/>
            </a:srgbClr>
          </a:solidFill>
          <a:ln xmlns:a="http://schemas.openxmlformats.org/drawingml/2006/main" w="28575">
            <a:solidFill>
              <a:srgbClr val="D9B72F"/>
            </a:solidFill>
            <a:prstDash val="solid"/>
          </a:ln>
        </p:spPr>
      </p:sp>
      <p:sp>
        <p:nvSpPr>
          <p:cNvPr id="17" name="">
            <a:extLst xmlns:a="http://schemas.openxmlformats.org/drawingml/2006/main">
              <a:ext uri="{FF2B5EF4-FFF2-40B4-BE49-F238E27FC236}">
                <a16:creationId xmlns:a16="http://schemas.microsoft.com/office/drawing/2014/main" id="{FE8F2ADA-1892-46CF-A54F-EC15FAC02695}"/>
              </a:ext>
            </a:extLst>
          </p:cNvPr>
          <p:cNvSpPr>
            <a:spLocks xmlns:a="http://schemas.openxmlformats.org/drawingml/2006/main" noGrp="1"/>
          </p:cNvSpPr>
          <p:nvPr/>
        </p:nvSpPr>
        <p:spPr>
          <a:xfrm xmlns:a="http://schemas.openxmlformats.org/drawingml/2006/main">
            <a:off x="4724400" y="2676525"/>
            <a:ext cx="609600" cy="0"/>
          </a:xfrm>
          <a:prstGeom xmlns:a="http://schemas.openxmlformats.org/drawingml/2006/main" prst="line">
            <a:avLst/>
          </a:prstGeom>
          <a:solidFill xmlns:a="http://schemas.openxmlformats.org/drawingml/2006/main">
            <a:srgbClr val="000000">
              <a:alpha val="0"/>
            </a:srgbClr>
          </a:solidFill>
          <a:ln xmlns:a="http://schemas.openxmlformats.org/drawingml/2006/main" w="28575">
            <a:solidFill>
              <a:srgbClr val="D9B72F"/>
            </a:solidFill>
            <a:prstDash val="solid"/>
          </a:ln>
        </p:spPr>
      </p:sp>
      <p:sp>
        <p:nvSpPr>
          <p:cNvPr id="18" name="">
            <a:extLst xmlns:a="http://schemas.openxmlformats.org/drawingml/2006/main">
              <a:ext uri="{FF2B5EF4-FFF2-40B4-BE49-F238E27FC236}">
                <a16:creationId xmlns:a16="http://schemas.microsoft.com/office/drawing/2014/main" id="{65308729-8033-4F82-9874-4933AD2A032E}"/>
              </a:ext>
            </a:extLst>
          </p:cNvPr>
          <p:cNvSpPr>
            <a:spLocks xmlns:a="http://schemas.openxmlformats.org/drawingml/2006/main" noGrp="1"/>
          </p:cNvSpPr>
          <p:nvPr/>
        </p:nvSpPr>
        <p:spPr>
          <a:xfrm xmlns:a="http://schemas.openxmlformats.org/drawingml/2006/main">
            <a:off x="742950" y="3409950"/>
            <a:ext cx="1714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6F737A"/>
                </a:solidFill>
                <a:latin typeface="Aptos Mono"/>
                <a:ea typeface="Aptos Mono"/>
                <a:cs typeface="Aptos Mono"/>
              </a:defRPr>
            </a:pPr>
            <a:r>
              <a:rPr sz="975" b="1">
                <a:solidFill>
                  <a:srgbClr val="6F737A"/>
                </a:solidFill>
                <a:latin typeface="Aptos Mono"/>
                <a:ea typeface="Aptos Mono"/>
                <a:cs typeface="Aptos Mono"/>
              </a:rPr>
              <a:t>Application layer</a:t>
            </a:r>
          </a:p>
        </p:txBody>
      </p:sp>
      <p:sp>
        <p:nvSpPr>
          <p:cNvPr id="19" name="">
            <a:extLst xmlns:a="http://schemas.openxmlformats.org/drawingml/2006/main">
              <a:ext uri="{FF2B5EF4-FFF2-40B4-BE49-F238E27FC236}">
                <a16:creationId xmlns:a16="http://schemas.microsoft.com/office/drawing/2014/main" id="{5674AACD-93E0-471F-A90E-7C94883A9E44}"/>
              </a:ext>
            </a:extLst>
          </p:cNvPr>
          <p:cNvSpPr>
            <a:spLocks xmlns:a="http://schemas.openxmlformats.org/drawingml/2006/main" noGrp="1"/>
          </p:cNvSpPr>
          <p:nvPr/>
        </p:nvSpPr>
        <p:spPr>
          <a:xfrm xmlns:a="http://schemas.openxmlformats.org/drawingml/2006/main">
            <a:off x="800100" y="3733800"/>
            <a:ext cx="1752600" cy="742950"/>
          </a:xfrm>
          <a:prstGeom xmlns:a="http://schemas.openxmlformats.org/drawingml/2006/main" prst="roundRect">
            <a:avLst>
              <a:gd name="adj" fmla="val 10256"/>
            </a:avLst>
          </a:prstGeom>
          <a:solidFill xmlns:a="http://schemas.openxmlformats.org/drawingml/2006/main">
            <a:srgbClr val="EEF4ED"/>
          </a:solidFill>
          <a:ln xmlns:a="http://schemas.openxmlformats.org/drawingml/2006/main" w="9525">
            <a:solidFill>
              <a:srgbClr val="C9D9C9"/>
            </a:solidFill>
            <a:prstDash val="solid"/>
          </a:ln>
        </p:spPr>
      </p:sp>
      <p:sp>
        <p:nvSpPr>
          <p:cNvPr id="20" name="">
            <a:extLst xmlns:a="http://schemas.openxmlformats.org/drawingml/2006/main">
              <a:ext uri="{FF2B5EF4-FFF2-40B4-BE49-F238E27FC236}">
                <a16:creationId xmlns:a16="http://schemas.microsoft.com/office/drawing/2014/main" id="{BD26E2C0-0EA9-43ED-8FC9-D74A7692A9E0}"/>
              </a:ext>
            </a:extLst>
          </p:cNvPr>
          <p:cNvSpPr>
            <a:spLocks xmlns:a="http://schemas.openxmlformats.org/drawingml/2006/main" noGrp="1"/>
          </p:cNvSpPr>
          <p:nvPr/>
        </p:nvSpPr>
        <p:spPr>
          <a:xfrm xmlns:a="http://schemas.openxmlformats.org/drawingml/2006/main">
            <a:off x="933450" y="3857625"/>
            <a:ext cx="14859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11111"/>
                </a:solidFill>
                <a:latin typeface="Aptos"/>
                <a:ea typeface="Aptos"/>
                <a:cs typeface="Aptos"/>
              </a:defRPr>
            </a:pPr>
            <a:r>
              <a:rPr sz="1200" b="1">
                <a:solidFill>
                  <a:srgbClr val="111111"/>
                </a:solidFill>
                <a:latin typeface="Aptos"/>
                <a:ea typeface="Aptos"/>
                <a:cs typeface="Aptos"/>
              </a:rPr>
              <a:t>Amazon Cognito</a:t>
            </a:r>
          </a:p>
        </p:txBody>
      </p:sp>
      <p:sp>
        <p:nvSpPr>
          <p:cNvPr id="21" name="">
            <a:extLst xmlns:a="http://schemas.openxmlformats.org/drawingml/2006/main">
              <a:ext uri="{FF2B5EF4-FFF2-40B4-BE49-F238E27FC236}">
                <a16:creationId xmlns:a16="http://schemas.microsoft.com/office/drawing/2014/main" id="{94594412-C4E4-40DB-BAC7-FC03B32E03FD}"/>
              </a:ext>
            </a:extLst>
          </p:cNvPr>
          <p:cNvSpPr>
            <a:spLocks xmlns:a="http://schemas.openxmlformats.org/drawingml/2006/main" noGrp="1"/>
          </p:cNvSpPr>
          <p:nvPr/>
        </p:nvSpPr>
        <p:spPr>
          <a:xfrm xmlns:a="http://schemas.openxmlformats.org/drawingml/2006/main">
            <a:off x="933450" y="4133850"/>
            <a:ext cx="14859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F737A"/>
                </a:solidFill>
                <a:latin typeface="Aptos"/>
                <a:ea typeface="Aptos"/>
                <a:cs typeface="Aptos"/>
              </a:defRPr>
            </a:pPr>
            <a:r>
              <a:rPr sz="900" b="0">
                <a:solidFill>
                  <a:srgbClr val="6F737A"/>
                </a:solidFill>
                <a:latin typeface="Aptos"/>
                <a:ea typeface="Aptos"/>
                <a:cs typeface="Aptos"/>
              </a:rPr>
              <a:t>Customer sign-in and profiles</a:t>
            </a:r>
          </a:p>
        </p:txBody>
      </p:sp>
      <p:sp>
        <p:nvSpPr>
          <p:cNvPr id="22" name="">
            <a:extLst xmlns:a="http://schemas.openxmlformats.org/drawingml/2006/main">
              <a:ext uri="{FF2B5EF4-FFF2-40B4-BE49-F238E27FC236}">
                <a16:creationId xmlns:a16="http://schemas.microsoft.com/office/drawing/2014/main" id="{D898DB81-895A-44CF-8E35-F3038DB34BB1}"/>
              </a:ext>
            </a:extLst>
          </p:cNvPr>
          <p:cNvSpPr>
            <a:spLocks xmlns:a="http://schemas.openxmlformats.org/drawingml/2006/main" noGrp="1"/>
          </p:cNvSpPr>
          <p:nvPr/>
        </p:nvSpPr>
        <p:spPr>
          <a:xfrm xmlns:a="http://schemas.openxmlformats.org/drawingml/2006/main">
            <a:off x="3143250" y="3733800"/>
            <a:ext cx="1562100" cy="742950"/>
          </a:xfrm>
          <a:prstGeom xmlns:a="http://schemas.openxmlformats.org/drawingml/2006/main" prst="roundRect">
            <a:avLst>
              <a:gd name="adj" fmla="val 10256"/>
            </a:avLst>
          </a:prstGeom>
          <a:solidFill xmlns:a="http://schemas.openxmlformats.org/drawingml/2006/main">
            <a:srgbClr val="EEF4ED"/>
          </a:solidFill>
          <a:ln xmlns:a="http://schemas.openxmlformats.org/drawingml/2006/main" w="9525">
            <a:solidFill>
              <a:srgbClr val="C9D9C9"/>
            </a:solidFill>
            <a:prstDash val="solid"/>
          </a:ln>
        </p:spPr>
      </p:sp>
      <p:sp>
        <p:nvSpPr>
          <p:cNvPr id="23" name="">
            <a:extLst xmlns:a="http://schemas.openxmlformats.org/drawingml/2006/main">
              <a:ext uri="{FF2B5EF4-FFF2-40B4-BE49-F238E27FC236}">
                <a16:creationId xmlns:a16="http://schemas.microsoft.com/office/drawing/2014/main" id="{B925DA6E-B88E-4288-88A4-B3C31929FD5D}"/>
              </a:ext>
            </a:extLst>
          </p:cNvPr>
          <p:cNvSpPr>
            <a:spLocks xmlns:a="http://schemas.openxmlformats.org/drawingml/2006/main" noGrp="1"/>
          </p:cNvSpPr>
          <p:nvPr/>
        </p:nvSpPr>
        <p:spPr>
          <a:xfrm xmlns:a="http://schemas.openxmlformats.org/drawingml/2006/main">
            <a:off x="3276600" y="3857625"/>
            <a:ext cx="12954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11111"/>
                </a:solidFill>
                <a:latin typeface="Aptos"/>
                <a:ea typeface="Aptos"/>
                <a:cs typeface="Aptos"/>
              </a:defRPr>
            </a:pPr>
            <a:r>
              <a:rPr sz="1200" b="1">
                <a:solidFill>
                  <a:srgbClr val="111111"/>
                </a:solidFill>
                <a:latin typeface="Aptos"/>
                <a:ea typeface="Aptos"/>
                <a:cs typeface="Aptos"/>
              </a:rPr>
              <a:t>API Gateway</a:t>
            </a:r>
          </a:p>
        </p:txBody>
      </p:sp>
      <p:sp>
        <p:nvSpPr>
          <p:cNvPr id="24" name="">
            <a:extLst xmlns:a="http://schemas.openxmlformats.org/drawingml/2006/main">
              <a:ext uri="{FF2B5EF4-FFF2-40B4-BE49-F238E27FC236}">
                <a16:creationId xmlns:a16="http://schemas.microsoft.com/office/drawing/2014/main" id="{55516CE1-ABF3-41BA-87FE-246395A0A06F}"/>
              </a:ext>
            </a:extLst>
          </p:cNvPr>
          <p:cNvSpPr>
            <a:spLocks xmlns:a="http://schemas.openxmlformats.org/drawingml/2006/main" noGrp="1"/>
          </p:cNvSpPr>
          <p:nvPr/>
        </p:nvSpPr>
        <p:spPr>
          <a:xfrm xmlns:a="http://schemas.openxmlformats.org/drawingml/2006/main">
            <a:off x="3276600" y="4133850"/>
            <a:ext cx="12954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F737A"/>
                </a:solidFill>
                <a:latin typeface="Aptos"/>
                <a:ea typeface="Aptos"/>
                <a:cs typeface="Aptos"/>
              </a:defRPr>
            </a:pPr>
            <a:r>
              <a:rPr sz="900" b="0">
                <a:solidFill>
                  <a:srgbClr val="6F737A"/>
                </a:solidFill>
                <a:latin typeface="Aptos"/>
                <a:ea typeface="Aptos"/>
                <a:cs typeface="Aptos"/>
              </a:rPr>
              <a:t>Booking and order APIs</a:t>
            </a:r>
          </a:p>
        </p:txBody>
      </p:sp>
      <p:sp>
        <p:nvSpPr>
          <p:cNvPr id="25" name="">
            <a:extLst xmlns:a="http://schemas.openxmlformats.org/drawingml/2006/main">
              <a:ext uri="{FF2B5EF4-FFF2-40B4-BE49-F238E27FC236}">
                <a16:creationId xmlns:a16="http://schemas.microsoft.com/office/drawing/2014/main" id="{5564497D-02A5-4EB7-AF2D-F7744B1CE16D}"/>
              </a:ext>
            </a:extLst>
          </p:cNvPr>
          <p:cNvSpPr>
            <a:spLocks xmlns:a="http://schemas.openxmlformats.org/drawingml/2006/main" noGrp="1"/>
          </p:cNvSpPr>
          <p:nvPr/>
        </p:nvSpPr>
        <p:spPr>
          <a:xfrm xmlns:a="http://schemas.openxmlformats.org/drawingml/2006/main">
            <a:off x="5353050" y="3733800"/>
            <a:ext cx="1809750" cy="742950"/>
          </a:xfrm>
          <a:prstGeom xmlns:a="http://schemas.openxmlformats.org/drawingml/2006/main" prst="roundRect">
            <a:avLst>
              <a:gd name="adj" fmla="val 10256"/>
            </a:avLst>
          </a:prstGeom>
          <a:solidFill xmlns:a="http://schemas.openxmlformats.org/drawingml/2006/main">
            <a:srgbClr val="EEF4ED"/>
          </a:solidFill>
          <a:ln xmlns:a="http://schemas.openxmlformats.org/drawingml/2006/main" w="9525">
            <a:solidFill>
              <a:srgbClr val="C9D9C9"/>
            </a:solidFill>
            <a:prstDash val="solid"/>
          </a:ln>
        </p:spPr>
      </p:sp>
      <p:sp>
        <p:nvSpPr>
          <p:cNvPr id="26" name="">
            <a:extLst xmlns:a="http://schemas.openxmlformats.org/drawingml/2006/main">
              <a:ext uri="{FF2B5EF4-FFF2-40B4-BE49-F238E27FC236}">
                <a16:creationId xmlns:a16="http://schemas.microsoft.com/office/drawing/2014/main" id="{7492B2D7-F46E-4A87-9551-1A690F74C9E1}"/>
              </a:ext>
            </a:extLst>
          </p:cNvPr>
          <p:cNvSpPr>
            <a:spLocks xmlns:a="http://schemas.openxmlformats.org/drawingml/2006/main" noGrp="1"/>
          </p:cNvSpPr>
          <p:nvPr/>
        </p:nvSpPr>
        <p:spPr>
          <a:xfrm xmlns:a="http://schemas.openxmlformats.org/drawingml/2006/main">
            <a:off x="5486400" y="3857625"/>
            <a:ext cx="15430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11111"/>
                </a:solidFill>
                <a:latin typeface="Aptos"/>
                <a:ea typeface="Aptos"/>
                <a:cs typeface="Aptos"/>
              </a:defRPr>
            </a:pPr>
            <a:r>
              <a:rPr sz="1200" b="1">
                <a:solidFill>
                  <a:srgbClr val="111111"/>
                </a:solidFill>
                <a:latin typeface="Aptos"/>
                <a:ea typeface="Aptos"/>
                <a:cs typeface="Aptos"/>
              </a:rPr>
              <a:t>AWS Lambda</a:t>
            </a:r>
          </a:p>
        </p:txBody>
      </p:sp>
      <p:sp>
        <p:nvSpPr>
          <p:cNvPr id="27" name="">
            <a:extLst xmlns:a="http://schemas.openxmlformats.org/drawingml/2006/main">
              <a:ext uri="{FF2B5EF4-FFF2-40B4-BE49-F238E27FC236}">
                <a16:creationId xmlns:a16="http://schemas.microsoft.com/office/drawing/2014/main" id="{ADB4A8ED-AC40-4E9A-9258-96732855658F}"/>
              </a:ext>
            </a:extLst>
          </p:cNvPr>
          <p:cNvSpPr>
            <a:spLocks xmlns:a="http://schemas.openxmlformats.org/drawingml/2006/main" noGrp="1"/>
          </p:cNvSpPr>
          <p:nvPr/>
        </p:nvSpPr>
        <p:spPr>
          <a:xfrm xmlns:a="http://schemas.openxmlformats.org/drawingml/2006/main">
            <a:off x="5486400" y="4133850"/>
            <a:ext cx="15430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F737A"/>
                </a:solidFill>
                <a:latin typeface="Aptos"/>
                <a:ea typeface="Aptos"/>
                <a:cs typeface="Aptos"/>
              </a:defRPr>
            </a:pPr>
            <a:r>
              <a:rPr sz="900" b="0">
                <a:solidFill>
                  <a:srgbClr val="6F737A"/>
                </a:solidFill>
                <a:latin typeface="Aptos"/>
                <a:ea typeface="Aptos"/>
                <a:cs typeface="Aptos"/>
              </a:rPr>
              <a:t>Validation, processing, confirmation</a:t>
            </a:r>
          </a:p>
        </p:txBody>
      </p:sp>
      <p:sp>
        <p:nvSpPr>
          <p:cNvPr id="28" name="">
            <a:extLst xmlns:a="http://schemas.openxmlformats.org/drawingml/2006/main">
              <a:ext uri="{FF2B5EF4-FFF2-40B4-BE49-F238E27FC236}">
                <a16:creationId xmlns:a16="http://schemas.microsoft.com/office/drawing/2014/main" id="{E55958B5-C6CF-4C9D-9E1B-891AC9D06202}"/>
              </a:ext>
            </a:extLst>
          </p:cNvPr>
          <p:cNvSpPr>
            <a:spLocks xmlns:a="http://schemas.openxmlformats.org/drawingml/2006/main" noGrp="1"/>
          </p:cNvSpPr>
          <p:nvPr/>
        </p:nvSpPr>
        <p:spPr>
          <a:xfrm xmlns:a="http://schemas.openxmlformats.org/drawingml/2006/main">
            <a:off x="7810500" y="3733800"/>
            <a:ext cx="1619250" cy="742950"/>
          </a:xfrm>
          <a:prstGeom xmlns:a="http://schemas.openxmlformats.org/drawingml/2006/main" prst="roundRect">
            <a:avLst>
              <a:gd name="adj" fmla="val 10256"/>
            </a:avLst>
          </a:prstGeom>
          <a:solidFill xmlns:a="http://schemas.openxmlformats.org/drawingml/2006/main">
            <a:srgbClr val="EEF4ED"/>
          </a:solidFill>
          <a:ln xmlns:a="http://schemas.openxmlformats.org/drawingml/2006/main" w="9525">
            <a:solidFill>
              <a:srgbClr val="C9D9C9"/>
            </a:solidFill>
            <a:prstDash val="solid"/>
          </a:ln>
        </p:spPr>
      </p:sp>
      <p:sp>
        <p:nvSpPr>
          <p:cNvPr id="29" name="">
            <a:extLst xmlns:a="http://schemas.openxmlformats.org/drawingml/2006/main">
              <a:ext uri="{FF2B5EF4-FFF2-40B4-BE49-F238E27FC236}">
                <a16:creationId xmlns:a16="http://schemas.microsoft.com/office/drawing/2014/main" id="{39F88558-FA73-4660-A57F-CF456D0AFE84}"/>
              </a:ext>
            </a:extLst>
          </p:cNvPr>
          <p:cNvSpPr>
            <a:spLocks xmlns:a="http://schemas.openxmlformats.org/drawingml/2006/main" noGrp="1"/>
          </p:cNvSpPr>
          <p:nvPr/>
        </p:nvSpPr>
        <p:spPr>
          <a:xfrm xmlns:a="http://schemas.openxmlformats.org/drawingml/2006/main">
            <a:off x="7943850" y="3857625"/>
            <a:ext cx="13525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11111"/>
                </a:solidFill>
                <a:latin typeface="Aptos"/>
                <a:ea typeface="Aptos"/>
                <a:cs typeface="Aptos"/>
              </a:defRPr>
            </a:pPr>
            <a:r>
              <a:rPr sz="1200" b="1">
                <a:solidFill>
                  <a:srgbClr val="111111"/>
                </a:solidFill>
                <a:latin typeface="Aptos"/>
                <a:ea typeface="Aptos"/>
                <a:cs typeface="Aptos"/>
              </a:rPr>
              <a:t>Amazon SNS</a:t>
            </a:r>
          </a:p>
        </p:txBody>
      </p:sp>
      <p:sp>
        <p:nvSpPr>
          <p:cNvPr id="30" name="">
            <a:extLst xmlns:a="http://schemas.openxmlformats.org/drawingml/2006/main">
              <a:ext uri="{FF2B5EF4-FFF2-40B4-BE49-F238E27FC236}">
                <a16:creationId xmlns:a16="http://schemas.microsoft.com/office/drawing/2014/main" id="{F69B99C4-565B-41EE-8BF7-FCF51FDA6E45}"/>
              </a:ext>
            </a:extLst>
          </p:cNvPr>
          <p:cNvSpPr>
            <a:spLocks xmlns:a="http://schemas.openxmlformats.org/drawingml/2006/main" noGrp="1"/>
          </p:cNvSpPr>
          <p:nvPr/>
        </p:nvSpPr>
        <p:spPr>
          <a:xfrm xmlns:a="http://schemas.openxmlformats.org/drawingml/2006/main">
            <a:off x="7943850" y="4133850"/>
            <a:ext cx="13525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F737A"/>
                </a:solidFill>
                <a:latin typeface="Aptos"/>
                <a:ea typeface="Aptos"/>
                <a:cs typeface="Aptos"/>
              </a:defRPr>
            </a:pPr>
            <a:r>
              <a:rPr sz="900" b="0">
                <a:solidFill>
                  <a:srgbClr val="6F737A"/>
                </a:solidFill>
                <a:latin typeface="Aptos"/>
                <a:ea typeface="Aptos"/>
                <a:cs typeface="Aptos"/>
              </a:rPr>
              <a:t>Staff email or SMS alerts</a:t>
            </a:r>
          </a:p>
        </p:txBody>
      </p:sp>
      <p:sp>
        <p:nvSpPr>
          <p:cNvPr id="31" name="">
            <a:extLst xmlns:a="http://schemas.openxmlformats.org/drawingml/2006/main">
              <a:ext uri="{FF2B5EF4-FFF2-40B4-BE49-F238E27FC236}">
                <a16:creationId xmlns:a16="http://schemas.microsoft.com/office/drawing/2014/main" id="{9DF2E1A0-1695-46AA-99B0-4E9C08D2D281}"/>
              </a:ext>
            </a:extLst>
          </p:cNvPr>
          <p:cNvSpPr>
            <a:spLocks xmlns:a="http://schemas.openxmlformats.org/drawingml/2006/main" noGrp="1"/>
          </p:cNvSpPr>
          <p:nvPr/>
        </p:nvSpPr>
        <p:spPr>
          <a:xfrm xmlns:a="http://schemas.openxmlformats.org/drawingml/2006/main">
            <a:off x="2571750" y="4105275"/>
            <a:ext cx="552450" cy="0"/>
          </a:xfrm>
          <a:prstGeom xmlns:a="http://schemas.openxmlformats.org/drawingml/2006/main" prst="line">
            <a:avLst/>
          </a:prstGeom>
          <a:solidFill xmlns:a="http://schemas.openxmlformats.org/drawingml/2006/main">
            <a:srgbClr val="000000">
              <a:alpha val="0"/>
            </a:srgbClr>
          </a:solidFill>
          <a:ln xmlns:a="http://schemas.openxmlformats.org/drawingml/2006/main" w="28575">
            <a:solidFill>
              <a:srgbClr val="376B4F"/>
            </a:solidFill>
            <a:prstDash val="solid"/>
          </a:ln>
        </p:spPr>
      </p:sp>
      <p:sp>
        <p:nvSpPr>
          <p:cNvPr id="32" name="">
            <a:extLst xmlns:a="http://schemas.openxmlformats.org/drawingml/2006/main">
              <a:ext uri="{FF2B5EF4-FFF2-40B4-BE49-F238E27FC236}">
                <a16:creationId xmlns:a16="http://schemas.microsoft.com/office/drawing/2014/main" id="{FB8EEA0C-929E-4DAB-889B-2ED41D4E077E}"/>
              </a:ext>
            </a:extLst>
          </p:cNvPr>
          <p:cNvSpPr>
            <a:spLocks xmlns:a="http://schemas.openxmlformats.org/drawingml/2006/main" noGrp="1"/>
          </p:cNvSpPr>
          <p:nvPr/>
        </p:nvSpPr>
        <p:spPr>
          <a:xfrm xmlns:a="http://schemas.openxmlformats.org/drawingml/2006/main">
            <a:off x="4724400" y="4105275"/>
            <a:ext cx="609600" cy="0"/>
          </a:xfrm>
          <a:prstGeom xmlns:a="http://schemas.openxmlformats.org/drawingml/2006/main" prst="line">
            <a:avLst/>
          </a:prstGeom>
          <a:solidFill xmlns:a="http://schemas.openxmlformats.org/drawingml/2006/main">
            <a:srgbClr val="000000">
              <a:alpha val="0"/>
            </a:srgbClr>
          </a:solidFill>
          <a:ln xmlns:a="http://schemas.openxmlformats.org/drawingml/2006/main" w="28575">
            <a:solidFill>
              <a:srgbClr val="376B4F"/>
            </a:solidFill>
            <a:prstDash val="solid"/>
          </a:ln>
        </p:spPr>
      </p:sp>
      <p:sp>
        <p:nvSpPr>
          <p:cNvPr id="33" name="">
            <a:extLst xmlns:a="http://schemas.openxmlformats.org/drawingml/2006/main">
              <a:ext uri="{FF2B5EF4-FFF2-40B4-BE49-F238E27FC236}">
                <a16:creationId xmlns:a16="http://schemas.microsoft.com/office/drawing/2014/main" id="{748582B3-B6E1-47F7-A33C-B4D3132994C0}"/>
              </a:ext>
            </a:extLst>
          </p:cNvPr>
          <p:cNvSpPr>
            <a:spLocks xmlns:a="http://schemas.openxmlformats.org/drawingml/2006/main" noGrp="1"/>
          </p:cNvSpPr>
          <p:nvPr/>
        </p:nvSpPr>
        <p:spPr>
          <a:xfrm xmlns:a="http://schemas.openxmlformats.org/drawingml/2006/main">
            <a:off x="7181850" y="4105275"/>
            <a:ext cx="609600" cy="0"/>
          </a:xfrm>
          <a:prstGeom xmlns:a="http://schemas.openxmlformats.org/drawingml/2006/main" prst="line">
            <a:avLst/>
          </a:prstGeom>
          <a:solidFill xmlns:a="http://schemas.openxmlformats.org/drawingml/2006/main">
            <a:srgbClr val="000000">
              <a:alpha val="0"/>
            </a:srgbClr>
          </a:solidFill>
          <a:ln xmlns:a="http://schemas.openxmlformats.org/drawingml/2006/main" w="28575">
            <a:solidFill>
              <a:srgbClr val="376B4F"/>
            </a:solidFill>
            <a:prstDash val="solid"/>
          </a:ln>
        </p:spPr>
      </p:sp>
      <p:sp>
        <p:nvSpPr>
          <p:cNvPr id="34" name="">
            <a:extLst xmlns:a="http://schemas.openxmlformats.org/drawingml/2006/main">
              <a:ext uri="{FF2B5EF4-FFF2-40B4-BE49-F238E27FC236}">
                <a16:creationId xmlns:a16="http://schemas.microsoft.com/office/drawing/2014/main" id="{F930EC2A-5530-4864-9D49-4DB6D86E006F}"/>
              </a:ext>
            </a:extLst>
          </p:cNvPr>
          <p:cNvSpPr>
            <a:spLocks xmlns:a="http://schemas.openxmlformats.org/drawingml/2006/main" noGrp="1"/>
          </p:cNvSpPr>
          <p:nvPr/>
        </p:nvSpPr>
        <p:spPr>
          <a:xfrm xmlns:a="http://schemas.openxmlformats.org/drawingml/2006/main">
            <a:off x="742950" y="4876800"/>
            <a:ext cx="1143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6F737A"/>
                </a:solidFill>
                <a:latin typeface="Aptos Mono"/>
                <a:ea typeface="Aptos Mono"/>
                <a:cs typeface="Aptos Mono"/>
              </a:defRPr>
            </a:pPr>
            <a:r>
              <a:rPr sz="975" b="1">
                <a:solidFill>
                  <a:srgbClr val="6F737A"/>
                </a:solidFill>
                <a:latin typeface="Aptos Mono"/>
                <a:ea typeface="Aptos Mono"/>
                <a:cs typeface="Aptos Mono"/>
              </a:rPr>
              <a:t>Data layer</a:t>
            </a:r>
          </a:p>
        </p:txBody>
      </p:sp>
      <p:sp>
        <p:nvSpPr>
          <p:cNvPr id="35" name="">
            <a:extLst xmlns:a="http://schemas.openxmlformats.org/drawingml/2006/main">
              <a:ext uri="{FF2B5EF4-FFF2-40B4-BE49-F238E27FC236}">
                <a16:creationId xmlns:a16="http://schemas.microsoft.com/office/drawing/2014/main" id="{F401A432-9C82-4CCE-BFBF-86A94733DE7A}"/>
              </a:ext>
            </a:extLst>
          </p:cNvPr>
          <p:cNvSpPr>
            <a:spLocks xmlns:a="http://schemas.openxmlformats.org/drawingml/2006/main" noGrp="1"/>
          </p:cNvSpPr>
          <p:nvPr/>
        </p:nvSpPr>
        <p:spPr>
          <a:xfrm xmlns:a="http://schemas.openxmlformats.org/drawingml/2006/main">
            <a:off x="3143250" y="5143500"/>
            <a:ext cx="2381250" cy="628650"/>
          </a:xfrm>
          <a:prstGeom xmlns:a="http://schemas.openxmlformats.org/drawingml/2006/main" prst="roundRect">
            <a:avLst>
              <a:gd name="adj" fmla="val 12121"/>
            </a:avLst>
          </a:prstGeom>
          <a:solidFill xmlns:a="http://schemas.openxmlformats.org/drawingml/2006/main">
            <a:srgbClr val="F3E9E7"/>
          </a:solidFill>
          <a:ln xmlns:a="http://schemas.openxmlformats.org/drawingml/2006/main" w="9525">
            <a:solidFill>
              <a:srgbClr val="E3C6C1"/>
            </a:solidFill>
            <a:prstDash val="solid"/>
          </a:ln>
        </p:spPr>
      </p:sp>
      <p:sp>
        <p:nvSpPr>
          <p:cNvPr id="36" name="">
            <a:extLst xmlns:a="http://schemas.openxmlformats.org/drawingml/2006/main">
              <a:ext uri="{FF2B5EF4-FFF2-40B4-BE49-F238E27FC236}">
                <a16:creationId xmlns:a16="http://schemas.microsoft.com/office/drawing/2014/main" id="{1A6636A2-2035-4570-A5F6-A2DEA1D304CD}"/>
              </a:ext>
            </a:extLst>
          </p:cNvPr>
          <p:cNvSpPr>
            <a:spLocks xmlns:a="http://schemas.openxmlformats.org/drawingml/2006/main" noGrp="1"/>
          </p:cNvSpPr>
          <p:nvPr/>
        </p:nvSpPr>
        <p:spPr>
          <a:xfrm xmlns:a="http://schemas.openxmlformats.org/drawingml/2006/main">
            <a:off x="3276600" y="5267325"/>
            <a:ext cx="21145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11111"/>
                </a:solidFill>
                <a:latin typeface="Aptos"/>
                <a:ea typeface="Aptos"/>
                <a:cs typeface="Aptos"/>
              </a:defRPr>
            </a:pPr>
            <a:r>
              <a:rPr sz="1200" b="1">
                <a:solidFill>
                  <a:srgbClr val="111111"/>
                </a:solidFill>
                <a:latin typeface="Aptos"/>
                <a:ea typeface="Aptos"/>
                <a:cs typeface="Aptos"/>
              </a:rPr>
              <a:t>Amazon RDS or DynamoDB</a:t>
            </a:r>
          </a:p>
        </p:txBody>
      </p:sp>
      <p:sp>
        <p:nvSpPr>
          <p:cNvPr id="37" name="">
            <a:extLst xmlns:a="http://schemas.openxmlformats.org/drawingml/2006/main">
              <a:ext uri="{FF2B5EF4-FFF2-40B4-BE49-F238E27FC236}">
                <a16:creationId xmlns:a16="http://schemas.microsoft.com/office/drawing/2014/main" id="{BE57C6D4-8C7B-4433-A6E6-56D6502FC4BB}"/>
              </a:ext>
            </a:extLst>
          </p:cNvPr>
          <p:cNvSpPr>
            <a:spLocks xmlns:a="http://schemas.openxmlformats.org/drawingml/2006/main" noGrp="1"/>
          </p:cNvSpPr>
          <p:nvPr/>
        </p:nvSpPr>
        <p:spPr>
          <a:xfrm xmlns:a="http://schemas.openxmlformats.org/drawingml/2006/main">
            <a:off x="3276600" y="5543550"/>
            <a:ext cx="21145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F737A"/>
                </a:solidFill>
                <a:latin typeface="Aptos"/>
                <a:ea typeface="Aptos"/>
                <a:cs typeface="Aptos"/>
              </a:defRPr>
            </a:pPr>
            <a:r>
              <a:rPr sz="900" b="0">
                <a:solidFill>
                  <a:srgbClr val="6F737A"/>
                </a:solidFill>
                <a:latin typeface="Aptos"/>
                <a:ea typeface="Aptos"/>
                <a:cs typeface="Aptos"/>
              </a:rPr>
              <a:t>Customers, bookings, orders, preferences</a:t>
            </a:r>
          </a:p>
        </p:txBody>
      </p:sp>
      <p:sp>
        <p:nvSpPr>
          <p:cNvPr id="38" name="">
            <a:extLst xmlns:a="http://schemas.openxmlformats.org/drawingml/2006/main">
              <a:ext uri="{FF2B5EF4-FFF2-40B4-BE49-F238E27FC236}">
                <a16:creationId xmlns:a16="http://schemas.microsoft.com/office/drawing/2014/main" id="{DC094477-723F-4BBD-AEDF-F8F367AB957E}"/>
              </a:ext>
            </a:extLst>
          </p:cNvPr>
          <p:cNvSpPr>
            <a:spLocks xmlns:a="http://schemas.openxmlformats.org/drawingml/2006/main" noGrp="1"/>
          </p:cNvSpPr>
          <p:nvPr/>
        </p:nvSpPr>
        <p:spPr>
          <a:xfrm xmlns:a="http://schemas.openxmlformats.org/drawingml/2006/main">
            <a:off x="6248400" y="4495800"/>
            <a:ext cx="-723900" cy="647700"/>
          </a:xfrm>
          <a:prstGeom xmlns:a="http://schemas.openxmlformats.org/drawingml/2006/main" prst="line">
            <a:avLst/>
          </a:prstGeom>
          <a:solidFill xmlns:a="http://schemas.openxmlformats.org/drawingml/2006/main">
            <a:srgbClr val="000000">
              <a:alpha val="0"/>
            </a:srgbClr>
          </a:solidFill>
          <a:ln xmlns:a="http://schemas.openxmlformats.org/drawingml/2006/main" w="19050">
            <a:solidFill>
              <a:srgbClr val="B94A48"/>
            </a:solidFill>
            <a:prstDash val="solid"/>
          </a:ln>
        </p:spPr>
      </p:sp>
      <p:sp>
        <p:nvSpPr>
          <p:cNvPr id="39" name="">
            <a:extLst xmlns:a="http://schemas.openxmlformats.org/drawingml/2006/main">
              <a:ext uri="{FF2B5EF4-FFF2-40B4-BE49-F238E27FC236}">
                <a16:creationId xmlns:a16="http://schemas.microsoft.com/office/drawing/2014/main" id="{8EDA5C70-4DEC-4A1C-BADA-21ADBA497032}"/>
              </a:ext>
            </a:extLst>
          </p:cNvPr>
          <p:cNvSpPr>
            <a:spLocks xmlns:a="http://schemas.openxmlformats.org/drawingml/2006/main" noGrp="1"/>
          </p:cNvSpPr>
          <p:nvPr/>
        </p:nvSpPr>
        <p:spPr>
          <a:xfrm xmlns:a="http://schemas.openxmlformats.org/drawingml/2006/main">
            <a:off x="666750" y="65151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F737A"/>
                </a:solidFill>
                <a:latin typeface="Aptos"/>
                <a:ea typeface="Aptos"/>
                <a:cs typeface="Aptos"/>
              </a:defRPr>
            </a:pPr>
            <a:r>
              <a:rPr sz="750" b="0">
                <a:solidFill>
                  <a:srgbClr val="6F737A"/>
                </a:solidFill>
                <a:latin typeface="Aptos"/>
                <a:ea typeface="Aptos"/>
                <a:cs typeface="Aptos"/>
              </a:rPr>
              <a:t>Source: zani-eatery-aws-report.md and deployed S3 website</a:t>
            </a:r>
          </a:p>
        </p:txBody>
      </p:sp>
      <p:sp>
        <p:nvSpPr>
          <p:cNvPr id="40" name="">
            <a:extLst xmlns:a="http://schemas.openxmlformats.org/drawingml/2006/main">
              <a:ext uri="{FF2B5EF4-FFF2-40B4-BE49-F238E27FC236}">
                <a16:creationId xmlns:a16="http://schemas.microsoft.com/office/drawing/2014/main" id="{144298DC-E1EE-4738-BC3C-F970C14499DB}"/>
              </a:ext>
            </a:extLst>
          </p:cNvPr>
          <p:cNvSpPr>
            <a:spLocks xmlns:a="http://schemas.openxmlformats.org/drawingml/2006/main" noGrp="1"/>
          </p:cNvSpPr>
          <p:nvPr/>
        </p:nvSpPr>
        <p:spPr>
          <a:xfrm xmlns:a="http://schemas.openxmlformats.org/drawingml/2006/main">
            <a:off x="11239500" y="6438900"/>
            <a:ext cx="381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6F737A"/>
                </a:solidFill>
                <a:latin typeface="Aptos Mono"/>
                <a:ea typeface="Aptos Mono"/>
                <a:cs typeface="Aptos Mono"/>
              </a:defRPr>
            </a:pPr>
            <a:r>
              <a:rPr sz="900" b="0">
                <a:solidFill>
                  <a:srgbClr val="6F737A"/>
                </a:solidFill>
                <a:latin typeface="Aptos Mono"/>
                <a:ea typeface="Aptos Mono"/>
                <a:cs typeface="Aptos Mono"/>
              </a:rPr>
              <a:t>07</a:t>
            </a:r>
          </a:p>
        </p:txBody>
      </p:sp>
    </p:spTree>
    <p:extLst>
      <p:ext uri="{BB962C8B-B14F-4D97-AF65-F5344CB8AC3E}">
        <p14:creationId xmlns:p14="http://schemas.microsoft.com/office/powerpoint/2010/main" val="72314084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48F6036-5DF8-4FCD-9C39-D8799B062B1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7F0"/>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7AC01C21-0285-485E-A810-37E653761091}"/>
              </a:ext>
            </a:extLst>
          </p:cNvPr>
          <p:cNvSpPr>
            <a:spLocks xmlns:a="http://schemas.openxmlformats.org/drawingml/2006/main" noGrp="1"/>
          </p:cNvSpPr>
          <p:nvPr/>
        </p:nvSpPr>
        <p:spPr>
          <a:xfrm xmlns:a="http://schemas.openxmlformats.org/drawingml/2006/main">
            <a:off x="666750" y="581025"/>
            <a:ext cx="323850" cy="19050"/>
          </a:xfrm>
          <a:prstGeom xmlns:a="http://schemas.openxmlformats.org/drawingml/2006/main" prst="rect">
            <a:avLst/>
          </a:prstGeom>
          <a:solidFill xmlns:a="http://schemas.openxmlformats.org/drawingml/2006/main">
            <a:srgbClr val="D9B72F"/>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0431EE20-9793-487B-B4AE-573E486FC1A3}"/>
              </a:ext>
            </a:extLst>
          </p:cNvPr>
          <p:cNvSpPr>
            <a:spLocks xmlns:a="http://schemas.openxmlformats.org/drawingml/2006/main" noGrp="1"/>
          </p:cNvSpPr>
          <p:nvPr/>
        </p:nvSpPr>
        <p:spPr>
          <a:xfrm xmlns:a="http://schemas.openxmlformats.org/drawingml/2006/main">
            <a:off x="1104900" y="51435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D9B72F"/>
                </a:solidFill>
                <a:latin typeface="Aptos Mono"/>
                <a:ea typeface="Aptos Mono"/>
                <a:cs typeface="Aptos Mono"/>
              </a:defRPr>
            </a:pPr>
            <a:r>
              <a:rPr sz="975" b="1">
                <a:solidFill>
                  <a:srgbClr val="D9B72F"/>
                </a:solidFill>
                <a:latin typeface="Aptos Mono"/>
                <a:ea typeface="Aptos Mono"/>
                <a:cs typeface="Aptos Mono"/>
              </a:rPr>
              <a:t>AWS SERVICES USED</a:t>
            </a:r>
          </a:p>
        </p:txBody>
      </p:sp>
      <p:sp>
        <p:nvSpPr>
          <p:cNvPr id="4" name="">
            <a:extLst xmlns:a="http://schemas.openxmlformats.org/drawingml/2006/main">
              <a:ext uri="{FF2B5EF4-FFF2-40B4-BE49-F238E27FC236}">
                <a16:creationId xmlns:a16="http://schemas.microsoft.com/office/drawing/2014/main" id="{6DE60204-AF4B-4F67-9438-F2FA241D97A8}"/>
              </a:ext>
            </a:extLst>
          </p:cNvPr>
          <p:cNvSpPr>
            <a:spLocks xmlns:a="http://schemas.openxmlformats.org/drawingml/2006/main" noGrp="1"/>
          </p:cNvSpPr>
          <p:nvPr/>
        </p:nvSpPr>
        <p:spPr>
          <a:xfrm xmlns:a="http://schemas.openxmlformats.org/drawingml/2006/main">
            <a:off x="666750" y="838200"/>
            <a:ext cx="752475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0">
                <a:solidFill>
                  <a:srgbClr val="111111"/>
                </a:solidFill>
                <a:latin typeface="Georgia"/>
                <a:ea typeface="Georgia"/>
                <a:cs typeface="Georgia"/>
              </a:defRPr>
            </a:pPr>
            <a:r>
              <a:rPr sz="3150" b="0">
                <a:solidFill>
                  <a:srgbClr val="111111"/>
                </a:solidFill>
                <a:latin typeface="Georgia"/>
                <a:ea typeface="Georgia"/>
                <a:cs typeface="Georgia"/>
              </a:rPr>
              <a:t>Each AWS service maps to a specific restaurant need.</a:t>
            </a:r>
          </a:p>
        </p:txBody>
      </p:sp>
      <p:sp>
        <p:nvSpPr>
          <p:cNvPr id="5" name="">
            <a:extLst xmlns:a="http://schemas.openxmlformats.org/drawingml/2006/main">
              <a:ext uri="{FF2B5EF4-FFF2-40B4-BE49-F238E27FC236}">
                <a16:creationId xmlns:a16="http://schemas.microsoft.com/office/drawing/2014/main" id="{3AD06CC7-F06A-4E11-89E6-2B65CA9DA4C7}"/>
              </a:ext>
            </a:extLst>
          </p:cNvPr>
          <p:cNvSpPr>
            <a:spLocks xmlns:a="http://schemas.openxmlformats.org/drawingml/2006/main" noGrp="1"/>
          </p:cNvSpPr>
          <p:nvPr/>
        </p:nvSpPr>
        <p:spPr>
          <a:xfrm xmlns:a="http://schemas.openxmlformats.org/drawingml/2006/main">
            <a:off x="800100" y="1809750"/>
            <a:ext cx="1809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6F737A"/>
                </a:solidFill>
                <a:latin typeface="Aptos Mono"/>
                <a:ea typeface="Aptos Mono"/>
                <a:cs typeface="Aptos Mono"/>
              </a:defRPr>
            </a:pPr>
            <a:r>
              <a:rPr sz="975" b="1">
                <a:solidFill>
                  <a:srgbClr val="6F737A"/>
                </a:solidFill>
                <a:latin typeface="Aptos Mono"/>
                <a:ea typeface="Aptos Mono"/>
                <a:cs typeface="Aptos Mono"/>
              </a:rPr>
              <a:t>Service</a:t>
            </a:r>
          </a:p>
        </p:txBody>
      </p:sp>
      <p:sp>
        <p:nvSpPr>
          <p:cNvPr id="6" name="">
            <a:extLst xmlns:a="http://schemas.openxmlformats.org/drawingml/2006/main">
              <a:ext uri="{FF2B5EF4-FFF2-40B4-BE49-F238E27FC236}">
                <a16:creationId xmlns:a16="http://schemas.microsoft.com/office/drawing/2014/main" id="{0C2FD0A7-1DEC-41DA-ADA9-02C0A983C24A}"/>
              </a:ext>
            </a:extLst>
          </p:cNvPr>
          <p:cNvSpPr>
            <a:spLocks xmlns:a="http://schemas.openxmlformats.org/drawingml/2006/main" noGrp="1"/>
          </p:cNvSpPr>
          <p:nvPr/>
        </p:nvSpPr>
        <p:spPr>
          <a:xfrm xmlns:a="http://schemas.openxmlformats.org/drawingml/2006/main">
            <a:off x="3067050" y="1809750"/>
            <a:ext cx="3143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6F737A"/>
                </a:solidFill>
                <a:latin typeface="Aptos Mono"/>
                <a:ea typeface="Aptos Mono"/>
                <a:cs typeface="Aptos Mono"/>
              </a:defRPr>
            </a:pPr>
            <a:r>
              <a:rPr sz="975" b="1">
                <a:solidFill>
                  <a:srgbClr val="6F737A"/>
                </a:solidFill>
                <a:latin typeface="Aptos Mono"/>
                <a:ea typeface="Aptos Mono"/>
                <a:cs typeface="Aptos Mono"/>
              </a:rPr>
              <a:t>Restaurant use</a:t>
            </a:r>
          </a:p>
        </p:txBody>
      </p:sp>
      <p:sp>
        <p:nvSpPr>
          <p:cNvPr id="7" name="">
            <a:extLst xmlns:a="http://schemas.openxmlformats.org/drawingml/2006/main">
              <a:ext uri="{FF2B5EF4-FFF2-40B4-BE49-F238E27FC236}">
                <a16:creationId xmlns:a16="http://schemas.microsoft.com/office/drawing/2014/main" id="{BC1CD8C5-832B-48FB-B0C9-88098B43BC9E}"/>
              </a:ext>
            </a:extLst>
          </p:cNvPr>
          <p:cNvSpPr>
            <a:spLocks xmlns:a="http://schemas.openxmlformats.org/drawingml/2006/main" noGrp="1"/>
          </p:cNvSpPr>
          <p:nvPr/>
        </p:nvSpPr>
        <p:spPr>
          <a:xfrm xmlns:a="http://schemas.openxmlformats.org/drawingml/2006/main">
            <a:off x="6858000" y="1809750"/>
            <a:ext cx="3048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6F737A"/>
                </a:solidFill>
                <a:latin typeface="Aptos Mono"/>
                <a:ea typeface="Aptos Mono"/>
                <a:cs typeface="Aptos Mono"/>
              </a:defRPr>
            </a:pPr>
            <a:r>
              <a:rPr sz="975" b="1">
                <a:solidFill>
                  <a:srgbClr val="6F737A"/>
                </a:solidFill>
                <a:latin typeface="Aptos Mono"/>
                <a:ea typeface="Aptos Mono"/>
                <a:cs typeface="Aptos Mono"/>
              </a:rPr>
              <a:t>Why it fits</a:t>
            </a:r>
          </a:p>
        </p:txBody>
      </p:sp>
      <p:sp>
        <p:nvSpPr>
          <p:cNvPr id="8" name="">
            <a:extLst xmlns:a="http://schemas.openxmlformats.org/drawingml/2006/main">
              <a:ext uri="{FF2B5EF4-FFF2-40B4-BE49-F238E27FC236}">
                <a16:creationId xmlns:a16="http://schemas.microsoft.com/office/drawing/2014/main" id="{BB6857B7-1362-4FC7-BBB2-967BE2465C3F}"/>
              </a:ext>
            </a:extLst>
          </p:cNvPr>
          <p:cNvSpPr>
            <a:spLocks xmlns:a="http://schemas.openxmlformats.org/drawingml/2006/main" noGrp="1"/>
          </p:cNvSpPr>
          <p:nvPr/>
        </p:nvSpPr>
        <p:spPr>
          <a:xfrm xmlns:a="http://schemas.openxmlformats.org/drawingml/2006/main">
            <a:off x="666750" y="2133600"/>
            <a:ext cx="10382250" cy="514350"/>
          </a:xfrm>
          <a:prstGeom xmlns:a="http://schemas.openxmlformats.org/drawingml/2006/main" prst="rect">
            <a:avLst/>
          </a:prstGeom>
          <a:solidFill xmlns:a="http://schemas.openxmlformats.org/drawingml/2006/main">
            <a:srgbClr val="F2EBDD"/>
          </a:solidFill>
          <a:ln xmlns:a="http://schemas.openxmlformats.org/drawingml/2006/main" w="9525">
            <a:solidFill>
              <a:srgbClr val="E1D8C8"/>
            </a:solidFill>
            <a:prstDash val="solid"/>
          </a:ln>
        </p:spPr>
      </p:sp>
      <p:sp>
        <p:nvSpPr>
          <p:cNvPr id="9" name="">
            <a:extLst xmlns:a="http://schemas.openxmlformats.org/drawingml/2006/main">
              <a:ext uri="{FF2B5EF4-FFF2-40B4-BE49-F238E27FC236}">
                <a16:creationId xmlns:a16="http://schemas.microsoft.com/office/drawing/2014/main" id="{EFD68148-5DD0-4208-9656-777064072F03}"/>
              </a:ext>
            </a:extLst>
          </p:cNvPr>
          <p:cNvSpPr>
            <a:spLocks xmlns:a="http://schemas.openxmlformats.org/drawingml/2006/main" noGrp="1"/>
          </p:cNvSpPr>
          <p:nvPr/>
        </p:nvSpPr>
        <p:spPr>
          <a:xfrm xmlns:a="http://schemas.openxmlformats.org/drawingml/2006/main">
            <a:off x="876300" y="2266950"/>
            <a:ext cx="2000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11111"/>
                </a:solidFill>
                <a:latin typeface="Aptos"/>
                <a:ea typeface="Aptos"/>
                <a:cs typeface="Aptos"/>
              </a:defRPr>
            </a:pPr>
            <a:r>
              <a:rPr sz="1275" b="1">
                <a:solidFill>
                  <a:srgbClr val="111111"/>
                </a:solidFill>
                <a:latin typeface="Aptos"/>
                <a:ea typeface="Aptos"/>
                <a:cs typeface="Aptos"/>
              </a:rPr>
              <a:t>Amazon S3</a:t>
            </a:r>
          </a:p>
        </p:txBody>
      </p:sp>
      <p:sp>
        <p:nvSpPr>
          <p:cNvPr id="10" name="">
            <a:extLst xmlns:a="http://schemas.openxmlformats.org/drawingml/2006/main">
              <a:ext uri="{FF2B5EF4-FFF2-40B4-BE49-F238E27FC236}">
                <a16:creationId xmlns:a16="http://schemas.microsoft.com/office/drawing/2014/main" id="{F2E36204-BB17-40BC-BB89-B548F3BD0148}"/>
              </a:ext>
            </a:extLst>
          </p:cNvPr>
          <p:cNvSpPr>
            <a:spLocks xmlns:a="http://schemas.openxmlformats.org/drawingml/2006/main" noGrp="1"/>
          </p:cNvSpPr>
          <p:nvPr/>
        </p:nvSpPr>
        <p:spPr>
          <a:xfrm xmlns:a="http://schemas.openxmlformats.org/drawingml/2006/main">
            <a:off x="3067050" y="2257425"/>
            <a:ext cx="333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11111"/>
                </a:solidFill>
                <a:latin typeface="Aptos"/>
                <a:ea typeface="Aptos"/>
                <a:cs typeface="Aptos"/>
              </a:defRPr>
            </a:pPr>
            <a:r>
              <a:rPr sz="1125" b="0">
                <a:solidFill>
                  <a:srgbClr val="111111"/>
                </a:solidFill>
                <a:latin typeface="Aptos"/>
                <a:ea typeface="Aptos"/>
                <a:cs typeface="Aptos"/>
              </a:rPr>
              <a:t>Host static website and store menu images</a:t>
            </a:r>
          </a:p>
        </p:txBody>
      </p:sp>
      <p:sp>
        <p:nvSpPr>
          <p:cNvPr id="11" name="">
            <a:extLst xmlns:a="http://schemas.openxmlformats.org/drawingml/2006/main">
              <a:ext uri="{FF2B5EF4-FFF2-40B4-BE49-F238E27FC236}">
                <a16:creationId xmlns:a16="http://schemas.microsoft.com/office/drawing/2014/main" id="{451B2D23-1735-43E2-81DA-041F8604C16A}"/>
              </a:ext>
            </a:extLst>
          </p:cNvPr>
          <p:cNvSpPr>
            <a:spLocks xmlns:a="http://schemas.openxmlformats.org/drawingml/2006/main" noGrp="1"/>
          </p:cNvSpPr>
          <p:nvPr/>
        </p:nvSpPr>
        <p:spPr>
          <a:xfrm xmlns:a="http://schemas.openxmlformats.org/drawingml/2006/main">
            <a:off x="6858000" y="2257425"/>
            <a:ext cx="3714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F737A"/>
                </a:solidFill>
                <a:latin typeface="Aptos"/>
                <a:ea typeface="Aptos"/>
                <a:cs typeface="Aptos"/>
              </a:defRPr>
            </a:pPr>
            <a:r>
              <a:rPr sz="1125" b="0">
                <a:solidFill>
                  <a:srgbClr val="6F737A"/>
                </a:solidFill>
                <a:latin typeface="Aptos"/>
                <a:ea typeface="Aptos"/>
                <a:cs typeface="Aptos"/>
              </a:rPr>
              <a:t>Low-cost, highly durable object storage</a:t>
            </a:r>
          </a:p>
        </p:txBody>
      </p:sp>
      <p:sp>
        <p:nvSpPr>
          <p:cNvPr id="12" name="">
            <a:extLst xmlns:a="http://schemas.openxmlformats.org/drawingml/2006/main">
              <a:ext uri="{FF2B5EF4-FFF2-40B4-BE49-F238E27FC236}">
                <a16:creationId xmlns:a16="http://schemas.microsoft.com/office/drawing/2014/main" id="{65708B3A-C99E-4724-9E11-764E7BCF18CD}"/>
              </a:ext>
            </a:extLst>
          </p:cNvPr>
          <p:cNvSpPr>
            <a:spLocks xmlns:a="http://schemas.openxmlformats.org/drawingml/2006/main" noGrp="1"/>
          </p:cNvSpPr>
          <p:nvPr/>
        </p:nvSpPr>
        <p:spPr>
          <a:xfrm xmlns:a="http://schemas.openxmlformats.org/drawingml/2006/main">
            <a:off x="666750" y="2781300"/>
            <a:ext cx="10382250" cy="514350"/>
          </a:xfrm>
          <a:prstGeom xmlns:a="http://schemas.openxmlformats.org/drawingml/2006/main" prst="rect">
            <a:avLst/>
          </a:prstGeom>
          <a:solidFill xmlns:a="http://schemas.openxmlformats.org/drawingml/2006/main">
            <a:srgbClr val="FFFDF7"/>
          </a:solidFill>
          <a:ln xmlns:a="http://schemas.openxmlformats.org/drawingml/2006/main" w="9525">
            <a:solidFill>
              <a:srgbClr val="E1D8C8"/>
            </a:solidFill>
            <a:prstDash val="solid"/>
          </a:ln>
        </p:spPr>
      </p:sp>
      <p:sp>
        <p:nvSpPr>
          <p:cNvPr id="13" name="">
            <a:extLst xmlns:a="http://schemas.openxmlformats.org/drawingml/2006/main">
              <a:ext uri="{FF2B5EF4-FFF2-40B4-BE49-F238E27FC236}">
                <a16:creationId xmlns:a16="http://schemas.microsoft.com/office/drawing/2014/main" id="{BAAC2E36-9026-467A-A79E-29473CCD404D}"/>
              </a:ext>
            </a:extLst>
          </p:cNvPr>
          <p:cNvSpPr>
            <a:spLocks xmlns:a="http://schemas.openxmlformats.org/drawingml/2006/main" noGrp="1"/>
          </p:cNvSpPr>
          <p:nvPr/>
        </p:nvSpPr>
        <p:spPr>
          <a:xfrm xmlns:a="http://schemas.openxmlformats.org/drawingml/2006/main">
            <a:off x="876300" y="2914650"/>
            <a:ext cx="2000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11111"/>
                </a:solidFill>
                <a:latin typeface="Aptos"/>
                <a:ea typeface="Aptos"/>
                <a:cs typeface="Aptos"/>
              </a:defRPr>
            </a:pPr>
            <a:r>
              <a:rPr sz="1275" b="1">
                <a:solidFill>
                  <a:srgbClr val="111111"/>
                </a:solidFill>
                <a:latin typeface="Aptos"/>
                <a:ea typeface="Aptos"/>
                <a:cs typeface="Aptos"/>
              </a:rPr>
              <a:t>Amazon Cognito</a:t>
            </a:r>
          </a:p>
        </p:txBody>
      </p:sp>
      <p:sp>
        <p:nvSpPr>
          <p:cNvPr id="14" name="">
            <a:extLst xmlns:a="http://schemas.openxmlformats.org/drawingml/2006/main">
              <a:ext uri="{FF2B5EF4-FFF2-40B4-BE49-F238E27FC236}">
                <a16:creationId xmlns:a16="http://schemas.microsoft.com/office/drawing/2014/main" id="{39A769AE-889C-4B8C-9087-741FD14A7C7F}"/>
              </a:ext>
            </a:extLst>
          </p:cNvPr>
          <p:cNvSpPr>
            <a:spLocks xmlns:a="http://schemas.openxmlformats.org/drawingml/2006/main" noGrp="1"/>
          </p:cNvSpPr>
          <p:nvPr/>
        </p:nvSpPr>
        <p:spPr>
          <a:xfrm xmlns:a="http://schemas.openxmlformats.org/drawingml/2006/main">
            <a:off x="3067050" y="2905125"/>
            <a:ext cx="333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11111"/>
                </a:solidFill>
                <a:latin typeface="Aptos"/>
                <a:ea typeface="Aptos"/>
                <a:cs typeface="Aptos"/>
              </a:defRPr>
            </a:pPr>
            <a:r>
              <a:rPr sz="1125" b="0">
                <a:solidFill>
                  <a:srgbClr val="111111"/>
                </a:solidFill>
                <a:latin typeface="Aptos"/>
                <a:ea typeface="Aptos"/>
                <a:cs typeface="Aptos"/>
              </a:rPr>
              <a:t>Customer sign-in and order history access</a:t>
            </a:r>
          </a:p>
        </p:txBody>
      </p:sp>
      <p:sp>
        <p:nvSpPr>
          <p:cNvPr id="15" name="">
            <a:extLst xmlns:a="http://schemas.openxmlformats.org/drawingml/2006/main">
              <a:ext uri="{FF2B5EF4-FFF2-40B4-BE49-F238E27FC236}">
                <a16:creationId xmlns:a16="http://schemas.microsoft.com/office/drawing/2014/main" id="{DCF70D31-9A45-4BE1-9322-473B13D2C5AF}"/>
              </a:ext>
            </a:extLst>
          </p:cNvPr>
          <p:cNvSpPr>
            <a:spLocks xmlns:a="http://schemas.openxmlformats.org/drawingml/2006/main" noGrp="1"/>
          </p:cNvSpPr>
          <p:nvPr/>
        </p:nvSpPr>
        <p:spPr>
          <a:xfrm xmlns:a="http://schemas.openxmlformats.org/drawingml/2006/main">
            <a:off x="6858000" y="2905125"/>
            <a:ext cx="3714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F737A"/>
                </a:solidFill>
                <a:latin typeface="Aptos"/>
                <a:ea typeface="Aptos"/>
                <a:cs typeface="Aptos"/>
              </a:defRPr>
            </a:pPr>
            <a:r>
              <a:rPr sz="1125" b="0">
                <a:solidFill>
                  <a:srgbClr val="6F737A"/>
                </a:solidFill>
                <a:latin typeface="Aptos"/>
                <a:ea typeface="Aptos"/>
                <a:cs typeface="Aptos"/>
              </a:rPr>
              <a:t>Managed authentication without custom auth servers</a:t>
            </a:r>
          </a:p>
        </p:txBody>
      </p:sp>
      <p:sp>
        <p:nvSpPr>
          <p:cNvPr id="16" name="">
            <a:extLst xmlns:a="http://schemas.openxmlformats.org/drawingml/2006/main">
              <a:ext uri="{FF2B5EF4-FFF2-40B4-BE49-F238E27FC236}">
                <a16:creationId xmlns:a16="http://schemas.microsoft.com/office/drawing/2014/main" id="{4707F616-059C-4639-9812-30C37E68AB30}"/>
              </a:ext>
            </a:extLst>
          </p:cNvPr>
          <p:cNvSpPr>
            <a:spLocks xmlns:a="http://schemas.openxmlformats.org/drawingml/2006/main" noGrp="1"/>
          </p:cNvSpPr>
          <p:nvPr/>
        </p:nvSpPr>
        <p:spPr>
          <a:xfrm xmlns:a="http://schemas.openxmlformats.org/drawingml/2006/main">
            <a:off x="666750" y="3429000"/>
            <a:ext cx="10382250" cy="514350"/>
          </a:xfrm>
          <a:prstGeom xmlns:a="http://schemas.openxmlformats.org/drawingml/2006/main" prst="rect">
            <a:avLst/>
          </a:prstGeom>
          <a:solidFill xmlns:a="http://schemas.openxmlformats.org/drawingml/2006/main">
            <a:srgbClr val="F2EBDD"/>
          </a:solidFill>
          <a:ln xmlns:a="http://schemas.openxmlformats.org/drawingml/2006/main" w="9525">
            <a:solidFill>
              <a:srgbClr val="E1D8C8"/>
            </a:solidFill>
            <a:prstDash val="solid"/>
          </a:ln>
        </p:spPr>
      </p:sp>
      <p:sp>
        <p:nvSpPr>
          <p:cNvPr id="17" name="">
            <a:extLst xmlns:a="http://schemas.openxmlformats.org/drawingml/2006/main">
              <a:ext uri="{FF2B5EF4-FFF2-40B4-BE49-F238E27FC236}">
                <a16:creationId xmlns:a16="http://schemas.microsoft.com/office/drawing/2014/main" id="{A8DEFA26-8990-4083-B3AF-0F273447608A}"/>
              </a:ext>
            </a:extLst>
          </p:cNvPr>
          <p:cNvSpPr>
            <a:spLocks xmlns:a="http://schemas.openxmlformats.org/drawingml/2006/main" noGrp="1"/>
          </p:cNvSpPr>
          <p:nvPr/>
        </p:nvSpPr>
        <p:spPr>
          <a:xfrm xmlns:a="http://schemas.openxmlformats.org/drawingml/2006/main">
            <a:off x="876300" y="3562350"/>
            <a:ext cx="2000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11111"/>
                </a:solidFill>
                <a:latin typeface="Aptos"/>
                <a:ea typeface="Aptos"/>
                <a:cs typeface="Aptos"/>
              </a:defRPr>
            </a:pPr>
            <a:r>
              <a:rPr sz="1275" b="1">
                <a:solidFill>
                  <a:srgbClr val="111111"/>
                </a:solidFill>
                <a:latin typeface="Aptos"/>
                <a:ea typeface="Aptos"/>
                <a:cs typeface="Aptos"/>
              </a:rPr>
              <a:t>Amazon RDS or DynamoDB</a:t>
            </a:r>
          </a:p>
        </p:txBody>
      </p:sp>
      <p:sp>
        <p:nvSpPr>
          <p:cNvPr id="18" name="">
            <a:extLst xmlns:a="http://schemas.openxmlformats.org/drawingml/2006/main">
              <a:ext uri="{FF2B5EF4-FFF2-40B4-BE49-F238E27FC236}">
                <a16:creationId xmlns:a16="http://schemas.microsoft.com/office/drawing/2014/main" id="{7FB024EB-2EF6-4E6D-910B-305FD1C02C2B}"/>
              </a:ext>
            </a:extLst>
          </p:cNvPr>
          <p:cNvSpPr>
            <a:spLocks xmlns:a="http://schemas.openxmlformats.org/drawingml/2006/main" noGrp="1"/>
          </p:cNvSpPr>
          <p:nvPr/>
        </p:nvSpPr>
        <p:spPr>
          <a:xfrm xmlns:a="http://schemas.openxmlformats.org/drawingml/2006/main">
            <a:off x="3067050" y="3552825"/>
            <a:ext cx="333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11111"/>
                </a:solidFill>
                <a:latin typeface="Aptos"/>
                <a:ea typeface="Aptos"/>
                <a:cs typeface="Aptos"/>
              </a:defRPr>
            </a:pPr>
            <a:r>
              <a:rPr sz="1125" b="0">
                <a:solidFill>
                  <a:srgbClr val="111111"/>
                </a:solidFill>
                <a:latin typeface="Aptos"/>
                <a:ea typeface="Aptos"/>
                <a:cs typeface="Aptos"/>
              </a:rPr>
              <a:t>Store profiles, bookings, and order records</a:t>
            </a:r>
          </a:p>
        </p:txBody>
      </p:sp>
      <p:sp>
        <p:nvSpPr>
          <p:cNvPr id="19" name="">
            <a:extLst xmlns:a="http://schemas.openxmlformats.org/drawingml/2006/main">
              <a:ext uri="{FF2B5EF4-FFF2-40B4-BE49-F238E27FC236}">
                <a16:creationId xmlns:a16="http://schemas.microsoft.com/office/drawing/2014/main" id="{AB530EDA-5B07-4A94-B794-6661B11B7914}"/>
              </a:ext>
            </a:extLst>
          </p:cNvPr>
          <p:cNvSpPr>
            <a:spLocks xmlns:a="http://schemas.openxmlformats.org/drawingml/2006/main" noGrp="1"/>
          </p:cNvSpPr>
          <p:nvPr/>
        </p:nvSpPr>
        <p:spPr>
          <a:xfrm xmlns:a="http://schemas.openxmlformats.org/drawingml/2006/main">
            <a:off x="6858000" y="3552825"/>
            <a:ext cx="3714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F737A"/>
                </a:solidFill>
                <a:latin typeface="Aptos"/>
                <a:ea typeface="Aptos"/>
                <a:cs typeface="Aptos"/>
              </a:defRPr>
            </a:pPr>
            <a:r>
              <a:rPr sz="1125" b="0">
                <a:solidFill>
                  <a:srgbClr val="6F737A"/>
                </a:solidFill>
                <a:latin typeface="Aptos"/>
                <a:ea typeface="Aptos"/>
                <a:cs typeface="Aptos"/>
              </a:rPr>
              <a:t>Central source of truth for operations</a:t>
            </a:r>
          </a:p>
        </p:txBody>
      </p:sp>
      <p:sp>
        <p:nvSpPr>
          <p:cNvPr id="20" name="">
            <a:extLst xmlns:a="http://schemas.openxmlformats.org/drawingml/2006/main">
              <a:ext uri="{FF2B5EF4-FFF2-40B4-BE49-F238E27FC236}">
                <a16:creationId xmlns:a16="http://schemas.microsoft.com/office/drawing/2014/main" id="{17FC4B58-D230-425B-B28A-62B213FB31F4}"/>
              </a:ext>
            </a:extLst>
          </p:cNvPr>
          <p:cNvSpPr>
            <a:spLocks xmlns:a="http://schemas.openxmlformats.org/drawingml/2006/main" noGrp="1"/>
          </p:cNvSpPr>
          <p:nvPr/>
        </p:nvSpPr>
        <p:spPr>
          <a:xfrm xmlns:a="http://schemas.openxmlformats.org/drawingml/2006/main">
            <a:off x="666750" y="4076700"/>
            <a:ext cx="10382250" cy="514350"/>
          </a:xfrm>
          <a:prstGeom xmlns:a="http://schemas.openxmlformats.org/drawingml/2006/main" prst="rect">
            <a:avLst/>
          </a:prstGeom>
          <a:solidFill xmlns:a="http://schemas.openxmlformats.org/drawingml/2006/main">
            <a:srgbClr val="FFFDF7"/>
          </a:solidFill>
          <a:ln xmlns:a="http://schemas.openxmlformats.org/drawingml/2006/main" w="9525">
            <a:solidFill>
              <a:srgbClr val="E1D8C8"/>
            </a:solidFill>
            <a:prstDash val="solid"/>
          </a:ln>
        </p:spPr>
      </p:sp>
      <p:sp>
        <p:nvSpPr>
          <p:cNvPr id="21" name="">
            <a:extLst xmlns:a="http://schemas.openxmlformats.org/drawingml/2006/main">
              <a:ext uri="{FF2B5EF4-FFF2-40B4-BE49-F238E27FC236}">
                <a16:creationId xmlns:a16="http://schemas.microsoft.com/office/drawing/2014/main" id="{D8AD7A13-5A30-48B3-8295-17E638E7E833}"/>
              </a:ext>
            </a:extLst>
          </p:cNvPr>
          <p:cNvSpPr>
            <a:spLocks xmlns:a="http://schemas.openxmlformats.org/drawingml/2006/main" noGrp="1"/>
          </p:cNvSpPr>
          <p:nvPr/>
        </p:nvSpPr>
        <p:spPr>
          <a:xfrm xmlns:a="http://schemas.openxmlformats.org/drawingml/2006/main">
            <a:off x="876300" y="4210050"/>
            <a:ext cx="2000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11111"/>
                </a:solidFill>
                <a:latin typeface="Aptos"/>
                <a:ea typeface="Aptos"/>
                <a:cs typeface="Aptos"/>
              </a:defRPr>
            </a:pPr>
            <a:r>
              <a:rPr sz="1275" b="1">
                <a:solidFill>
                  <a:srgbClr val="111111"/>
                </a:solidFill>
                <a:latin typeface="Aptos"/>
                <a:ea typeface="Aptos"/>
                <a:cs typeface="Aptos"/>
              </a:rPr>
              <a:t>AWS Lambda</a:t>
            </a:r>
          </a:p>
        </p:txBody>
      </p:sp>
      <p:sp>
        <p:nvSpPr>
          <p:cNvPr id="22" name="">
            <a:extLst xmlns:a="http://schemas.openxmlformats.org/drawingml/2006/main">
              <a:ext uri="{FF2B5EF4-FFF2-40B4-BE49-F238E27FC236}">
                <a16:creationId xmlns:a16="http://schemas.microsoft.com/office/drawing/2014/main" id="{82B3BFB0-FD86-457A-A254-EBC55C37B152}"/>
              </a:ext>
            </a:extLst>
          </p:cNvPr>
          <p:cNvSpPr>
            <a:spLocks xmlns:a="http://schemas.openxmlformats.org/drawingml/2006/main" noGrp="1"/>
          </p:cNvSpPr>
          <p:nvPr/>
        </p:nvSpPr>
        <p:spPr>
          <a:xfrm xmlns:a="http://schemas.openxmlformats.org/drawingml/2006/main">
            <a:off x="3067050" y="4200525"/>
            <a:ext cx="333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11111"/>
                </a:solidFill>
                <a:latin typeface="Aptos"/>
                <a:ea typeface="Aptos"/>
                <a:cs typeface="Aptos"/>
              </a:defRPr>
            </a:pPr>
            <a:r>
              <a:rPr sz="1125" b="0">
                <a:solidFill>
                  <a:srgbClr val="111111"/>
                </a:solidFill>
                <a:latin typeface="Aptos"/>
                <a:ea typeface="Aptos"/>
                <a:cs typeface="Aptos"/>
              </a:rPr>
              <a:t>Run booking/order logic and confirmation tasks</a:t>
            </a:r>
          </a:p>
        </p:txBody>
      </p:sp>
      <p:sp>
        <p:nvSpPr>
          <p:cNvPr id="23" name="">
            <a:extLst xmlns:a="http://schemas.openxmlformats.org/drawingml/2006/main">
              <a:ext uri="{FF2B5EF4-FFF2-40B4-BE49-F238E27FC236}">
                <a16:creationId xmlns:a16="http://schemas.microsoft.com/office/drawing/2014/main" id="{A9E75A33-10A7-4BD4-A080-51A208514096}"/>
              </a:ext>
            </a:extLst>
          </p:cNvPr>
          <p:cNvSpPr>
            <a:spLocks xmlns:a="http://schemas.openxmlformats.org/drawingml/2006/main" noGrp="1"/>
          </p:cNvSpPr>
          <p:nvPr/>
        </p:nvSpPr>
        <p:spPr>
          <a:xfrm xmlns:a="http://schemas.openxmlformats.org/drawingml/2006/main">
            <a:off x="6858000" y="4200525"/>
            <a:ext cx="3714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F737A"/>
                </a:solidFill>
                <a:latin typeface="Aptos"/>
                <a:ea typeface="Aptos"/>
                <a:cs typeface="Aptos"/>
              </a:defRPr>
            </a:pPr>
            <a:r>
              <a:rPr sz="1125" b="0">
                <a:solidFill>
                  <a:srgbClr val="6F737A"/>
                </a:solidFill>
                <a:latin typeface="Aptos"/>
                <a:ea typeface="Aptos"/>
                <a:cs typeface="Aptos"/>
              </a:rPr>
              <a:t>Serverless compute, scales with demand</a:t>
            </a:r>
          </a:p>
        </p:txBody>
      </p:sp>
      <p:sp>
        <p:nvSpPr>
          <p:cNvPr id="24" name="">
            <a:extLst xmlns:a="http://schemas.openxmlformats.org/drawingml/2006/main">
              <a:ext uri="{FF2B5EF4-FFF2-40B4-BE49-F238E27FC236}">
                <a16:creationId xmlns:a16="http://schemas.microsoft.com/office/drawing/2014/main" id="{2B842B0C-A7B9-4F17-9CCD-62008852EDE5}"/>
              </a:ext>
            </a:extLst>
          </p:cNvPr>
          <p:cNvSpPr>
            <a:spLocks xmlns:a="http://schemas.openxmlformats.org/drawingml/2006/main" noGrp="1"/>
          </p:cNvSpPr>
          <p:nvPr/>
        </p:nvSpPr>
        <p:spPr>
          <a:xfrm xmlns:a="http://schemas.openxmlformats.org/drawingml/2006/main">
            <a:off x="666750" y="4724400"/>
            <a:ext cx="10382250" cy="514350"/>
          </a:xfrm>
          <a:prstGeom xmlns:a="http://schemas.openxmlformats.org/drawingml/2006/main" prst="rect">
            <a:avLst/>
          </a:prstGeom>
          <a:solidFill xmlns:a="http://schemas.openxmlformats.org/drawingml/2006/main">
            <a:srgbClr val="F2EBDD"/>
          </a:solidFill>
          <a:ln xmlns:a="http://schemas.openxmlformats.org/drawingml/2006/main" w="9525">
            <a:solidFill>
              <a:srgbClr val="E1D8C8"/>
            </a:solidFill>
            <a:prstDash val="solid"/>
          </a:ln>
        </p:spPr>
      </p:sp>
      <p:sp>
        <p:nvSpPr>
          <p:cNvPr id="25" name="">
            <a:extLst xmlns:a="http://schemas.openxmlformats.org/drawingml/2006/main">
              <a:ext uri="{FF2B5EF4-FFF2-40B4-BE49-F238E27FC236}">
                <a16:creationId xmlns:a16="http://schemas.microsoft.com/office/drawing/2014/main" id="{0EF6F7FF-21FC-4B41-A698-698EFEC4B4F3}"/>
              </a:ext>
            </a:extLst>
          </p:cNvPr>
          <p:cNvSpPr>
            <a:spLocks xmlns:a="http://schemas.openxmlformats.org/drawingml/2006/main" noGrp="1"/>
          </p:cNvSpPr>
          <p:nvPr/>
        </p:nvSpPr>
        <p:spPr>
          <a:xfrm xmlns:a="http://schemas.openxmlformats.org/drawingml/2006/main">
            <a:off x="876300" y="4857750"/>
            <a:ext cx="2000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11111"/>
                </a:solidFill>
                <a:latin typeface="Aptos"/>
                <a:ea typeface="Aptos"/>
                <a:cs typeface="Aptos"/>
              </a:defRPr>
            </a:pPr>
            <a:r>
              <a:rPr sz="1275" b="1">
                <a:solidFill>
                  <a:srgbClr val="111111"/>
                </a:solidFill>
                <a:latin typeface="Aptos"/>
                <a:ea typeface="Aptos"/>
                <a:cs typeface="Aptos"/>
              </a:rPr>
              <a:t>Amazon SNS</a:t>
            </a:r>
          </a:p>
        </p:txBody>
      </p:sp>
      <p:sp>
        <p:nvSpPr>
          <p:cNvPr id="26" name="">
            <a:extLst xmlns:a="http://schemas.openxmlformats.org/drawingml/2006/main">
              <a:ext uri="{FF2B5EF4-FFF2-40B4-BE49-F238E27FC236}">
                <a16:creationId xmlns:a16="http://schemas.microsoft.com/office/drawing/2014/main" id="{ACB39FF6-DF79-4E9C-B50A-6F0B0C8A65B3}"/>
              </a:ext>
            </a:extLst>
          </p:cNvPr>
          <p:cNvSpPr>
            <a:spLocks xmlns:a="http://schemas.openxmlformats.org/drawingml/2006/main" noGrp="1"/>
          </p:cNvSpPr>
          <p:nvPr/>
        </p:nvSpPr>
        <p:spPr>
          <a:xfrm xmlns:a="http://schemas.openxmlformats.org/drawingml/2006/main">
            <a:off x="3067050" y="4848225"/>
            <a:ext cx="333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11111"/>
                </a:solidFill>
                <a:latin typeface="Aptos"/>
                <a:ea typeface="Aptos"/>
                <a:cs typeface="Aptos"/>
              </a:defRPr>
            </a:pPr>
            <a:r>
              <a:rPr sz="1125" b="0">
                <a:solidFill>
                  <a:srgbClr val="111111"/>
                </a:solidFill>
                <a:latin typeface="Aptos"/>
                <a:ea typeface="Aptos"/>
                <a:cs typeface="Aptos"/>
              </a:rPr>
              <a:t>Notify staff about new bookings and orders</a:t>
            </a:r>
          </a:p>
        </p:txBody>
      </p:sp>
      <p:sp>
        <p:nvSpPr>
          <p:cNvPr id="27" name="">
            <a:extLst xmlns:a="http://schemas.openxmlformats.org/drawingml/2006/main">
              <a:ext uri="{FF2B5EF4-FFF2-40B4-BE49-F238E27FC236}">
                <a16:creationId xmlns:a16="http://schemas.microsoft.com/office/drawing/2014/main" id="{624E5384-91AB-48A3-A458-B0503D55BB96}"/>
              </a:ext>
            </a:extLst>
          </p:cNvPr>
          <p:cNvSpPr>
            <a:spLocks xmlns:a="http://schemas.openxmlformats.org/drawingml/2006/main" noGrp="1"/>
          </p:cNvSpPr>
          <p:nvPr/>
        </p:nvSpPr>
        <p:spPr>
          <a:xfrm xmlns:a="http://schemas.openxmlformats.org/drawingml/2006/main">
            <a:off x="6858000" y="4848225"/>
            <a:ext cx="3714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F737A"/>
                </a:solidFill>
                <a:latin typeface="Aptos"/>
                <a:ea typeface="Aptos"/>
                <a:cs typeface="Aptos"/>
              </a:defRPr>
            </a:pPr>
            <a:r>
              <a:rPr sz="1125" b="0">
                <a:solidFill>
                  <a:srgbClr val="6F737A"/>
                </a:solidFill>
                <a:latin typeface="Aptos"/>
                <a:ea typeface="Aptos"/>
                <a:cs typeface="Aptos"/>
              </a:rPr>
              <a:t>Fast SMS/email fan-out to the team</a:t>
            </a:r>
          </a:p>
        </p:txBody>
      </p:sp>
      <p:sp>
        <p:nvSpPr>
          <p:cNvPr id="28" name="">
            <a:extLst xmlns:a="http://schemas.openxmlformats.org/drawingml/2006/main">
              <a:ext uri="{FF2B5EF4-FFF2-40B4-BE49-F238E27FC236}">
                <a16:creationId xmlns:a16="http://schemas.microsoft.com/office/drawing/2014/main" id="{56A002F5-3F82-4262-B90E-F1C7B0C1A776}"/>
              </a:ext>
            </a:extLst>
          </p:cNvPr>
          <p:cNvSpPr>
            <a:spLocks xmlns:a="http://schemas.openxmlformats.org/drawingml/2006/main" noGrp="1"/>
          </p:cNvSpPr>
          <p:nvPr/>
        </p:nvSpPr>
        <p:spPr>
          <a:xfrm xmlns:a="http://schemas.openxmlformats.org/drawingml/2006/main">
            <a:off x="666750" y="5372100"/>
            <a:ext cx="10382250" cy="514350"/>
          </a:xfrm>
          <a:prstGeom xmlns:a="http://schemas.openxmlformats.org/drawingml/2006/main" prst="rect">
            <a:avLst/>
          </a:prstGeom>
          <a:solidFill xmlns:a="http://schemas.openxmlformats.org/drawingml/2006/main">
            <a:srgbClr val="FFFDF7"/>
          </a:solidFill>
          <a:ln xmlns:a="http://schemas.openxmlformats.org/drawingml/2006/main" w="9525">
            <a:solidFill>
              <a:srgbClr val="E1D8C8"/>
            </a:solidFill>
            <a:prstDash val="solid"/>
          </a:ln>
        </p:spPr>
      </p:sp>
      <p:sp>
        <p:nvSpPr>
          <p:cNvPr id="29" name="">
            <a:extLst xmlns:a="http://schemas.openxmlformats.org/drawingml/2006/main">
              <a:ext uri="{FF2B5EF4-FFF2-40B4-BE49-F238E27FC236}">
                <a16:creationId xmlns:a16="http://schemas.microsoft.com/office/drawing/2014/main" id="{2C4225E1-ED8F-4DEB-B141-23C018F8A5B2}"/>
              </a:ext>
            </a:extLst>
          </p:cNvPr>
          <p:cNvSpPr>
            <a:spLocks xmlns:a="http://schemas.openxmlformats.org/drawingml/2006/main" noGrp="1"/>
          </p:cNvSpPr>
          <p:nvPr/>
        </p:nvSpPr>
        <p:spPr>
          <a:xfrm xmlns:a="http://schemas.openxmlformats.org/drawingml/2006/main">
            <a:off x="876300" y="5505450"/>
            <a:ext cx="2000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11111"/>
                </a:solidFill>
                <a:latin typeface="Aptos"/>
                <a:ea typeface="Aptos"/>
                <a:cs typeface="Aptos"/>
              </a:defRPr>
            </a:pPr>
            <a:r>
              <a:rPr sz="1275" b="1">
                <a:solidFill>
                  <a:srgbClr val="111111"/>
                </a:solidFill>
                <a:latin typeface="Aptos"/>
                <a:ea typeface="Aptos"/>
                <a:cs typeface="Aptos"/>
              </a:rPr>
              <a:t>API Gateway</a:t>
            </a:r>
          </a:p>
        </p:txBody>
      </p:sp>
      <p:sp>
        <p:nvSpPr>
          <p:cNvPr id="30" name="">
            <a:extLst xmlns:a="http://schemas.openxmlformats.org/drawingml/2006/main">
              <a:ext uri="{FF2B5EF4-FFF2-40B4-BE49-F238E27FC236}">
                <a16:creationId xmlns:a16="http://schemas.microsoft.com/office/drawing/2014/main" id="{6910DDD4-8E5C-417D-BD7D-5319EF4B9443}"/>
              </a:ext>
            </a:extLst>
          </p:cNvPr>
          <p:cNvSpPr>
            <a:spLocks xmlns:a="http://schemas.openxmlformats.org/drawingml/2006/main" noGrp="1"/>
          </p:cNvSpPr>
          <p:nvPr/>
        </p:nvSpPr>
        <p:spPr>
          <a:xfrm xmlns:a="http://schemas.openxmlformats.org/drawingml/2006/main">
            <a:off x="3067050" y="5495925"/>
            <a:ext cx="333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11111"/>
                </a:solidFill>
                <a:latin typeface="Aptos"/>
                <a:ea typeface="Aptos"/>
                <a:cs typeface="Aptos"/>
              </a:defRPr>
            </a:pPr>
            <a:r>
              <a:rPr sz="1125" b="0">
                <a:solidFill>
                  <a:srgbClr val="111111"/>
                </a:solidFill>
                <a:latin typeface="Aptos"/>
                <a:ea typeface="Aptos"/>
                <a:cs typeface="Aptos"/>
              </a:rPr>
              <a:t>Expose secure booking and order endpoints</a:t>
            </a:r>
          </a:p>
        </p:txBody>
      </p:sp>
      <p:sp>
        <p:nvSpPr>
          <p:cNvPr id="31" name="">
            <a:extLst xmlns:a="http://schemas.openxmlformats.org/drawingml/2006/main">
              <a:ext uri="{FF2B5EF4-FFF2-40B4-BE49-F238E27FC236}">
                <a16:creationId xmlns:a16="http://schemas.microsoft.com/office/drawing/2014/main" id="{74C30897-8AB8-4402-BB45-3633536AA625}"/>
              </a:ext>
            </a:extLst>
          </p:cNvPr>
          <p:cNvSpPr>
            <a:spLocks xmlns:a="http://schemas.openxmlformats.org/drawingml/2006/main" noGrp="1"/>
          </p:cNvSpPr>
          <p:nvPr/>
        </p:nvSpPr>
        <p:spPr>
          <a:xfrm xmlns:a="http://schemas.openxmlformats.org/drawingml/2006/main">
            <a:off x="6858000" y="5495925"/>
            <a:ext cx="3714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6F737A"/>
                </a:solidFill>
                <a:latin typeface="Aptos"/>
                <a:ea typeface="Aptos"/>
                <a:cs typeface="Aptos"/>
              </a:defRPr>
            </a:pPr>
            <a:r>
              <a:rPr sz="1125" b="0">
                <a:solidFill>
                  <a:srgbClr val="6F737A"/>
                </a:solidFill>
                <a:latin typeface="Aptos"/>
                <a:ea typeface="Aptos"/>
                <a:cs typeface="Aptos"/>
              </a:rPr>
              <a:t>Managed front door for the application API</a:t>
            </a:r>
          </a:p>
        </p:txBody>
      </p:sp>
      <p:sp>
        <p:nvSpPr>
          <p:cNvPr id="32" name="">
            <a:extLst xmlns:a="http://schemas.openxmlformats.org/drawingml/2006/main">
              <a:ext uri="{FF2B5EF4-FFF2-40B4-BE49-F238E27FC236}">
                <a16:creationId xmlns:a16="http://schemas.microsoft.com/office/drawing/2014/main" id="{7499F62A-B7F4-45F9-9BED-6C769B82A20C}"/>
              </a:ext>
            </a:extLst>
          </p:cNvPr>
          <p:cNvSpPr>
            <a:spLocks xmlns:a="http://schemas.openxmlformats.org/drawingml/2006/main" noGrp="1"/>
          </p:cNvSpPr>
          <p:nvPr/>
        </p:nvSpPr>
        <p:spPr>
          <a:xfrm xmlns:a="http://schemas.openxmlformats.org/drawingml/2006/main">
            <a:off x="666750" y="65151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F737A"/>
                </a:solidFill>
                <a:latin typeface="Aptos"/>
                <a:ea typeface="Aptos"/>
                <a:cs typeface="Aptos"/>
              </a:defRPr>
            </a:pPr>
            <a:r>
              <a:rPr sz="750" b="0">
                <a:solidFill>
                  <a:srgbClr val="6F737A"/>
                </a:solidFill>
                <a:latin typeface="Aptos"/>
                <a:ea typeface="Aptos"/>
                <a:cs typeface="Aptos"/>
              </a:rPr>
              <a:t>Source: zani-eatery-aws-report.md and deployed S3 website</a:t>
            </a:r>
          </a:p>
        </p:txBody>
      </p:sp>
      <p:sp>
        <p:nvSpPr>
          <p:cNvPr id="33" name="">
            <a:extLst xmlns:a="http://schemas.openxmlformats.org/drawingml/2006/main">
              <a:ext uri="{FF2B5EF4-FFF2-40B4-BE49-F238E27FC236}">
                <a16:creationId xmlns:a16="http://schemas.microsoft.com/office/drawing/2014/main" id="{E8B45C28-C34E-4C19-95AF-6DF442BDB3E3}"/>
              </a:ext>
            </a:extLst>
          </p:cNvPr>
          <p:cNvSpPr>
            <a:spLocks xmlns:a="http://schemas.openxmlformats.org/drawingml/2006/main" noGrp="1"/>
          </p:cNvSpPr>
          <p:nvPr/>
        </p:nvSpPr>
        <p:spPr>
          <a:xfrm xmlns:a="http://schemas.openxmlformats.org/drawingml/2006/main">
            <a:off x="11239500" y="6438900"/>
            <a:ext cx="381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6F737A"/>
                </a:solidFill>
                <a:latin typeface="Aptos Mono"/>
                <a:ea typeface="Aptos Mono"/>
                <a:cs typeface="Aptos Mono"/>
              </a:defRPr>
            </a:pPr>
            <a:r>
              <a:rPr sz="900" b="0">
                <a:solidFill>
                  <a:srgbClr val="6F737A"/>
                </a:solidFill>
                <a:latin typeface="Aptos Mono"/>
                <a:ea typeface="Aptos Mono"/>
                <a:cs typeface="Aptos Mono"/>
              </a:rPr>
              <a:t>08</a:t>
            </a:r>
          </a:p>
        </p:txBody>
      </p:sp>
    </p:spTree>
    <p:extLst>
      <p:ext uri="{BB962C8B-B14F-4D97-AF65-F5344CB8AC3E}">
        <p14:creationId xmlns:p14="http://schemas.microsoft.com/office/powerpoint/2010/main" val="187167211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F2E8030-8986-4CA9-B954-0BE7C7E4322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7F0"/>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F1D32E90-5BAD-4044-874F-6860E4C4BBC2}"/>
              </a:ext>
            </a:extLst>
          </p:cNvPr>
          <p:cNvSpPr>
            <a:spLocks xmlns:a="http://schemas.openxmlformats.org/drawingml/2006/main" noGrp="1"/>
          </p:cNvSpPr>
          <p:nvPr/>
        </p:nvSpPr>
        <p:spPr>
          <a:xfrm xmlns:a="http://schemas.openxmlformats.org/drawingml/2006/main">
            <a:off x="666750" y="581025"/>
            <a:ext cx="323850" cy="19050"/>
          </a:xfrm>
          <a:prstGeom xmlns:a="http://schemas.openxmlformats.org/drawingml/2006/main" prst="rect">
            <a:avLst/>
          </a:prstGeom>
          <a:solidFill xmlns:a="http://schemas.openxmlformats.org/drawingml/2006/main">
            <a:srgbClr val="D9B72F"/>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C87F7D71-3C90-4AC1-95F5-02B7DFEC3E44}"/>
              </a:ext>
            </a:extLst>
          </p:cNvPr>
          <p:cNvSpPr>
            <a:spLocks xmlns:a="http://schemas.openxmlformats.org/drawingml/2006/main" noGrp="1"/>
          </p:cNvSpPr>
          <p:nvPr/>
        </p:nvSpPr>
        <p:spPr>
          <a:xfrm xmlns:a="http://schemas.openxmlformats.org/drawingml/2006/main">
            <a:off x="1104900" y="51435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D9B72F"/>
                </a:solidFill>
                <a:latin typeface="Aptos Mono"/>
                <a:ea typeface="Aptos Mono"/>
                <a:cs typeface="Aptos Mono"/>
              </a:defRPr>
            </a:pPr>
            <a:r>
              <a:rPr sz="975" b="1">
                <a:solidFill>
                  <a:srgbClr val="D9B72F"/>
                </a:solidFill>
                <a:latin typeface="Aptos Mono"/>
                <a:ea typeface="Aptos Mono"/>
                <a:cs typeface="Aptos Mono"/>
              </a:rPr>
              <a:t>BOOKING AND ORDER FLOW</a:t>
            </a:r>
          </a:p>
        </p:txBody>
      </p:sp>
      <p:sp>
        <p:nvSpPr>
          <p:cNvPr id="4" name="">
            <a:extLst xmlns:a="http://schemas.openxmlformats.org/drawingml/2006/main">
              <a:ext uri="{FF2B5EF4-FFF2-40B4-BE49-F238E27FC236}">
                <a16:creationId xmlns:a16="http://schemas.microsoft.com/office/drawing/2014/main" id="{BE648896-9D59-4D31-A5C6-C2F3EE622E12}"/>
              </a:ext>
            </a:extLst>
          </p:cNvPr>
          <p:cNvSpPr>
            <a:spLocks xmlns:a="http://schemas.openxmlformats.org/drawingml/2006/main" noGrp="1"/>
          </p:cNvSpPr>
          <p:nvPr/>
        </p:nvSpPr>
        <p:spPr>
          <a:xfrm xmlns:a="http://schemas.openxmlformats.org/drawingml/2006/main">
            <a:off x="666750" y="838200"/>
            <a:ext cx="752475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0">
                <a:solidFill>
                  <a:srgbClr val="111111"/>
                </a:solidFill>
                <a:latin typeface="Georgia"/>
                <a:ea typeface="Georgia"/>
                <a:cs typeface="Georgia"/>
              </a:defRPr>
            </a:pPr>
            <a:r>
              <a:rPr sz="3150" b="0">
                <a:solidFill>
                  <a:srgbClr val="111111"/>
                </a:solidFill>
                <a:latin typeface="Georgia"/>
                <a:ea typeface="Georgia"/>
                <a:cs typeface="Georgia"/>
              </a:rPr>
              <a:t>A customer request becomes a stored record and staff notification.</a:t>
            </a:r>
          </a:p>
        </p:txBody>
      </p:sp>
      <p:sp>
        <p:nvSpPr>
          <p:cNvPr id="5" name="">
            <a:extLst xmlns:a="http://schemas.openxmlformats.org/drawingml/2006/main">
              <a:ext uri="{FF2B5EF4-FFF2-40B4-BE49-F238E27FC236}">
                <a16:creationId xmlns:a16="http://schemas.microsoft.com/office/drawing/2014/main" id="{5A24BBF3-0BB4-4B23-AEB2-AC604B291297}"/>
              </a:ext>
            </a:extLst>
          </p:cNvPr>
          <p:cNvSpPr>
            <a:spLocks xmlns:a="http://schemas.openxmlformats.org/drawingml/2006/main" noGrp="1"/>
          </p:cNvSpPr>
          <p:nvPr/>
        </p:nvSpPr>
        <p:spPr>
          <a:xfrm xmlns:a="http://schemas.openxmlformats.org/drawingml/2006/main">
            <a:off x="666750" y="2571750"/>
            <a:ext cx="1695450" cy="1200150"/>
          </a:xfrm>
          <a:prstGeom xmlns:a="http://schemas.openxmlformats.org/drawingml/2006/main" prst="roundRect">
            <a:avLst>
              <a:gd name="adj" fmla="val 6349"/>
            </a:avLst>
          </a:prstGeom>
          <a:solidFill xmlns:a="http://schemas.openxmlformats.org/drawingml/2006/main">
            <a:srgbClr val="F3EDDF"/>
          </a:solidFill>
          <a:ln xmlns:a="http://schemas.openxmlformats.org/drawingml/2006/main" w="9525">
            <a:solidFill>
              <a:srgbClr val="D8D0C4"/>
            </a:solidFill>
            <a:prstDash val="solid"/>
          </a:ln>
        </p:spPr>
      </p:sp>
      <p:sp>
        <p:nvSpPr>
          <p:cNvPr id="6" name="">
            <a:extLst xmlns:a="http://schemas.openxmlformats.org/drawingml/2006/main">
              <a:ext uri="{FF2B5EF4-FFF2-40B4-BE49-F238E27FC236}">
                <a16:creationId xmlns:a16="http://schemas.microsoft.com/office/drawing/2014/main" id="{DC2C92DC-8F23-4162-9288-D80104E6DF72}"/>
              </a:ext>
            </a:extLst>
          </p:cNvPr>
          <p:cNvSpPr>
            <a:spLocks xmlns:a="http://schemas.openxmlformats.org/drawingml/2006/main" noGrp="1"/>
          </p:cNvSpPr>
          <p:nvPr/>
        </p:nvSpPr>
        <p:spPr>
          <a:xfrm xmlns:a="http://schemas.openxmlformats.org/drawingml/2006/main">
            <a:off x="800100" y="2695575"/>
            <a:ext cx="1428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11111"/>
                </a:solidFill>
                <a:latin typeface="Aptos"/>
                <a:ea typeface="Aptos"/>
                <a:cs typeface="Aptos"/>
              </a:defRPr>
            </a:pPr>
            <a:r>
              <a:rPr sz="1350" b="1">
                <a:solidFill>
                  <a:srgbClr val="111111"/>
                </a:solidFill>
                <a:latin typeface="Aptos"/>
                <a:ea typeface="Aptos"/>
                <a:cs typeface="Aptos"/>
              </a:rPr>
              <a:t>1. Visit site</a:t>
            </a:r>
          </a:p>
        </p:txBody>
      </p:sp>
      <p:sp>
        <p:nvSpPr>
          <p:cNvPr id="7" name="">
            <a:extLst xmlns:a="http://schemas.openxmlformats.org/drawingml/2006/main">
              <a:ext uri="{FF2B5EF4-FFF2-40B4-BE49-F238E27FC236}">
                <a16:creationId xmlns:a16="http://schemas.microsoft.com/office/drawing/2014/main" id="{E6FD4FD5-21CD-45E5-8B04-2810FE1201FC}"/>
              </a:ext>
            </a:extLst>
          </p:cNvPr>
          <p:cNvSpPr>
            <a:spLocks xmlns:a="http://schemas.openxmlformats.org/drawingml/2006/main" noGrp="1"/>
          </p:cNvSpPr>
          <p:nvPr/>
        </p:nvSpPr>
        <p:spPr>
          <a:xfrm xmlns:a="http://schemas.openxmlformats.org/drawingml/2006/main">
            <a:off x="800100" y="2971800"/>
            <a:ext cx="142875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6F737A"/>
                </a:solidFill>
                <a:latin typeface="Aptos"/>
                <a:ea typeface="Aptos"/>
                <a:cs typeface="Aptos"/>
              </a:defRPr>
            </a:pPr>
            <a:r>
              <a:rPr sz="975" b="0">
                <a:solidFill>
                  <a:srgbClr val="6F737A"/>
                </a:solidFill>
                <a:latin typeface="Aptos"/>
                <a:ea typeface="Aptos"/>
                <a:cs typeface="Aptos"/>
              </a:rPr>
              <a:t>Customer opens S3-hosted website through browser</a:t>
            </a:r>
          </a:p>
        </p:txBody>
      </p:sp>
      <p:sp>
        <p:nvSpPr>
          <p:cNvPr id="8" name="">
            <a:extLst xmlns:a="http://schemas.openxmlformats.org/drawingml/2006/main">
              <a:ext uri="{FF2B5EF4-FFF2-40B4-BE49-F238E27FC236}">
                <a16:creationId xmlns:a16="http://schemas.microsoft.com/office/drawing/2014/main" id="{E4BC891B-9B97-4B07-BCAB-9487FE8608AB}"/>
              </a:ext>
            </a:extLst>
          </p:cNvPr>
          <p:cNvSpPr>
            <a:spLocks xmlns:a="http://schemas.openxmlformats.org/drawingml/2006/main" noGrp="1"/>
          </p:cNvSpPr>
          <p:nvPr/>
        </p:nvSpPr>
        <p:spPr>
          <a:xfrm xmlns:a="http://schemas.openxmlformats.org/drawingml/2006/main">
            <a:off x="2381250" y="3171825"/>
            <a:ext cx="400050" cy="0"/>
          </a:xfrm>
          <a:prstGeom xmlns:a="http://schemas.openxmlformats.org/drawingml/2006/main" prst="line">
            <a:avLst/>
          </a:prstGeom>
          <a:solidFill xmlns:a="http://schemas.openxmlformats.org/drawingml/2006/main">
            <a:srgbClr val="000000">
              <a:alpha val="0"/>
            </a:srgbClr>
          </a:solidFill>
          <a:ln xmlns:a="http://schemas.openxmlformats.org/drawingml/2006/main" w="28575">
            <a:solidFill>
              <a:srgbClr val="D9B72F"/>
            </a:solidFill>
            <a:prstDash val="solid"/>
          </a:ln>
        </p:spPr>
      </p:sp>
      <p:sp>
        <p:nvSpPr>
          <p:cNvPr id="9" name="">
            <a:extLst xmlns:a="http://schemas.openxmlformats.org/drawingml/2006/main">
              <a:ext uri="{FF2B5EF4-FFF2-40B4-BE49-F238E27FC236}">
                <a16:creationId xmlns:a16="http://schemas.microsoft.com/office/drawing/2014/main" id="{B0B2190E-F286-4D83-87E2-CE609E15A919}"/>
              </a:ext>
            </a:extLst>
          </p:cNvPr>
          <p:cNvSpPr>
            <a:spLocks xmlns:a="http://schemas.openxmlformats.org/drawingml/2006/main" noGrp="1"/>
          </p:cNvSpPr>
          <p:nvPr/>
        </p:nvSpPr>
        <p:spPr>
          <a:xfrm xmlns:a="http://schemas.openxmlformats.org/drawingml/2006/main">
            <a:off x="2819400" y="2571750"/>
            <a:ext cx="1695450" cy="1200150"/>
          </a:xfrm>
          <a:prstGeom xmlns:a="http://schemas.openxmlformats.org/drawingml/2006/main" prst="roundRect">
            <a:avLst>
              <a:gd name="adj" fmla="val 6349"/>
            </a:avLst>
          </a:prstGeom>
          <a:solidFill xmlns:a="http://schemas.openxmlformats.org/drawingml/2006/main">
            <a:srgbClr val="FFFDF7"/>
          </a:solidFill>
          <a:ln xmlns:a="http://schemas.openxmlformats.org/drawingml/2006/main" w="9525">
            <a:solidFill>
              <a:srgbClr val="D8D0C4"/>
            </a:solidFill>
            <a:prstDash val="solid"/>
          </a:ln>
        </p:spPr>
      </p:sp>
      <p:sp>
        <p:nvSpPr>
          <p:cNvPr id="10" name="">
            <a:extLst xmlns:a="http://schemas.openxmlformats.org/drawingml/2006/main">
              <a:ext uri="{FF2B5EF4-FFF2-40B4-BE49-F238E27FC236}">
                <a16:creationId xmlns:a16="http://schemas.microsoft.com/office/drawing/2014/main" id="{D9CFE7D0-291C-409F-BFB7-4EA1C6E63712}"/>
              </a:ext>
            </a:extLst>
          </p:cNvPr>
          <p:cNvSpPr>
            <a:spLocks xmlns:a="http://schemas.openxmlformats.org/drawingml/2006/main" noGrp="1"/>
          </p:cNvSpPr>
          <p:nvPr/>
        </p:nvSpPr>
        <p:spPr>
          <a:xfrm xmlns:a="http://schemas.openxmlformats.org/drawingml/2006/main">
            <a:off x="2952750" y="2695575"/>
            <a:ext cx="1428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11111"/>
                </a:solidFill>
                <a:latin typeface="Aptos"/>
                <a:ea typeface="Aptos"/>
                <a:cs typeface="Aptos"/>
              </a:defRPr>
            </a:pPr>
            <a:r>
              <a:rPr sz="1350" b="1">
                <a:solidFill>
                  <a:srgbClr val="111111"/>
                </a:solidFill>
                <a:latin typeface="Aptos"/>
                <a:ea typeface="Aptos"/>
                <a:cs typeface="Aptos"/>
              </a:rPr>
              <a:t>2. Sign in</a:t>
            </a:r>
          </a:p>
        </p:txBody>
      </p:sp>
      <p:sp>
        <p:nvSpPr>
          <p:cNvPr id="11" name="">
            <a:extLst xmlns:a="http://schemas.openxmlformats.org/drawingml/2006/main">
              <a:ext uri="{FF2B5EF4-FFF2-40B4-BE49-F238E27FC236}">
                <a16:creationId xmlns:a16="http://schemas.microsoft.com/office/drawing/2014/main" id="{032A51B5-CB03-4F48-B4CA-9474EE21056D}"/>
              </a:ext>
            </a:extLst>
          </p:cNvPr>
          <p:cNvSpPr>
            <a:spLocks xmlns:a="http://schemas.openxmlformats.org/drawingml/2006/main" noGrp="1"/>
          </p:cNvSpPr>
          <p:nvPr/>
        </p:nvSpPr>
        <p:spPr>
          <a:xfrm xmlns:a="http://schemas.openxmlformats.org/drawingml/2006/main">
            <a:off x="2952750" y="2971800"/>
            <a:ext cx="142875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6F737A"/>
                </a:solidFill>
                <a:latin typeface="Aptos"/>
                <a:ea typeface="Aptos"/>
                <a:cs typeface="Aptos"/>
              </a:defRPr>
            </a:pPr>
            <a:r>
              <a:rPr sz="975" b="0">
                <a:solidFill>
                  <a:srgbClr val="6F737A"/>
                </a:solidFill>
                <a:latin typeface="Aptos"/>
                <a:ea typeface="Aptos"/>
                <a:cs typeface="Aptos"/>
              </a:rPr>
              <a:t>Cognito validates identity for protected actions</a:t>
            </a:r>
          </a:p>
        </p:txBody>
      </p:sp>
      <p:sp>
        <p:nvSpPr>
          <p:cNvPr id="12" name="">
            <a:extLst xmlns:a="http://schemas.openxmlformats.org/drawingml/2006/main">
              <a:ext uri="{FF2B5EF4-FFF2-40B4-BE49-F238E27FC236}">
                <a16:creationId xmlns:a16="http://schemas.microsoft.com/office/drawing/2014/main" id="{74FF2CE1-5FFA-4086-802D-A14944ADC274}"/>
              </a:ext>
            </a:extLst>
          </p:cNvPr>
          <p:cNvSpPr>
            <a:spLocks xmlns:a="http://schemas.openxmlformats.org/drawingml/2006/main" noGrp="1"/>
          </p:cNvSpPr>
          <p:nvPr/>
        </p:nvSpPr>
        <p:spPr>
          <a:xfrm xmlns:a="http://schemas.openxmlformats.org/drawingml/2006/main">
            <a:off x="4533900" y="3171825"/>
            <a:ext cx="400050" cy="0"/>
          </a:xfrm>
          <a:prstGeom xmlns:a="http://schemas.openxmlformats.org/drawingml/2006/main" prst="line">
            <a:avLst/>
          </a:prstGeom>
          <a:solidFill xmlns:a="http://schemas.openxmlformats.org/drawingml/2006/main">
            <a:srgbClr val="000000">
              <a:alpha val="0"/>
            </a:srgbClr>
          </a:solidFill>
          <a:ln xmlns:a="http://schemas.openxmlformats.org/drawingml/2006/main" w="28575">
            <a:solidFill>
              <a:srgbClr val="D9B72F"/>
            </a:solidFill>
            <a:prstDash val="solid"/>
          </a:ln>
        </p:spPr>
      </p:sp>
      <p:sp>
        <p:nvSpPr>
          <p:cNvPr id="13" name="">
            <a:extLst xmlns:a="http://schemas.openxmlformats.org/drawingml/2006/main">
              <a:ext uri="{FF2B5EF4-FFF2-40B4-BE49-F238E27FC236}">
                <a16:creationId xmlns:a16="http://schemas.microsoft.com/office/drawing/2014/main" id="{365A2377-7C69-45B1-8F23-BDAA7C3C44AA}"/>
              </a:ext>
            </a:extLst>
          </p:cNvPr>
          <p:cNvSpPr>
            <a:spLocks xmlns:a="http://schemas.openxmlformats.org/drawingml/2006/main" noGrp="1"/>
          </p:cNvSpPr>
          <p:nvPr/>
        </p:nvSpPr>
        <p:spPr>
          <a:xfrm xmlns:a="http://schemas.openxmlformats.org/drawingml/2006/main">
            <a:off x="4972050" y="2571750"/>
            <a:ext cx="1695450" cy="1200150"/>
          </a:xfrm>
          <a:prstGeom xmlns:a="http://schemas.openxmlformats.org/drawingml/2006/main" prst="roundRect">
            <a:avLst>
              <a:gd name="adj" fmla="val 6349"/>
            </a:avLst>
          </a:prstGeom>
          <a:solidFill xmlns:a="http://schemas.openxmlformats.org/drawingml/2006/main">
            <a:srgbClr val="F3EDDF"/>
          </a:solidFill>
          <a:ln xmlns:a="http://schemas.openxmlformats.org/drawingml/2006/main" w="9525">
            <a:solidFill>
              <a:srgbClr val="D8D0C4"/>
            </a:solidFill>
            <a:prstDash val="solid"/>
          </a:ln>
        </p:spPr>
      </p:sp>
      <p:sp>
        <p:nvSpPr>
          <p:cNvPr id="14" name="">
            <a:extLst xmlns:a="http://schemas.openxmlformats.org/drawingml/2006/main">
              <a:ext uri="{FF2B5EF4-FFF2-40B4-BE49-F238E27FC236}">
                <a16:creationId xmlns:a16="http://schemas.microsoft.com/office/drawing/2014/main" id="{6A7368B2-E4F6-4A0A-97DD-BD680BAE3D9D}"/>
              </a:ext>
            </a:extLst>
          </p:cNvPr>
          <p:cNvSpPr>
            <a:spLocks xmlns:a="http://schemas.openxmlformats.org/drawingml/2006/main" noGrp="1"/>
          </p:cNvSpPr>
          <p:nvPr/>
        </p:nvSpPr>
        <p:spPr>
          <a:xfrm xmlns:a="http://schemas.openxmlformats.org/drawingml/2006/main">
            <a:off x="5105400" y="2695575"/>
            <a:ext cx="1428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11111"/>
                </a:solidFill>
                <a:latin typeface="Aptos"/>
                <a:ea typeface="Aptos"/>
                <a:cs typeface="Aptos"/>
              </a:defRPr>
            </a:pPr>
            <a:r>
              <a:rPr sz="1350" b="1">
                <a:solidFill>
                  <a:srgbClr val="111111"/>
                </a:solidFill>
                <a:latin typeface="Aptos"/>
                <a:ea typeface="Aptos"/>
                <a:cs typeface="Aptos"/>
              </a:rPr>
              <a:t>3. Submit request</a:t>
            </a:r>
          </a:p>
        </p:txBody>
      </p:sp>
      <p:sp>
        <p:nvSpPr>
          <p:cNvPr id="15" name="">
            <a:extLst xmlns:a="http://schemas.openxmlformats.org/drawingml/2006/main">
              <a:ext uri="{FF2B5EF4-FFF2-40B4-BE49-F238E27FC236}">
                <a16:creationId xmlns:a16="http://schemas.microsoft.com/office/drawing/2014/main" id="{D153E13E-7257-4492-9315-996CBD49BB9F}"/>
              </a:ext>
            </a:extLst>
          </p:cNvPr>
          <p:cNvSpPr>
            <a:spLocks xmlns:a="http://schemas.openxmlformats.org/drawingml/2006/main" noGrp="1"/>
          </p:cNvSpPr>
          <p:nvPr/>
        </p:nvSpPr>
        <p:spPr>
          <a:xfrm xmlns:a="http://schemas.openxmlformats.org/drawingml/2006/main">
            <a:off x="5105400" y="2971800"/>
            <a:ext cx="142875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6F737A"/>
                </a:solidFill>
                <a:latin typeface="Aptos"/>
                <a:ea typeface="Aptos"/>
                <a:cs typeface="Aptos"/>
              </a:defRPr>
            </a:pPr>
            <a:r>
              <a:rPr sz="975" b="0">
                <a:solidFill>
                  <a:srgbClr val="6F737A"/>
                </a:solidFill>
                <a:latin typeface="Aptos"/>
                <a:ea typeface="Aptos"/>
                <a:cs typeface="Aptos"/>
              </a:rPr>
              <a:t>Booking or order form sends API request</a:t>
            </a:r>
          </a:p>
        </p:txBody>
      </p:sp>
      <p:sp>
        <p:nvSpPr>
          <p:cNvPr id="16" name="">
            <a:extLst xmlns:a="http://schemas.openxmlformats.org/drawingml/2006/main">
              <a:ext uri="{FF2B5EF4-FFF2-40B4-BE49-F238E27FC236}">
                <a16:creationId xmlns:a16="http://schemas.microsoft.com/office/drawing/2014/main" id="{3FBF3D95-8139-4B50-85DF-1223B6C006F5}"/>
              </a:ext>
            </a:extLst>
          </p:cNvPr>
          <p:cNvSpPr>
            <a:spLocks xmlns:a="http://schemas.openxmlformats.org/drawingml/2006/main" noGrp="1"/>
          </p:cNvSpPr>
          <p:nvPr/>
        </p:nvSpPr>
        <p:spPr>
          <a:xfrm xmlns:a="http://schemas.openxmlformats.org/drawingml/2006/main">
            <a:off x="6686550" y="3171825"/>
            <a:ext cx="400050" cy="0"/>
          </a:xfrm>
          <a:prstGeom xmlns:a="http://schemas.openxmlformats.org/drawingml/2006/main" prst="line">
            <a:avLst/>
          </a:prstGeom>
          <a:solidFill xmlns:a="http://schemas.openxmlformats.org/drawingml/2006/main">
            <a:srgbClr val="000000">
              <a:alpha val="0"/>
            </a:srgbClr>
          </a:solidFill>
          <a:ln xmlns:a="http://schemas.openxmlformats.org/drawingml/2006/main" w="28575">
            <a:solidFill>
              <a:srgbClr val="D9B72F"/>
            </a:solidFill>
            <a:prstDash val="solid"/>
          </a:ln>
        </p:spPr>
      </p:sp>
      <p:sp>
        <p:nvSpPr>
          <p:cNvPr id="17" name="">
            <a:extLst xmlns:a="http://schemas.openxmlformats.org/drawingml/2006/main">
              <a:ext uri="{FF2B5EF4-FFF2-40B4-BE49-F238E27FC236}">
                <a16:creationId xmlns:a16="http://schemas.microsoft.com/office/drawing/2014/main" id="{1212D5A0-E0D7-4813-A73C-BB6426AC30C5}"/>
              </a:ext>
            </a:extLst>
          </p:cNvPr>
          <p:cNvSpPr>
            <a:spLocks xmlns:a="http://schemas.openxmlformats.org/drawingml/2006/main" noGrp="1"/>
          </p:cNvSpPr>
          <p:nvPr/>
        </p:nvSpPr>
        <p:spPr>
          <a:xfrm xmlns:a="http://schemas.openxmlformats.org/drawingml/2006/main">
            <a:off x="7124700" y="2571750"/>
            <a:ext cx="1695450" cy="1200150"/>
          </a:xfrm>
          <a:prstGeom xmlns:a="http://schemas.openxmlformats.org/drawingml/2006/main" prst="roundRect">
            <a:avLst>
              <a:gd name="adj" fmla="val 6349"/>
            </a:avLst>
          </a:prstGeom>
          <a:solidFill xmlns:a="http://schemas.openxmlformats.org/drawingml/2006/main">
            <a:srgbClr val="FFFDF7"/>
          </a:solidFill>
          <a:ln xmlns:a="http://schemas.openxmlformats.org/drawingml/2006/main" w="9525">
            <a:solidFill>
              <a:srgbClr val="D8D0C4"/>
            </a:solidFill>
            <a:prstDash val="solid"/>
          </a:ln>
        </p:spPr>
      </p:sp>
      <p:sp>
        <p:nvSpPr>
          <p:cNvPr id="18" name="">
            <a:extLst xmlns:a="http://schemas.openxmlformats.org/drawingml/2006/main">
              <a:ext uri="{FF2B5EF4-FFF2-40B4-BE49-F238E27FC236}">
                <a16:creationId xmlns:a16="http://schemas.microsoft.com/office/drawing/2014/main" id="{1DF0F4F6-2A00-432A-92F2-CD4E1259997A}"/>
              </a:ext>
            </a:extLst>
          </p:cNvPr>
          <p:cNvSpPr>
            <a:spLocks xmlns:a="http://schemas.openxmlformats.org/drawingml/2006/main" noGrp="1"/>
          </p:cNvSpPr>
          <p:nvPr/>
        </p:nvSpPr>
        <p:spPr>
          <a:xfrm xmlns:a="http://schemas.openxmlformats.org/drawingml/2006/main">
            <a:off x="7258050" y="2695575"/>
            <a:ext cx="1428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11111"/>
                </a:solidFill>
                <a:latin typeface="Aptos"/>
                <a:ea typeface="Aptos"/>
                <a:cs typeface="Aptos"/>
              </a:defRPr>
            </a:pPr>
            <a:r>
              <a:rPr sz="1350" b="1">
                <a:solidFill>
                  <a:srgbClr val="111111"/>
                </a:solidFill>
                <a:latin typeface="Aptos"/>
                <a:ea typeface="Aptos"/>
                <a:cs typeface="Aptos"/>
              </a:rPr>
              <a:t>4. Process</a:t>
            </a:r>
          </a:p>
        </p:txBody>
      </p:sp>
      <p:sp>
        <p:nvSpPr>
          <p:cNvPr id="19" name="">
            <a:extLst xmlns:a="http://schemas.openxmlformats.org/drawingml/2006/main">
              <a:ext uri="{FF2B5EF4-FFF2-40B4-BE49-F238E27FC236}">
                <a16:creationId xmlns:a16="http://schemas.microsoft.com/office/drawing/2014/main" id="{C65E11C9-0B3C-47E1-B325-E854DB9688FC}"/>
              </a:ext>
            </a:extLst>
          </p:cNvPr>
          <p:cNvSpPr>
            <a:spLocks xmlns:a="http://schemas.openxmlformats.org/drawingml/2006/main" noGrp="1"/>
          </p:cNvSpPr>
          <p:nvPr/>
        </p:nvSpPr>
        <p:spPr>
          <a:xfrm xmlns:a="http://schemas.openxmlformats.org/drawingml/2006/main">
            <a:off x="7258050" y="2971800"/>
            <a:ext cx="142875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6F737A"/>
                </a:solidFill>
                <a:latin typeface="Aptos"/>
                <a:ea typeface="Aptos"/>
                <a:cs typeface="Aptos"/>
              </a:defRPr>
            </a:pPr>
            <a:r>
              <a:rPr sz="975" b="0">
                <a:solidFill>
                  <a:srgbClr val="6F737A"/>
                </a:solidFill>
                <a:latin typeface="Aptos"/>
                <a:ea typeface="Aptos"/>
                <a:cs typeface="Aptos"/>
              </a:rPr>
              <a:t>Lambda validates, checks conflicts, and writes data</a:t>
            </a:r>
          </a:p>
        </p:txBody>
      </p:sp>
      <p:sp>
        <p:nvSpPr>
          <p:cNvPr id="20" name="">
            <a:extLst xmlns:a="http://schemas.openxmlformats.org/drawingml/2006/main">
              <a:ext uri="{FF2B5EF4-FFF2-40B4-BE49-F238E27FC236}">
                <a16:creationId xmlns:a16="http://schemas.microsoft.com/office/drawing/2014/main" id="{C31C32FB-C767-44F5-BE96-8EF3FE836AC1}"/>
              </a:ext>
            </a:extLst>
          </p:cNvPr>
          <p:cNvSpPr>
            <a:spLocks xmlns:a="http://schemas.openxmlformats.org/drawingml/2006/main" noGrp="1"/>
          </p:cNvSpPr>
          <p:nvPr/>
        </p:nvSpPr>
        <p:spPr>
          <a:xfrm xmlns:a="http://schemas.openxmlformats.org/drawingml/2006/main">
            <a:off x="8839200" y="3171825"/>
            <a:ext cx="400050" cy="0"/>
          </a:xfrm>
          <a:prstGeom xmlns:a="http://schemas.openxmlformats.org/drawingml/2006/main" prst="line">
            <a:avLst/>
          </a:prstGeom>
          <a:solidFill xmlns:a="http://schemas.openxmlformats.org/drawingml/2006/main">
            <a:srgbClr val="000000">
              <a:alpha val="0"/>
            </a:srgbClr>
          </a:solidFill>
          <a:ln xmlns:a="http://schemas.openxmlformats.org/drawingml/2006/main" w="28575">
            <a:solidFill>
              <a:srgbClr val="D9B72F"/>
            </a:solidFill>
            <a:prstDash val="solid"/>
          </a:ln>
        </p:spPr>
      </p:sp>
      <p:sp>
        <p:nvSpPr>
          <p:cNvPr id="21" name="">
            <a:extLst xmlns:a="http://schemas.openxmlformats.org/drawingml/2006/main">
              <a:ext uri="{FF2B5EF4-FFF2-40B4-BE49-F238E27FC236}">
                <a16:creationId xmlns:a16="http://schemas.microsoft.com/office/drawing/2014/main" id="{646ADA4D-1541-421F-9D94-E23705C1AFB4}"/>
              </a:ext>
            </a:extLst>
          </p:cNvPr>
          <p:cNvSpPr>
            <a:spLocks xmlns:a="http://schemas.openxmlformats.org/drawingml/2006/main" noGrp="1"/>
          </p:cNvSpPr>
          <p:nvPr/>
        </p:nvSpPr>
        <p:spPr>
          <a:xfrm xmlns:a="http://schemas.openxmlformats.org/drawingml/2006/main">
            <a:off x="9277350" y="2571750"/>
            <a:ext cx="1695450" cy="1200150"/>
          </a:xfrm>
          <a:prstGeom xmlns:a="http://schemas.openxmlformats.org/drawingml/2006/main" prst="roundRect">
            <a:avLst>
              <a:gd name="adj" fmla="val 6349"/>
            </a:avLst>
          </a:prstGeom>
          <a:solidFill xmlns:a="http://schemas.openxmlformats.org/drawingml/2006/main">
            <a:srgbClr val="F3EDDF"/>
          </a:solidFill>
          <a:ln xmlns:a="http://schemas.openxmlformats.org/drawingml/2006/main" w="9525">
            <a:solidFill>
              <a:srgbClr val="D8D0C4"/>
            </a:solidFill>
            <a:prstDash val="solid"/>
          </a:ln>
        </p:spPr>
      </p:sp>
      <p:sp>
        <p:nvSpPr>
          <p:cNvPr id="22" name="">
            <a:extLst xmlns:a="http://schemas.openxmlformats.org/drawingml/2006/main">
              <a:ext uri="{FF2B5EF4-FFF2-40B4-BE49-F238E27FC236}">
                <a16:creationId xmlns:a16="http://schemas.microsoft.com/office/drawing/2014/main" id="{AF31ADCD-054F-432F-A6F5-DDE69F3EFCF4}"/>
              </a:ext>
            </a:extLst>
          </p:cNvPr>
          <p:cNvSpPr>
            <a:spLocks xmlns:a="http://schemas.openxmlformats.org/drawingml/2006/main" noGrp="1"/>
          </p:cNvSpPr>
          <p:nvPr/>
        </p:nvSpPr>
        <p:spPr>
          <a:xfrm xmlns:a="http://schemas.openxmlformats.org/drawingml/2006/main">
            <a:off x="9410700" y="2695575"/>
            <a:ext cx="1428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11111"/>
                </a:solidFill>
                <a:latin typeface="Aptos"/>
                <a:ea typeface="Aptos"/>
                <a:cs typeface="Aptos"/>
              </a:defRPr>
            </a:pPr>
            <a:r>
              <a:rPr sz="1350" b="1">
                <a:solidFill>
                  <a:srgbClr val="111111"/>
                </a:solidFill>
                <a:latin typeface="Aptos"/>
                <a:ea typeface="Aptos"/>
                <a:cs typeface="Aptos"/>
              </a:rPr>
              <a:t>5. Confirm</a:t>
            </a:r>
          </a:p>
        </p:txBody>
      </p:sp>
      <p:sp>
        <p:nvSpPr>
          <p:cNvPr id="23" name="">
            <a:extLst xmlns:a="http://schemas.openxmlformats.org/drawingml/2006/main">
              <a:ext uri="{FF2B5EF4-FFF2-40B4-BE49-F238E27FC236}">
                <a16:creationId xmlns:a16="http://schemas.microsoft.com/office/drawing/2014/main" id="{0130EB0B-FB83-4B93-A650-ED2E0FE51E24}"/>
              </a:ext>
            </a:extLst>
          </p:cNvPr>
          <p:cNvSpPr>
            <a:spLocks xmlns:a="http://schemas.openxmlformats.org/drawingml/2006/main" noGrp="1"/>
          </p:cNvSpPr>
          <p:nvPr/>
        </p:nvSpPr>
        <p:spPr>
          <a:xfrm xmlns:a="http://schemas.openxmlformats.org/drawingml/2006/main">
            <a:off x="9410700" y="2971800"/>
            <a:ext cx="142875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6F737A"/>
                </a:solidFill>
                <a:latin typeface="Aptos"/>
                <a:ea typeface="Aptos"/>
                <a:cs typeface="Aptos"/>
              </a:defRPr>
            </a:pPr>
            <a:r>
              <a:rPr sz="975" b="0">
                <a:solidFill>
                  <a:srgbClr val="6F737A"/>
                </a:solidFill>
                <a:latin typeface="Aptos"/>
                <a:ea typeface="Aptos"/>
                <a:cs typeface="Aptos"/>
              </a:rPr>
              <a:t>SNS/email alerts staff and confirms the customer</a:t>
            </a:r>
          </a:p>
        </p:txBody>
      </p:sp>
      <p:sp>
        <p:nvSpPr>
          <p:cNvPr id="24" name="">
            <a:extLst xmlns:a="http://schemas.openxmlformats.org/drawingml/2006/main">
              <a:ext uri="{FF2B5EF4-FFF2-40B4-BE49-F238E27FC236}">
                <a16:creationId xmlns:a16="http://schemas.microsoft.com/office/drawing/2014/main" id="{3A193609-1AB8-40BC-9FEB-E389D2008ABA}"/>
              </a:ext>
            </a:extLst>
          </p:cNvPr>
          <p:cNvSpPr>
            <a:spLocks xmlns:a="http://schemas.openxmlformats.org/drawingml/2006/main" noGrp="1"/>
          </p:cNvSpPr>
          <p:nvPr/>
        </p:nvSpPr>
        <p:spPr>
          <a:xfrm xmlns:a="http://schemas.openxmlformats.org/drawingml/2006/main">
            <a:off x="3790950" y="4438650"/>
            <a:ext cx="4000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376B4F"/>
                </a:solidFill>
                <a:latin typeface="Aptos"/>
                <a:ea typeface="Aptos"/>
                <a:cs typeface="Aptos"/>
              </a:defRPr>
            </a:pPr>
            <a:r>
              <a:rPr sz="1500" b="1">
                <a:solidFill>
                  <a:srgbClr val="376B4F"/>
                </a:solidFill>
                <a:latin typeface="Aptos"/>
                <a:ea typeface="Aptos"/>
                <a:cs typeface="Aptos"/>
              </a:rPr>
              <a:t>Data written to Amazon RDS or DynamoDB</a:t>
            </a:r>
          </a:p>
        </p:txBody>
      </p:sp>
      <p:sp>
        <p:nvSpPr>
          <p:cNvPr id="25" name="">
            <a:extLst xmlns:a="http://schemas.openxmlformats.org/drawingml/2006/main">
              <a:ext uri="{FF2B5EF4-FFF2-40B4-BE49-F238E27FC236}">
                <a16:creationId xmlns:a16="http://schemas.microsoft.com/office/drawing/2014/main" id="{F48EFED6-BB67-44C1-A32F-343E93F7B111}"/>
              </a:ext>
            </a:extLst>
          </p:cNvPr>
          <p:cNvSpPr>
            <a:spLocks xmlns:a="http://schemas.openxmlformats.org/drawingml/2006/main" noGrp="1"/>
          </p:cNvSpPr>
          <p:nvPr/>
        </p:nvSpPr>
        <p:spPr>
          <a:xfrm xmlns:a="http://schemas.openxmlformats.org/drawingml/2006/main">
            <a:off x="5810250" y="3790950"/>
            <a:ext cx="0" cy="571500"/>
          </a:xfrm>
          <a:prstGeom xmlns:a="http://schemas.openxmlformats.org/drawingml/2006/main" prst="line">
            <a:avLst/>
          </a:prstGeom>
          <a:solidFill xmlns:a="http://schemas.openxmlformats.org/drawingml/2006/main">
            <a:srgbClr val="000000">
              <a:alpha val="0"/>
            </a:srgbClr>
          </a:solidFill>
          <a:ln xmlns:a="http://schemas.openxmlformats.org/drawingml/2006/main" w="19050">
            <a:solidFill>
              <a:srgbClr val="376B4F"/>
            </a:solidFill>
            <a:prstDash val="solid"/>
          </a:ln>
        </p:spPr>
      </p:sp>
      <p:sp>
        <p:nvSpPr>
          <p:cNvPr id="26" name="">
            <a:extLst xmlns:a="http://schemas.openxmlformats.org/drawingml/2006/main">
              <a:ext uri="{FF2B5EF4-FFF2-40B4-BE49-F238E27FC236}">
                <a16:creationId xmlns:a16="http://schemas.microsoft.com/office/drawing/2014/main" id="{062BC151-5A05-418E-B374-2AE10410199F}"/>
              </a:ext>
            </a:extLst>
          </p:cNvPr>
          <p:cNvSpPr>
            <a:spLocks xmlns:a="http://schemas.openxmlformats.org/drawingml/2006/main" noGrp="1"/>
          </p:cNvSpPr>
          <p:nvPr/>
        </p:nvSpPr>
        <p:spPr>
          <a:xfrm xmlns:a="http://schemas.openxmlformats.org/drawingml/2006/main">
            <a:off x="1809750" y="5238750"/>
            <a:ext cx="80962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0">
                <a:solidFill>
                  <a:srgbClr val="111111"/>
                </a:solidFill>
                <a:latin typeface="Georgia"/>
                <a:ea typeface="Georgia"/>
                <a:cs typeface="Georgia"/>
              </a:defRPr>
            </a:pPr>
            <a:r>
              <a:rPr sz="2100" b="0">
                <a:solidFill>
                  <a:srgbClr val="111111"/>
                </a:solidFill>
                <a:latin typeface="Georgia"/>
                <a:ea typeface="Georgia"/>
                <a:cs typeface="Georgia"/>
              </a:rPr>
              <a:t>Operational result: fewer double bookings, fewer order mistakes, and faster customer confirmations.</a:t>
            </a:r>
          </a:p>
        </p:txBody>
      </p:sp>
      <p:sp>
        <p:nvSpPr>
          <p:cNvPr id="27" name="">
            <a:extLst xmlns:a="http://schemas.openxmlformats.org/drawingml/2006/main">
              <a:ext uri="{FF2B5EF4-FFF2-40B4-BE49-F238E27FC236}">
                <a16:creationId xmlns:a16="http://schemas.microsoft.com/office/drawing/2014/main" id="{202B9A0B-030F-49B7-B4A0-9F9770FC59A8}"/>
              </a:ext>
            </a:extLst>
          </p:cNvPr>
          <p:cNvSpPr>
            <a:spLocks xmlns:a="http://schemas.openxmlformats.org/drawingml/2006/main" noGrp="1"/>
          </p:cNvSpPr>
          <p:nvPr/>
        </p:nvSpPr>
        <p:spPr>
          <a:xfrm xmlns:a="http://schemas.openxmlformats.org/drawingml/2006/main">
            <a:off x="666750" y="65151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F737A"/>
                </a:solidFill>
                <a:latin typeface="Aptos"/>
                <a:ea typeface="Aptos"/>
                <a:cs typeface="Aptos"/>
              </a:defRPr>
            </a:pPr>
            <a:r>
              <a:rPr sz="750" b="0">
                <a:solidFill>
                  <a:srgbClr val="6F737A"/>
                </a:solidFill>
                <a:latin typeface="Aptos"/>
                <a:ea typeface="Aptos"/>
                <a:cs typeface="Aptos"/>
              </a:rPr>
              <a:t>Source: zani-eatery-aws-report.md and deployed S3 website</a:t>
            </a:r>
          </a:p>
        </p:txBody>
      </p:sp>
      <p:sp>
        <p:nvSpPr>
          <p:cNvPr id="28" name="">
            <a:extLst xmlns:a="http://schemas.openxmlformats.org/drawingml/2006/main">
              <a:ext uri="{FF2B5EF4-FFF2-40B4-BE49-F238E27FC236}">
                <a16:creationId xmlns:a16="http://schemas.microsoft.com/office/drawing/2014/main" id="{F13CAFAD-217D-41D9-87EA-FDE84DDA59E4}"/>
              </a:ext>
            </a:extLst>
          </p:cNvPr>
          <p:cNvSpPr>
            <a:spLocks xmlns:a="http://schemas.openxmlformats.org/drawingml/2006/main" noGrp="1"/>
          </p:cNvSpPr>
          <p:nvPr/>
        </p:nvSpPr>
        <p:spPr>
          <a:xfrm xmlns:a="http://schemas.openxmlformats.org/drawingml/2006/main">
            <a:off x="11239500" y="6438900"/>
            <a:ext cx="381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6F737A"/>
                </a:solidFill>
                <a:latin typeface="Aptos Mono"/>
                <a:ea typeface="Aptos Mono"/>
                <a:cs typeface="Aptos Mono"/>
              </a:defRPr>
            </a:pPr>
            <a:r>
              <a:rPr sz="900" b="0">
                <a:solidFill>
                  <a:srgbClr val="6F737A"/>
                </a:solidFill>
                <a:latin typeface="Aptos Mono"/>
                <a:ea typeface="Aptos Mono"/>
                <a:cs typeface="Aptos Mono"/>
              </a:rPr>
              <a:t>09</a:t>
            </a:r>
          </a:p>
        </p:txBody>
      </p:sp>
    </p:spTree>
    <p:extLst>
      <p:ext uri="{BB962C8B-B14F-4D97-AF65-F5344CB8AC3E}">
        <p14:creationId xmlns:p14="http://schemas.microsoft.com/office/powerpoint/2010/main" val="22271630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14EC5F5-CAF0-42A0-903B-26B24DACC08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AF7F0"/>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464E5A4-21E5-4084-91BB-82004982C1D6}"/>
              </a:ext>
            </a:extLst>
          </p:cNvPr>
          <p:cNvSpPr>
            <a:spLocks xmlns:a="http://schemas.openxmlformats.org/drawingml/2006/main" noGrp="1"/>
          </p:cNvSpPr>
          <p:nvPr/>
        </p:nvSpPr>
        <p:spPr>
          <a:xfrm xmlns:a="http://schemas.openxmlformats.org/drawingml/2006/main">
            <a:off x="666750" y="581025"/>
            <a:ext cx="323850" cy="19050"/>
          </a:xfrm>
          <a:prstGeom xmlns:a="http://schemas.openxmlformats.org/drawingml/2006/main" prst="rect">
            <a:avLst/>
          </a:prstGeom>
          <a:solidFill xmlns:a="http://schemas.openxmlformats.org/drawingml/2006/main">
            <a:srgbClr val="D9B72F"/>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4DB2FECE-2FE7-4B54-97E2-BF04BC0ED001}"/>
              </a:ext>
            </a:extLst>
          </p:cNvPr>
          <p:cNvSpPr>
            <a:spLocks xmlns:a="http://schemas.openxmlformats.org/drawingml/2006/main" noGrp="1"/>
          </p:cNvSpPr>
          <p:nvPr/>
        </p:nvSpPr>
        <p:spPr>
          <a:xfrm xmlns:a="http://schemas.openxmlformats.org/drawingml/2006/main">
            <a:off x="1104900" y="51435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D9B72F"/>
                </a:solidFill>
                <a:latin typeface="Aptos Mono"/>
                <a:ea typeface="Aptos Mono"/>
                <a:cs typeface="Aptos Mono"/>
              </a:defRPr>
            </a:pPr>
            <a:r>
              <a:rPr sz="975" b="1">
                <a:solidFill>
                  <a:srgbClr val="D9B72F"/>
                </a:solidFill>
                <a:latin typeface="Aptos Mono"/>
                <a:ea typeface="Aptos Mono"/>
                <a:cs typeface="Aptos Mono"/>
              </a:rPr>
              <a:t>MIGRATION APPROACH</a:t>
            </a:r>
          </a:p>
        </p:txBody>
      </p:sp>
      <p:sp>
        <p:nvSpPr>
          <p:cNvPr id="4" name="">
            <a:extLst xmlns:a="http://schemas.openxmlformats.org/drawingml/2006/main">
              <a:ext uri="{FF2B5EF4-FFF2-40B4-BE49-F238E27FC236}">
                <a16:creationId xmlns:a16="http://schemas.microsoft.com/office/drawing/2014/main" id="{D637FCCF-EFC5-40F6-853E-F5A93D7C1F26}"/>
              </a:ext>
            </a:extLst>
          </p:cNvPr>
          <p:cNvSpPr>
            <a:spLocks xmlns:a="http://schemas.openxmlformats.org/drawingml/2006/main" noGrp="1"/>
          </p:cNvSpPr>
          <p:nvPr/>
        </p:nvSpPr>
        <p:spPr>
          <a:xfrm xmlns:a="http://schemas.openxmlformats.org/drawingml/2006/main">
            <a:off x="666750" y="838200"/>
            <a:ext cx="752475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0">
                <a:solidFill>
                  <a:srgbClr val="111111"/>
                </a:solidFill>
                <a:latin typeface="Georgia"/>
                <a:ea typeface="Georgia"/>
                <a:cs typeface="Georgia"/>
              </a:defRPr>
            </a:pPr>
            <a:r>
              <a:rPr sz="3150" b="0">
                <a:solidFill>
                  <a:srgbClr val="111111"/>
                </a:solidFill>
                <a:latin typeface="Georgia"/>
                <a:ea typeface="Georgia"/>
                <a:cs typeface="Georgia"/>
              </a:rPr>
              <a:t>The migration is phased so the restaurant gets value early.</a:t>
            </a:r>
          </a:p>
        </p:txBody>
      </p:sp>
      <p:sp>
        <p:nvSpPr>
          <p:cNvPr id="5" name="">
            <a:extLst xmlns:a="http://schemas.openxmlformats.org/drawingml/2006/main">
              <a:ext uri="{FF2B5EF4-FFF2-40B4-BE49-F238E27FC236}">
                <a16:creationId xmlns:a16="http://schemas.microsoft.com/office/drawing/2014/main" id="{E6D554FE-0D4E-4288-BEF1-4CDAC594A10A}"/>
              </a:ext>
            </a:extLst>
          </p:cNvPr>
          <p:cNvSpPr>
            <a:spLocks xmlns:a="http://schemas.openxmlformats.org/drawingml/2006/main" noGrp="1"/>
          </p:cNvSpPr>
          <p:nvPr/>
        </p:nvSpPr>
        <p:spPr>
          <a:xfrm xmlns:a="http://schemas.openxmlformats.org/drawingml/2006/main">
            <a:off x="838200" y="2324100"/>
            <a:ext cx="2914650" cy="2476500"/>
          </a:xfrm>
          <a:prstGeom xmlns:a="http://schemas.openxmlformats.org/drawingml/2006/main" prst="roundRect">
            <a:avLst>
              <a:gd name="adj" fmla="val 3077"/>
            </a:avLst>
          </a:prstGeom>
          <a:solidFill xmlns:a="http://schemas.openxmlformats.org/drawingml/2006/main">
            <a:srgbClr val="FFFDF7"/>
          </a:solidFill>
          <a:ln xmlns:a="http://schemas.openxmlformats.org/drawingml/2006/main" w="9525">
            <a:solidFill>
              <a:srgbClr val="D8D0C4"/>
            </a:solidFill>
            <a:prstDash val="solid"/>
          </a:ln>
        </p:spPr>
      </p:sp>
      <p:sp>
        <p:nvSpPr>
          <p:cNvPr id="6" name="">
            <a:extLst xmlns:a="http://schemas.openxmlformats.org/drawingml/2006/main">
              <a:ext uri="{FF2B5EF4-FFF2-40B4-BE49-F238E27FC236}">
                <a16:creationId xmlns:a16="http://schemas.microsoft.com/office/drawing/2014/main" id="{00F80822-4488-4876-B9E1-F42497736AAB}"/>
              </a:ext>
            </a:extLst>
          </p:cNvPr>
          <p:cNvSpPr>
            <a:spLocks xmlns:a="http://schemas.openxmlformats.org/drawingml/2006/main" noGrp="1"/>
          </p:cNvSpPr>
          <p:nvPr/>
        </p:nvSpPr>
        <p:spPr>
          <a:xfrm xmlns:a="http://schemas.openxmlformats.org/drawingml/2006/main">
            <a:off x="1104900" y="2609850"/>
            <a:ext cx="1524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B99322"/>
                </a:solidFill>
                <a:latin typeface="Aptos Mono"/>
                <a:ea typeface="Aptos Mono"/>
                <a:cs typeface="Aptos Mono"/>
              </a:defRPr>
            </a:pPr>
            <a:r>
              <a:rPr sz="1050" b="1">
                <a:solidFill>
                  <a:srgbClr val="B99322"/>
                </a:solidFill>
                <a:latin typeface="Aptos Mono"/>
                <a:ea typeface="Aptos Mono"/>
                <a:cs typeface="Aptos Mono"/>
              </a:rPr>
              <a:t>Phase 1</a:t>
            </a:r>
          </a:p>
        </p:txBody>
      </p:sp>
      <p:sp>
        <p:nvSpPr>
          <p:cNvPr id="7" name="">
            <a:extLst xmlns:a="http://schemas.openxmlformats.org/drawingml/2006/main">
              <a:ext uri="{FF2B5EF4-FFF2-40B4-BE49-F238E27FC236}">
                <a16:creationId xmlns:a16="http://schemas.microsoft.com/office/drawing/2014/main" id="{EE44973A-371F-4483-B199-D1794269A54F}"/>
              </a:ext>
            </a:extLst>
          </p:cNvPr>
          <p:cNvSpPr>
            <a:spLocks xmlns:a="http://schemas.openxmlformats.org/drawingml/2006/main" noGrp="1"/>
          </p:cNvSpPr>
          <p:nvPr/>
        </p:nvSpPr>
        <p:spPr>
          <a:xfrm xmlns:a="http://schemas.openxmlformats.org/drawingml/2006/main">
            <a:off x="1104900" y="2990850"/>
            <a:ext cx="21907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0">
                <a:solidFill>
                  <a:srgbClr val="111111"/>
                </a:solidFill>
                <a:latin typeface="Georgia"/>
                <a:ea typeface="Georgia"/>
                <a:cs typeface="Georgia"/>
              </a:defRPr>
            </a:pPr>
            <a:r>
              <a:rPr sz="2175" b="0">
                <a:solidFill>
                  <a:srgbClr val="111111"/>
                </a:solidFill>
                <a:latin typeface="Georgia"/>
                <a:ea typeface="Georgia"/>
                <a:cs typeface="Georgia"/>
              </a:rPr>
              <a:t>Static website</a:t>
            </a:r>
          </a:p>
        </p:txBody>
      </p:sp>
      <p:sp>
        <p:nvSpPr>
          <p:cNvPr id="8" name="">
            <a:extLst xmlns:a="http://schemas.openxmlformats.org/drawingml/2006/main">
              <a:ext uri="{FF2B5EF4-FFF2-40B4-BE49-F238E27FC236}">
                <a16:creationId xmlns:a16="http://schemas.microsoft.com/office/drawing/2014/main" id="{93B22ED8-69EE-4CCF-AD0B-2F3CD0723A76}"/>
              </a:ext>
            </a:extLst>
          </p:cNvPr>
          <p:cNvSpPr>
            <a:spLocks xmlns:a="http://schemas.openxmlformats.org/drawingml/2006/main" noGrp="1"/>
          </p:cNvSpPr>
          <p:nvPr/>
        </p:nvSpPr>
        <p:spPr>
          <a:xfrm xmlns:a="http://schemas.openxmlformats.org/drawingml/2006/main">
            <a:off x="1104900" y="3638550"/>
            <a:ext cx="224790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6F737A"/>
                </a:solidFill>
                <a:latin typeface="Aptos"/>
                <a:ea typeface="Aptos"/>
                <a:cs typeface="Aptos"/>
              </a:defRPr>
            </a:pPr>
            <a:r>
              <a:rPr sz="1275" b="0">
                <a:solidFill>
                  <a:srgbClr val="6F737A"/>
                </a:solidFill>
                <a:latin typeface="Aptos"/>
                <a:ea typeface="Aptos"/>
                <a:cs typeface="Aptos"/>
              </a:rPr>
              <a:t>Publish menu, brand pages, contact details, and basic order journey on S3.</a:t>
            </a:r>
          </a:p>
        </p:txBody>
      </p:sp>
      <p:sp>
        <p:nvSpPr>
          <p:cNvPr id="9" name="">
            <a:extLst xmlns:a="http://schemas.openxmlformats.org/drawingml/2006/main">
              <a:ext uri="{FF2B5EF4-FFF2-40B4-BE49-F238E27FC236}">
                <a16:creationId xmlns:a16="http://schemas.microsoft.com/office/drawing/2014/main" id="{2DFCAEE9-2A3A-47B1-9900-9669891B3871}"/>
              </a:ext>
            </a:extLst>
          </p:cNvPr>
          <p:cNvSpPr>
            <a:spLocks xmlns:a="http://schemas.openxmlformats.org/drawingml/2006/main" noGrp="1"/>
          </p:cNvSpPr>
          <p:nvPr/>
        </p:nvSpPr>
        <p:spPr>
          <a:xfrm xmlns:a="http://schemas.openxmlformats.org/drawingml/2006/main">
            <a:off x="3752850" y="3562350"/>
            <a:ext cx="571500" cy="0"/>
          </a:xfrm>
          <a:prstGeom xmlns:a="http://schemas.openxmlformats.org/drawingml/2006/main" prst="line">
            <a:avLst/>
          </a:prstGeom>
          <a:solidFill xmlns:a="http://schemas.openxmlformats.org/drawingml/2006/main">
            <a:srgbClr val="000000">
              <a:alpha val="0"/>
            </a:srgbClr>
          </a:solidFill>
          <a:ln xmlns:a="http://schemas.openxmlformats.org/drawingml/2006/main" w="28575">
            <a:solidFill>
              <a:srgbClr val="D9B72F"/>
            </a:solidFill>
            <a:prstDash val="solid"/>
          </a:ln>
        </p:spPr>
      </p:sp>
      <p:sp>
        <p:nvSpPr>
          <p:cNvPr id="10" name="">
            <a:extLst xmlns:a="http://schemas.openxmlformats.org/drawingml/2006/main">
              <a:ext uri="{FF2B5EF4-FFF2-40B4-BE49-F238E27FC236}">
                <a16:creationId xmlns:a16="http://schemas.microsoft.com/office/drawing/2014/main" id="{8A5C22EB-B6A3-43D3-AD7C-184BB8E87171}"/>
              </a:ext>
            </a:extLst>
          </p:cNvPr>
          <p:cNvSpPr>
            <a:spLocks xmlns:a="http://schemas.openxmlformats.org/drawingml/2006/main" noGrp="1"/>
          </p:cNvSpPr>
          <p:nvPr/>
        </p:nvSpPr>
        <p:spPr>
          <a:xfrm xmlns:a="http://schemas.openxmlformats.org/drawingml/2006/main">
            <a:off x="4381500" y="2324100"/>
            <a:ext cx="2914650" cy="2476500"/>
          </a:xfrm>
          <a:prstGeom xmlns:a="http://schemas.openxmlformats.org/drawingml/2006/main" prst="roundRect">
            <a:avLst>
              <a:gd name="adj" fmla="val 3077"/>
            </a:avLst>
          </a:prstGeom>
          <a:solidFill xmlns:a="http://schemas.openxmlformats.org/drawingml/2006/main">
            <a:srgbClr val="242629"/>
          </a:solidFill>
          <a:ln xmlns:a="http://schemas.openxmlformats.org/drawingml/2006/main" w="9525">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1EB47E3B-E8AF-439E-BF10-33105D90225E}"/>
              </a:ext>
            </a:extLst>
          </p:cNvPr>
          <p:cNvSpPr>
            <a:spLocks xmlns:a="http://schemas.openxmlformats.org/drawingml/2006/main" noGrp="1"/>
          </p:cNvSpPr>
          <p:nvPr/>
        </p:nvSpPr>
        <p:spPr>
          <a:xfrm xmlns:a="http://schemas.openxmlformats.org/drawingml/2006/main">
            <a:off x="4648200" y="2609850"/>
            <a:ext cx="1524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D9B72F"/>
                </a:solidFill>
                <a:latin typeface="Aptos Mono"/>
                <a:ea typeface="Aptos Mono"/>
                <a:cs typeface="Aptos Mono"/>
              </a:defRPr>
            </a:pPr>
            <a:r>
              <a:rPr sz="1050" b="1">
                <a:solidFill>
                  <a:srgbClr val="D9B72F"/>
                </a:solidFill>
                <a:latin typeface="Aptos Mono"/>
                <a:ea typeface="Aptos Mono"/>
                <a:cs typeface="Aptos Mono"/>
              </a:rPr>
              <a:t>Phase 2</a:t>
            </a:r>
          </a:p>
        </p:txBody>
      </p:sp>
      <p:sp>
        <p:nvSpPr>
          <p:cNvPr id="12" name="">
            <a:extLst xmlns:a="http://schemas.openxmlformats.org/drawingml/2006/main">
              <a:ext uri="{FF2B5EF4-FFF2-40B4-BE49-F238E27FC236}">
                <a16:creationId xmlns:a16="http://schemas.microsoft.com/office/drawing/2014/main" id="{92EB6D79-BFCE-4D8E-95A2-DB2A49C6D17B}"/>
              </a:ext>
            </a:extLst>
          </p:cNvPr>
          <p:cNvSpPr>
            <a:spLocks xmlns:a="http://schemas.openxmlformats.org/drawingml/2006/main" noGrp="1"/>
          </p:cNvSpPr>
          <p:nvPr/>
        </p:nvSpPr>
        <p:spPr>
          <a:xfrm xmlns:a="http://schemas.openxmlformats.org/drawingml/2006/main">
            <a:off x="4648200" y="2990850"/>
            <a:ext cx="21907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0">
                <a:solidFill>
                  <a:srgbClr val="FFFFFF"/>
                </a:solidFill>
                <a:latin typeface="Georgia"/>
                <a:ea typeface="Georgia"/>
                <a:cs typeface="Georgia"/>
              </a:defRPr>
            </a:pPr>
            <a:r>
              <a:rPr sz="2175" b="0">
                <a:solidFill>
                  <a:srgbClr val="FFFFFF"/>
                </a:solidFill>
                <a:latin typeface="Georgia"/>
                <a:ea typeface="Georgia"/>
                <a:cs typeface="Georgia"/>
              </a:rPr>
              <a:t>Secure workflows</a:t>
            </a:r>
          </a:p>
        </p:txBody>
      </p:sp>
      <p:sp>
        <p:nvSpPr>
          <p:cNvPr id="13" name="">
            <a:extLst xmlns:a="http://schemas.openxmlformats.org/drawingml/2006/main">
              <a:ext uri="{FF2B5EF4-FFF2-40B4-BE49-F238E27FC236}">
                <a16:creationId xmlns:a16="http://schemas.microsoft.com/office/drawing/2014/main" id="{04D4FDDB-6E76-4AB7-999A-06F8494F7EE2}"/>
              </a:ext>
            </a:extLst>
          </p:cNvPr>
          <p:cNvSpPr>
            <a:spLocks xmlns:a="http://schemas.openxmlformats.org/drawingml/2006/main" noGrp="1"/>
          </p:cNvSpPr>
          <p:nvPr/>
        </p:nvSpPr>
        <p:spPr>
          <a:xfrm xmlns:a="http://schemas.openxmlformats.org/drawingml/2006/main">
            <a:off x="4648200" y="3638550"/>
            <a:ext cx="224790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E8E1D7"/>
                </a:solidFill>
                <a:latin typeface="Aptos"/>
                <a:ea typeface="Aptos"/>
                <a:cs typeface="Aptos"/>
              </a:defRPr>
            </a:pPr>
            <a:r>
              <a:rPr sz="1275" b="0">
                <a:solidFill>
                  <a:srgbClr val="E8E1D7"/>
                </a:solidFill>
                <a:latin typeface="Aptos"/>
                <a:ea typeface="Aptos"/>
                <a:cs typeface="Aptos"/>
              </a:rPr>
              <a:t>Add Cognito, API Gateway, Lambda, and database-backed bookings/orders.</a:t>
            </a:r>
          </a:p>
        </p:txBody>
      </p:sp>
      <p:sp>
        <p:nvSpPr>
          <p:cNvPr id="14" name="">
            <a:extLst xmlns:a="http://schemas.openxmlformats.org/drawingml/2006/main">
              <a:ext uri="{FF2B5EF4-FFF2-40B4-BE49-F238E27FC236}">
                <a16:creationId xmlns:a16="http://schemas.microsoft.com/office/drawing/2014/main" id="{D93214C4-85B8-435B-B1D8-41965B85908C}"/>
              </a:ext>
            </a:extLst>
          </p:cNvPr>
          <p:cNvSpPr>
            <a:spLocks xmlns:a="http://schemas.openxmlformats.org/drawingml/2006/main" noGrp="1"/>
          </p:cNvSpPr>
          <p:nvPr/>
        </p:nvSpPr>
        <p:spPr>
          <a:xfrm xmlns:a="http://schemas.openxmlformats.org/drawingml/2006/main">
            <a:off x="7296150" y="3562350"/>
            <a:ext cx="571500" cy="0"/>
          </a:xfrm>
          <a:prstGeom xmlns:a="http://schemas.openxmlformats.org/drawingml/2006/main" prst="line">
            <a:avLst/>
          </a:prstGeom>
          <a:solidFill xmlns:a="http://schemas.openxmlformats.org/drawingml/2006/main">
            <a:srgbClr val="000000">
              <a:alpha val="0"/>
            </a:srgbClr>
          </a:solidFill>
          <a:ln xmlns:a="http://schemas.openxmlformats.org/drawingml/2006/main" w="28575">
            <a:solidFill>
              <a:srgbClr val="D9B72F"/>
            </a:solidFill>
            <a:prstDash val="solid"/>
          </a:ln>
        </p:spPr>
      </p:sp>
      <p:sp>
        <p:nvSpPr>
          <p:cNvPr id="15" name="">
            <a:extLst xmlns:a="http://schemas.openxmlformats.org/drawingml/2006/main">
              <a:ext uri="{FF2B5EF4-FFF2-40B4-BE49-F238E27FC236}">
                <a16:creationId xmlns:a16="http://schemas.microsoft.com/office/drawing/2014/main" id="{E7048464-2AA5-4ED7-A375-5C2A32E35576}"/>
              </a:ext>
            </a:extLst>
          </p:cNvPr>
          <p:cNvSpPr>
            <a:spLocks xmlns:a="http://schemas.openxmlformats.org/drawingml/2006/main" noGrp="1"/>
          </p:cNvSpPr>
          <p:nvPr/>
        </p:nvSpPr>
        <p:spPr>
          <a:xfrm xmlns:a="http://schemas.openxmlformats.org/drawingml/2006/main">
            <a:off x="7924800" y="2324100"/>
            <a:ext cx="2914650" cy="2476500"/>
          </a:xfrm>
          <a:prstGeom xmlns:a="http://schemas.openxmlformats.org/drawingml/2006/main" prst="roundRect">
            <a:avLst>
              <a:gd name="adj" fmla="val 3077"/>
            </a:avLst>
          </a:prstGeom>
          <a:solidFill xmlns:a="http://schemas.openxmlformats.org/drawingml/2006/main">
            <a:srgbClr val="FFFDF7"/>
          </a:solidFill>
          <a:ln xmlns:a="http://schemas.openxmlformats.org/drawingml/2006/main" w="9525">
            <a:solidFill>
              <a:srgbClr val="D8D0C4"/>
            </a:solidFill>
            <a:prstDash val="solid"/>
          </a:ln>
        </p:spPr>
      </p:sp>
      <p:sp>
        <p:nvSpPr>
          <p:cNvPr id="16" name="">
            <a:extLst xmlns:a="http://schemas.openxmlformats.org/drawingml/2006/main">
              <a:ext uri="{FF2B5EF4-FFF2-40B4-BE49-F238E27FC236}">
                <a16:creationId xmlns:a16="http://schemas.microsoft.com/office/drawing/2014/main" id="{436F3B65-0673-41F6-B9E6-6E6B119BB7BE}"/>
              </a:ext>
            </a:extLst>
          </p:cNvPr>
          <p:cNvSpPr>
            <a:spLocks xmlns:a="http://schemas.openxmlformats.org/drawingml/2006/main" noGrp="1"/>
          </p:cNvSpPr>
          <p:nvPr/>
        </p:nvSpPr>
        <p:spPr>
          <a:xfrm xmlns:a="http://schemas.openxmlformats.org/drawingml/2006/main">
            <a:off x="8191500" y="2609850"/>
            <a:ext cx="1524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B99322"/>
                </a:solidFill>
                <a:latin typeface="Aptos Mono"/>
                <a:ea typeface="Aptos Mono"/>
                <a:cs typeface="Aptos Mono"/>
              </a:defRPr>
            </a:pPr>
            <a:r>
              <a:rPr sz="1050" b="1">
                <a:solidFill>
                  <a:srgbClr val="B99322"/>
                </a:solidFill>
                <a:latin typeface="Aptos Mono"/>
                <a:ea typeface="Aptos Mono"/>
                <a:cs typeface="Aptos Mono"/>
              </a:rPr>
              <a:t>Phase 3</a:t>
            </a:r>
          </a:p>
        </p:txBody>
      </p:sp>
      <p:sp>
        <p:nvSpPr>
          <p:cNvPr id="17" name="">
            <a:extLst xmlns:a="http://schemas.openxmlformats.org/drawingml/2006/main">
              <a:ext uri="{FF2B5EF4-FFF2-40B4-BE49-F238E27FC236}">
                <a16:creationId xmlns:a16="http://schemas.microsoft.com/office/drawing/2014/main" id="{11A4A519-4B2B-43CF-B96F-12369F75FC08}"/>
              </a:ext>
            </a:extLst>
          </p:cNvPr>
          <p:cNvSpPr>
            <a:spLocks xmlns:a="http://schemas.openxmlformats.org/drawingml/2006/main" noGrp="1"/>
          </p:cNvSpPr>
          <p:nvPr/>
        </p:nvSpPr>
        <p:spPr>
          <a:xfrm xmlns:a="http://schemas.openxmlformats.org/drawingml/2006/main">
            <a:off x="8191500" y="2990850"/>
            <a:ext cx="219075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0">
                <a:solidFill>
                  <a:srgbClr val="111111"/>
                </a:solidFill>
                <a:latin typeface="Georgia"/>
                <a:ea typeface="Georgia"/>
                <a:cs typeface="Georgia"/>
              </a:defRPr>
            </a:pPr>
            <a:r>
              <a:rPr sz="2175" b="0">
                <a:solidFill>
                  <a:srgbClr val="111111"/>
                </a:solidFill>
                <a:latin typeface="Georgia"/>
                <a:ea typeface="Georgia"/>
                <a:cs typeface="Georgia"/>
              </a:rPr>
              <a:t>Operate and improve</a:t>
            </a:r>
          </a:p>
        </p:txBody>
      </p:sp>
      <p:sp>
        <p:nvSpPr>
          <p:cNvPr id="18" name="">
            <a:extLst xmlns:a="http://schemas.openxmlformats.org/drawingml/2006/main">
              <a:ext uri="{FF2B5EF4-FFF2-40B4-BE49-F238E27FC236}">
                <a16:creationId xmlns:a16="http://schemas.microsoft.com/office/drawing/2014/main" id="{01ED0576-DE14-4E0E-8A29-90A588E3CE40}"/>
              </a:ext>
            </a:extLst>
          </p:cNvPr>
          <p:cNvSpPr>
            <a:spLocks xmlns:a="http://schemas.openxmlformats.org/drawingml/2006/main" noGrp="1"/>
          </p:cNvSpPr>
          <p:nvPr/>
        </p:nvSpPr>
        <p:spPr>
          <a:xfrm xmlns:a="http://schemas.openxmlformats.org/drawingml/2006/main">
            <a:off x="8191500" y="3638550"/>
            <a:ext cx="224790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6F737A"/>
                </a:solidFill>
                <a:latin typeface="Aptos"/>
                <a:ea typeface="Aptos"/>
                <a:cs typeface="Aptos"/>
              </a:defRPr>
            </a:pPr>
            <a:r>
              <a:rPr sz="1275" b="0">
                <a:solidFill>
                  <a:srgbClr val="6F737A"/>
                </a:solidFill>
                <a:latin typeface="Aptos"/>
                <a:ea typeface="Aptos"/>
                <a:cs typeface="Aptos"/>
              </a:rPr>
              <a:t>Add monitoring, analytics, automated notifications, and cost controls.</a:t>
            </a:r>
          </a:p>
        </p:txBody>
      </p:sp>
      <p:sp>
        <p:nvSpPr>
          <p:cNvPr id="19" name="">
            <a:extLst xmlns:a="http://schemas.openxmlformats.org/drawingml/2006/main">
              <a:ext uri="{FF2B5EF4-FFF2-40B4-BE49-F238E27FC236}">
                <a16:creationId xmlns:a16="http://schemas.microsoft.com/office/drawing/2014/main" id="{FB72BF87-2AF4-47D3-A8DA-A49BFEEB9651}"/>
              </a:ext>
            </a:extLst>
          </p:cNvPr>
          <p:cNvSpPr>
            <a:spLocks xmlns:a="http://schemas.openxmlformats.org/drawingml/2006/main" noGrp="1"/>
          </p:cNvSpPr>
          <p:nvPr/>
        </p:nvSpPr>
        <p:spPr>
          <a:xfrm xmlns:a="http://schemas.openxmlformats.org/drawingml/2006/main">
            <a:off x="1619250" y="5410200"/>
            <a:ext cx="80962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650" b="0">
                <a:solidFill>
                  <a:srgbClr val="111111"/>
                </a:solidFill>
                <a:latin typeface="Aptos"/>
                <a:ea typeface="Aptos"/>
                <a:cs typeface="Aptos"/>
              </a:defRPr>
            </a:pPr>
            <a:r>
              <a:rPr sz="1650" b="0">
                <a:solidFill>
                  <a:srgbClr val="111111"/>
                </a:solidFill>
                <a:latin typeface="Aptos"/>
                <a:ea typeface="Aptos"/>
                <a:cs typeface="Aptos"/>
              </a:rPr>
              <a:t>Architecture principle: start with the lowest operational burden, then add managed services only where the business workflow needs them.</a:t>
            </a:r>
          </a:p>
        </p:txBody>
      </p:sp>
      <p:sp>
        <p:nvSpPr>
          <p:cNvPr id="20" name="">
            <a:extLst xmlns:a="http://schemas.openxmlformats.org/drawingml/2006/main">
              <a:ext uri="{FF2B5EF4-FFF2-40B4-BE49-F238E27FC236}">
                <a16:creationId xmlns:a16="http://schemas.microsoft.com/office/drawing/2014/main" id="{92C69CB4-AB59-44A9-8854-5FD49A357A23}"/>
              </a:ext>
            </a:extLst>
          </p:cNvPr>
          <p:cNvSpPr>
            <a:spLocks xmlns:a="http://schemas.openxmlformats.org/drawingml/2006/main" noGrp="1"/>
          </p:cNvSpPr>
          <p:nvPr/>
        </p:nvSpPr>
        <p:spPr>
          <a:xfrm xmlns:a="http://schemas.openxmlformats.org/drawingml/2006/main">
            <a:off x="666750" y="65151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F737A"/>
                </a:solidFill>
                <a:latin typeface="Aptos"/>
                <a:ea typeface="Aptos"/>
                <a:cs typeface="Aptos"/>
              </a:defRPr>
            </a:pPr>
            <a:r>
              <a:rPr sz="750" b="0">
                <a:solidFill>
                  <a:srgbClr val="6F737A"/>
                </a:solidFill>
                <a:latin typeface="Aptos"/>
                <a:ea typeface="Aptos"/>
                <a:cs typeface="Aptos"/>
              </a:rPr>
              <a:t>Source: zani-eatery-aws-report.md and deployed S3 website</a:t>
            </a:r>
          </a:p>
        </p:txBody>
      </p:sp>
      <p:sp>
        <p:nvSpPr>
          <p:cNvPr id="21" name="">
            <a:extLst xmlns:a="http://schemas.openxmlformats.org/drawingml/2006/main">
              <a:ext uri="{FF2B5EF4-FFF2-40B4-BE49-F238E27FC236}">
                <a16:creationId xmlns:a16="http://schemas.microsoft.com/office/drawing/2014/main" id="{49120B73-F335-4C1C-800A-E156FFE9830F}"/>
              </a:ext>
            </a:extLst>
          </p:cNvPr>
          <p:cNvSpPr>
            <a:spLocks xmlns:a="http://schemas.openxmlformats.org/drawingml/2006/main" noGrp="1"/>
          </p:cNvSpPr>
          <p:nvPr/>
        </p:nvSpPr>
        <p:spPr>
          <a:xfrm xmlns:a="http://schemas.openxmlformats.org/drawingml/2006/main">
            <a:off x="11239500" y="6438900"/>
            <a:ext cx="381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6F737A"/>
                </a:solidFill>
                <a:latin typeface="Aptos Mono"/>
                <a:ea typeface="Aptos Mono"/>
                <a:cs typeface="Aptos Mono"/>
              </a:defRPr>
            </a:pPr>
            <a:r>
              <a:rPr sz="900" b="0">
                <a:solidFill>
                  <a:srgbClr val="6F737A"/>
                </a:solidFill>
                <a:latin typeface="Aptos Mono"/>
                <a:ea typeface="Aptos Mono"/>
                <a:cs typeface="Aptos Mono"/>
              </a:rPr>
              <a:t>10</a:t>
            </a:r>
          </a:p>
        </p:txBody>
      </p:sp>
    </p:spTree>
    <p:extLst>
      <p:ext uri="{BB962C8B-B14F-4D97-AF65-F5344CB8AC3E}">
        <p14:creationId xmlns:p14="http://schemas.microsoft.com/office/powerpoint/2010/main" val="174220241"/>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B4E9776-EB7C-4C7C-9A8C-A510F180E5B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242629"/>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5114121F-AD9D-47F4-9EFD-11519514F457}"/>
              </a:ext>
            </a:extLst>
          </p:cNvPr>
          <p:cNvSpPr>
            <a:spLocks xmlns:a="http://schemas.openxmlformats.org/drawingml/2006/main" noGrp="1"/>
          </p:cNvSpPr>
          <p:nvPr/>
        </p:nvSpPr>
        <p:spPr>
          <a:xfrm xmlns:a="http://schemas.openxmlformats.org/drawingml/2006/main">
            <a:off x="666750" y="542925"/>
            <a:ext cx="323850" cy="19050"/>
          </a:xfrm>
          <a:prstGeom xmlns:a="http://schemas.openxmlformats.org/drawingml/2006/main" prst="rect">
            <a:avLst/>
          </a:prstGeom>
          <a:solidFill xmlns:a="http://schemas.openxmlformats.org/drawingml/2006/main">
            <a:srgbClr val="D9B72F"/>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C95023F0-5F5D-48AF-9D89-7173620A448A}"/>
              </a:ext>
            </a:extLst>
          </p:cNvPr>
          <p:cNvSpPr>
            <a:spLocks xmlns:a="http://schemas.openxmlformats.org/drawingml/2006/main" noGrp="1"/>
          </p:cNvSpPr>
          <p:nvPr/>
        </p:nvSpPr>
        <p:spPr>
          <a:xfrm xmlns:a="http://schemas.openxmlformats.org/drawingml/2006/main">
            <a:off x="1104900" y="47625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D9B72F"/>
                </a:solidFill>
                <a:latin typeface="Aptos Mono"/>
                <a:ea typeface="Aptos Mono"/>
                <a:cs typeface="Aptos Mono"/>
              </a:defRPr>
            </a:pPr>
            <a:r>
              <a:rPr sz="975" b="1">
                <a:solidFill>
                  <a:srgbClr val="D9B72F"/>
                </a:solidFill>
                <a:latin typeface="Aptos Mono"/>
                <a:ea typeface="Aptos Mono"/>
                <a:cs typeface="Aptos Mono"/>
              </a:rPr>
              <a:t>BENEFITS</a:t>
            </a:r>
          </a:p>
        </p:txBody>
      </p:sp>
      <p:sp>
        <p:nvSpPr>
          <p:cNvPr id="4" name="">
            <a:extLst xmlns:a="http://schemas.openxmlformats.org/drawingml/2006/main">
              <a:ext uri="{FF2B5EF4-FFF2-40B4-BE49-F238E27FC236}">
                <a16:creationId xmlns:a16="http://schemas.microsoft.com/office/drawing/2014/main" id="{DAFDD277-6A3D-4C94-AA95-DCDC5C32C9CC}"/>
              </a:ext>
            </a:extLst>
          </p:cNvPr>
          <p:cNvSpPr>
            <a:spLocks xmlns:a="http://schemas.openxmlformats.org/drawingml/2006/main" noGrp="1"/>
          </p:cNvSpPr>
          <p:nvPr/>
        </p:nvSpPr>
        <p:spPr>
          <a:xfrm xmlns:a="http://schemas.openxmlformats.org/drawingml/2006/main">
            <a:off x="666750" y="838200"/>
            <a:ext cx="752475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0">
                <a:solidFill>
                  <a:srgbClr val="FFFFFF"/>
                </a:solidFill>
                <a:latin typeface="Georgia"/>
                <a:ea typeface="Georgia"/>
                <a:cs typeface="Georgia"/>
              </a:defRPr>
            </a:pPr>
            <a:r>
              <a:rPr sz="3150" b="0">
                <a:solidFill>
                  <a:srgbClr val="FFFFFF"/>
                </a:solidFill>
                <a:latin typeface="Georgia"/>
                <a:ea typeface="Georgia"/>
                <a:cs typeface="Georgia"/>
              </a:rPr>
              <a:t>AWS improves reliability while keeping the monthly run cost small.</a:t>
            </a:r>
          </a:p>
        </p:txBody>
      </p:sp>
      <p:sp>
        <p:nvSpPr>
          <p:cNvPr id="5" name="">
            <a:extLst xmlns:a="http://schemas.openxmlformats.org/drawingml/2006/main">
              <a:ext uri="{FF2B5EF4-FFF2-40B4-BE49-F238E27FC236}">
                <a16:creationId xmlns:a16="http://schemas.microsoft.com/office/drawing/2014/main" id="{99AC67EE-6EA6-486B-B801-017B1E00FC1B}"/>
              </a:ext>
            </a:extLst>
          </p:cNvPr>
          <p:cNvSpPr>
            <a:spLocks xmlns:a="http://schemas.openxmlformats.org/drawingml/2006/main" noGrp="1"/>
          </p:cNvSpPr>
          <p:nvPr/>
        </p:nvSpPr>
        <p:spPr>
          <a:xfrm xmlns:a="http://schemas.openxmlformats.org/drawingml/2006/main">
            <a:off x="819150" y="2247900"/>
            <a:ext cx="2571750" cy="1066800"/>
          </a:xfrm>
          <a:prstGeom xmlns:a="http://schemas.openxmlformats.org/drawingml/2006/main" prst="roundRect">
            <a:avLst>
              <a:gd name="adj" fmla="val 7143"/>
            </a:avLst>
          </a:prstGeom>
          <a:solidFill xmlns:a="http://schemas.openxmlformats.org/drawingml/2006/main">
            <a:srgbClr val="242629"/>
          </a:solidFill>
          <a:ln xmlns:a="http://schemas.openxmlformats.org/drawingml/2006/main" w="9525">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9E832B16-EC07-42D0-909F-1199AB13C3FD}"/>
              </a:ext>
            </a:extLst>
          </p:cNvPr>
          <p:cNvSpPr>
            <a:spLocks xmlns:a="http://schemas.openxmlformats.org/drawingml/2006/main" noGrp="1"/>
          </p:cNvSpPr>
          <p:nvPr/>
        </p:nvSpPr>
        <p:spPr>
          <a:xfrm xmlns:a="http://schemas.openxmlformats.org/drawingml/2006/main">
            <a:off x="1009650" y="2419350"/>
            <a:ext cx="21907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400" b="1">
                <a:solidFill>
                  <a:srgbClr val="D9B72F"/>
                </a:solidFill>
                <a:latin typeface="Georgia"/>
                <a:ea typeface="Georgia"/>
                <a:cs typeface="Georgia"/>
              </a:defRPr>
            </a:pPr>
            <a:r>
              <a:rPr sz="2400" b="1">
                <a:solidFill>
                  <a:srgbClr val="D9B72F"/>
                </a:solidFill>
                <a:latin typeface="Georgia"/>
                <a:ea typeface="Georgia"/>
                <a:cs typeface="Georgia"/>
              </a:rPr>
              <a:t>78%</a:t>
            </a:r>
          </a:p>
        </p:txBody>
      </p:sp>
      <p:sp>
        <p:nvSpPr>
          <p:cNvPr id="7" name="">
            <a:extLst xmlns:a="http://schemas.openxmlformats.org/drawingml/2006/main">
              <a:ext uri="{FF2B5EF4-FFF2-40B4-BE49-F238E27FC236}">
                <a16:creationId xmlns:a16="http://schemas.microsoft.com/office/drawing/2014/main" id="{2A21F096-7D41-4E82-A5BC-DDBC6970A189}"/>
              </a:ext>
            </a:extLst>
          </p:cNvPr>
          <p:cNvSpPr>
            <a:spLocks xmlns:a="http://schemas.openxmlformats.org/drawingml/2006/main" noGrp="1"/>
          </p:cNvSpPr>
          <p:nvPr/>
        </p:nvSpPr>
        <p:spPr>
          <a:xfrm xmlns:a="http://schemas.openxmlformats.org/drawingml/2006/main">
            <a:off x="1009650" y="2838450"/>
            <a:ext cx="21907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FFFFFF"/>
                </a:solidFill>
                <a:latin typeface="Aptos"/>
                <a:ea typeface="Aptos"/>
                <a:cs typeface="Aptos"/>
              </a:defRPr>
            </a:pPr>
            <a:r>
              <a:rPr sz="1050" b="0">
                <a:solidFill>
                  <a:srgbClr val="FFFFFF"/>
                </a:solidFill>
                <a:latin typeface="Aptos"/>
                <a:ea typeface="Aptos"/>
                <a:cs typeface="Aptos"/>
              </a:rPr>
              <a:t>estimated cost reduction vs on-premises infrastructure</a:t>
            </a:r>
          </a:p>
        </p:txBody>
      </p:sp>
      <p:sp>
        <p:nvSpPr>
          <p:cNvPr id="8" name="">
            <a:extLst xmlns:a="http://schemas.openxmlformats.org/drawingml/2006/main">
              <a:ext uri="{FF2B5EF4-FFF2-40B4-BE49-F238E27FC236}">
                <a16:creationId xmlns:a16="http://schemas.microsoft.com/office/drawing/2014/main" id="{9D620EE1-C1FD-451A-B914-80295BF355F7}"/>
              </a:ext>
            </a:extLst>
          </p:cNvPr>
          <p:cNvSpPr>
            <a:spLocks xmlns:a="http://schemas.openxmlformats.org/drawingml/2006/main" noGrp="1"/>
          </p:cNvSpPr>
          <p:nvPr/>
        </p:nvSpPr>
        <p:spPr>
          <a:xfrm xmlns:a="http://schemas.openxmlformats.org/drawingml/2006/main">
            <a:off x="3733800" y="2247900"/>
            <a:ext cx="2571750" cy="1066800"/>
          </a:xfrm>
          <a:prstGeom xmlns:a="http://schemas.openxmlformats.org/drawingml/2006/main" prst="roundRect">
            <a:avLst>
              <a:gd name="adj" fmla="val 7143"/>
            </a:avLst>
          </a:prstGeom>
          <a:solidFill xmlns:a="http://schemas.openxmlformats.org/drawingml/2006/main">
            <a:srgbClr val="242629"/>
          </a:solidFill>
          <a:ln xmlns:a="http://schemas.openxmlformats.org/drawingml/2006/main" w="9525">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BD535AD9-BDE5-4BE8-AE7A-DE3BBCEC1AD9}"/>
              </a:ext>
            </a:extLst>
          </p:cNvPr>
          <p:cNvSpPr>
            <a:spLocks xmlns:a="http://schemas.openxmlformats.org/drawingml/2006/main" noGrp="1"/>
          </p:cNvSpPr>
          <p:nvPr/>
        </p:nvSpPr>
        <p:spPr>
          <a:xfrm xmlns:a="http://schemas.openxmlformats.org/drawingml/2006/main">
            <a:off x="3924300" y="2419350"/>
            <a:ext cx="21907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400" b="1">
                <a:solidFill>
                  <a:srgbClr val="D9B72F"/>
                </a:solidFill>
                <a:latin typeface="Georgia"/>
                <a:ea typeface="Georgia"/>
                <a:cs typeface="Georgia"/>
              </a:defRPr>
            </a:pPr>
            <a:r>
              <a:rPr sz="2400" b="1">
                <a:solidFill>
                  <a:srgbClr val="D9B72F"/>
                </a:solidFill>
                <a:latin typeface="Georgia"/>
                <a:ea typeface="Georgia"/>
                <a:cs typeface="Georgia"/>
              </a:rPr>
              <a:t>&lt; 1%</a:t>
            </a:r>
          </a:p>
        </p:txBody>
      </p:sp>
      <p:sp>
        <p:nvSpPr>
          <p:cNvPr id="10" name="">
            <a:extLst xmlns:a="http://schemas.openxmlformats.org/drawingml/2006/main">
              <a:ext uri="{FF2B5EF4-FFF2-40B4-BE49-F238E27FC236}">
                <a16:creationId xmlns:a16="http://schemas.microsoft.com/office/drawing/2014/main" id="{95FFDF26-BE71-4443-845E-A29709459810}"/>
              </a:ext>
            </a:extLst>
          </p:cNvPr>
          <p:cNvSpPr>
            <a:spLocks xmlns:a="http://schemas.openxmlformats.org/drawingml/2006/main" noGrp="1"/>
          </p:cNvSpPr>
          <p:nvPr/>
        </p:nvSpPr>
        <p:spPr>
          <a:xfrm xmlns:a="http://schemas.openxmlformats.org/drawingml/2006/main">
            <a:off x="3924300" y="2838450"/>
            <a:ext cx="21907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FFFFFF"/>
                </a:solidFill>
                <a:latin typeface="Aptos"/>
                <a:ea typeface="Aptos"/>
                <a:cs typeface="Aptos"/>
              </a:defRPr>
            </a:pPr>
            <a:r>
              <a:rPr sz="1050" b="0">
                <a:solidFill>
                  <a:srgbClr val="FFFFFF"/>
                </a:solidFill>
                <a:latin typeface="Aptos"/>
                <a:ea typeface="Aptos"/>
                <a:cs typeface="Aptos"/>
              </a:rPr>
              <a:t>target booking error rate after validation and central records</a:t>
            </a:r>
          </a:p>
        </p:txBody>
      </p:sp>
      <p:sp>
        <p:nvSpPr>
          <p:cNvPr id="11" name="">
            <a:extLst xmlns:a="http://schemas.openxmlformats.org/drawingml/2006/main">
              <a:ext uri="{FF2B5EF4-FFF2-40B4-BE49-F238E27FC236}">
                <a16:creationId xmlns:a16="http://schemas.microsoft.com/office/drawing/2014/main" id="{6B928088-8167-40BD-B7A4-AE2A499CBB7B}"/>
              </a:ext>
            </a:extLst>
          </p:cNvPr>
          <p:cNvSpPr>
            <a:spLocks xmlns:a="http://schemas.openxmlformats.org/drawingml/2006/main" noGrp="1"/>
          </p:cNvSpPr>
          <p:nvPr/>
        </p:nvSpPr>
        <p:spPr>
          <a:xfrm xmlns:a="http://schemas.openxmlformats.org/drawingml/2006/main">
            <a:off x="6648450" y="2247900"/>
            <a:ext cx="2571750" cy="1066800"/>
          </a:xfrm>
          <a:prstGeom xmlns:a="http://schemas.openxmlformats.org/drawingml/2006/main" prst="roundRect">
            <a:avLst>
              <a:gd name="adj" fmla="val 7143"/>
            </a:avLst>
          </a:prstGeom>
          <a:solidFill xmlns:a="http://schemas.openxmlformats.org/drawingml/2006/main">
            <a:srgbClr val="242629"/>
          </a:solidFill>
          <a:ln xmlns:a="http://schemas.openxmlformats.org/drawingml/2006/main" w="9525">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52F511D5-9F0F-4445-B231-5829C6A7BF7C}"/>
              </a:ext>
            </a:extLst>
          </p:cNvPr>
          <p:cNvSpPr>
            <a:spLocks xmlns:a="http://schemas.openxmlformats.org/drawingml/2006/main" noGrp="1"/>
          </p:cNvSpPr>
          <p:nvPr/>
        </p:nvSpPr>
        <p:spPr>
          <a:xfrm xmlns:a="http://schemas.openxmlformats.org/drawingml/2006/main">
            <a:off x="6838950" y="2419350"/>
            <a:ext cx="21907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400" b="1">
                <a:solidFill>
                  <a:srgbClr val="D9B72F"/>
                </a:solidFill>
                <a:latin typeface="Georgia"/>
                <a:ea typeface="Georgia"/>
                <a:cs typeface="Georgia"/>
              </a:defRPr>
            </a:pPr>
            <a:r>
              <a:rPr sz="2400" b="1">
                <a:solidFill>
                  <a:srgbClr val="D9B72F"/>
                </a:solidFill>
                <a:latin typeface="Georgia"/>
                <a:ea typeface="Georgia"/>
                <a:cs typeface="Georgia"/>
              </a:rPr>
              <a:t>0</a:t>
            </a:r>
          </a:p>
        </p:txBody>
      </p:sp>
      <p:sp>
        <p:nvSpPr>
          <p:cNvPr id="13" name="">
            <a:extLst xmlns:a="http://schemas.openxmlformats.org/drawingml/2006/main">
              <a:ext uri="{FF2B5EF4-FFF2-40B4-BE49-F238E27FC236}">
                <a16:creationId xmlns:a16="http://schemas.microsoft.com/office/drawing/2014/main" id="{0529F711-5EAF-4ED2-9A58-1F5270D3B297}"/>
              </a:ext>
            </a:extLst>
          </p:cNvPr>
          <p:cNvSpPr>
            <a:spLocks xmlns:a="http://schemas.openxmlformats.org/drawingml/2006/main" noGrp="1"/>
          </p:cNvSpPr>
          <p:nvPr/>
        </p:nvSpPr>
        <p:spPr>
          <a:xfrm xmlns:a="http://schemas.openxmlformats.org/drawingml/2006/main">
            <a:off x="6838950" y="2838450"/>
            <a:ext cx="21907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FFFFFF"/>
                </a:solidFill>
                <a:latin typeface="Aptos"/>
                <a:ea typeface="Aptos"/>
                <a:cs typeface="Aptos"/>
              </a:defRPr>
            </a:pPr>
            <a:r>
              <a:rPr sz="1050" b="0">
                <a:solidFill>
                  <a:srgbClr val="FFFFFF"/>
                </a:solidFill>
                <a:latin typeface="Aptos"/>
                <a:ea typeface="Aptos"/>
                <a:cs typeface="Aptos"/>
              </a:rPr>
              <a:t>servers for the owner to patch or maintain</a:t>
            </a:r>
          </a:p>
        </p:txBody>
      </p:sp>
      <p:sp>
        <p:nvSpPr>
          <p:cNvPr id="14" name="">
            <a:extLst xmlns:a="http://schemas.openxmlformats.org/drawingml/2006/main">
              <a:ext uri="{FF2B5EF4-FFF2-40B4-BE49-F238E27FC236}">
                <a16:creationId xmlns:a16="http://schemas.microsoft.com/office/drawing/2014/main" id="{DF17453F-98D1-4675-91FF-46454E5B88A0}"/>
              </a:ext>
            </a:extLst>
          </p:cNvPr>
          <p:cNvSpPr>
            <a:spLocks xmlns:a="http://schemas.openxmlformats.org/drawingml/2006/main" noGrp="1"/>
          </p:cNvSpPr>
          <p:nvPr/>
        </p:nvSpPr>
        <p:spPr>
          <a:xfrm xmlns:a="http://schemas.openxmlformats.org/drawingml/2006/main">
            <a:off x="819150" y="4000500"/>
            <a:ext cx="8382000" cy="1066800"/>
          </a:xfrm>
          <a:prstGeom xmlns:a="http://schemas.openxmlformats.org/drawingml/2006/main" prst="roundRect">
            <a:avLst>
              <a:gd name="adj" fmla="val 7143"/>
            </a:avLst>
          </a:prstGeom>
          <a:solidFill xmlns:a="http://schemas.openxmlformats.org/drawingml/2006/main">
            <a:srgbClr val="111318"/>
          </a:solidFill>
          <a:ln xmlns:a="http://schemas.openxmlformats.org/drawingml/2006/main" w="9525">
            <a:solidFill>
              <a:srgbClr val="3A3529"/>
            </a:solidFill>
            <a:prstDash val="solid"/>
          </a:ln>
        </p:spPr>
      </p:sp>
      <p:sp>
        <p:nvSpPr>
          <p:cNvPr id="15" name="">
            <a:extLst xmlns:a="http://schemas.openxmlformats.org/drawingml/2006/main">
              <a:ext uri="{FF2B5EF4-FFF2-40B4-BE49-F238E27FC236}">
                <a16:creationId xmlns:a16="http://schemas.microsoft.com/office/drawing/2014/main" id="{FEB52A97-1061-4982-86FB-30747ED2E405}"/>
              </a:ext>
            </a:extLst>
          </p:cNvPr>
          <p:cNvSpPr>
            <a:spLocks xmlns:a="http://schemas.openxmlformats.org/drawingml/2006/main" noGrp="1"/>
          </p:cNvSpPr>
          <p:nvPr/>
        </p:nvSpPr>
        <p:spPr>
          <a:xfrm xmlns:a="http://schemas.openxmlformats.org/drawingml/2006/main">
            <a:off x="1123950" y="4229100"/>
            <a:ext cx="2857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0">
                <a:solidFill>
                  <a:srgbClr val="D9B72F"/>
                </a:solidFill>
                <a:latin typeface="Georgia"/>
                <a:ea typeface="Georgia"/>
                <a:cs typeface="Georgia"/>
              </a:defRPr>
            </a:pPr>
            <a:r>
              <a:rPr sz="1800" b="0">
                <a:solidFill>
                  <a:srgbClr val="D9B72F"/>
                </a:solidFill>
                <a:latin typeface="Georgia"/>
                <a:ea typeface="Georgia"/>
                <a:cs typeface="Georgia"/>
              </a:rPr>
              <a:t>Why AWS is the right fit</a:t>
            </a:r>
          </a:p>
        </p:txBody>
      </p:sp>
      <p:sp>
        <p:nvSpPr>
          <p:cNvPr id="16" name="">
            <a:extLst xmlns:a="http://schemas.openxmlformats.org/drawingml/2006/main">
              <a:ext uri="{FF2B5EF4-FFF2-40B4-BE49-F238E27FC236}">
                <a16:creationId xmlns:a16="http://schemas.microsoft.com/office/drawing/2014/main" id="{2BDB9D94-DB9D-479E-9638-BBE6C4F1FF22}"/>
              </a:ext>
            </a:extLst>
          </p:cNvPr>
          <p:cNvSpPr>
            <a:spLocks xmlns:a="http://schemas.openxmlformats.org/drawingml/2006/main" noGrp="1"/>
          </p:cNvSpPr>
          <p:nvPr/>
        </p:nvSpPr>
        <p:spPr>
          <a:xfrm xmlns:a="http://schemas.openxmlformats.org/drawingml/2006/main">
            <a:off x="1123950" y="4610100"/>
            <a:ext cx="74295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E8E1D7"/>
                </a:solidFill>
                <a:latin typeface="Aptos"/>
                <a:ea typeface="Aptos"/>
                <a:cs typeface="Aptos"/>
              </a:defRPr>
            </a:pPr>
            <a:r>
              <a:rPr sz="1275" b="0">
                <a:solidFill>
                  <a:srgbClr val="E8E1D7"/>
                </a:solidFill>
                <a:latin typeface="Aptos"/>
                <a:ea typeface="Aptos"/>
                <a:cs typeface="Aptos"/>
              </a:rPr>
              <a:t>Pay-as-you-go pricing, managed scaling for weekend rushes, durable storage for assets, centralized customer data, and a clear path to notifications, analytics, and future online payments.</a:t>
            </a:r>
          </a:p>
        </p:txBody>
      </p:sp>
      <p:sp>
        <p:nvSpPr>
          <p:cNvPr id="17" name="">
            <a:extLst xmlns:a="http://schemas.openxmlformats.org/drawingml/2006/main">
              <a:ext uri="{FF2B5EF4-FFF2-40B4-BE49-F238E27FC236}">
                <a16:creationId xmlns:a16="http://schemas.microsoft.com/office/drawing/2014/main" id="{FBB4AB8C-CB9F-41F9-9935-4605E53425C3}"/>
              </a:ext>
            </a:extLst>
          </p:cNvPr>
          <p:cNvSpPr>
            <a:spLocks xmlns:a="http://schemas.openxmlformats.org/drawingml/2006/main" noGrp="1"/>
          </p:cNvSpPr>
          <p:nvPr/>
        </p:nvSpPr>
        <p:spPr>
          <a:xfrm xmlns:a="http://schemas.openxmlformats.org/drawingml/2006/main">
            <a:off x="666750" y="65151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F737A"/>
                </a:solidFill>
                <a:latin typeface="Aptos"/>
                <a:ea typeface="Aptos"/>
                <a:cs typeface="Aptos"/>
              </a:defRPr>
            </a:pPr>
            <a:r>
              <a:rPr sz="750" b="0">
                <a:solidFill>
                  <a:srgbClr val="6F737A"/>
                </a:solidFill>
                <a:latin typeface="Aptos"/>
                <a:ea typeface="Aptos"/>
                <a:cs typeface="Aptos"/>
              </a:rPr>
              <a:t>Source: project report cost and outcome estimates</a:t>
            </a:r>
          </a:p>
        </p:txBody>
      </p:sp>
      <p:sp>
        <p:nvSpPr>
          <p:cNvPr id="18" name="">
            <a:extLst xmlns:a="http://schemas.openxmlformats.org/drawingml/2006/main">
              <a:ext uri="{FF2B5EF4-FFF2-40B4-BE49-F238E27FC236}">
                <a16:creationId xmlns:a16="http://schemas.microsoft.com/office/drawing/2014/main" id="{76A60C52-EC7B-422B-A29A-D7487E8A96DF}"/>
              </a:ext>
            </a:extLst>
          </p:cNvPr>
          <p:cNvSpPr>
            <a:spLocks xmlns:a="http://schemas.openxmlformats.org/drawingml/2006/main" noGrp="1"/>
          </p:cNvSpPr>
          <p:nvPr/>
        </p:nvSpPr>
        <p:spPr>
          <a:xfrm xmlns:a="http://schemas.openxmlformats.org/drawingml/2006/main">
            <a:off x="11239500" y="6438900"/>
            <a:ext cx="381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6F737A"/>
                </a:solidFill>
                <a:latin typeface="Aptos Mono"/>
                <a:ea typeface="Aptos Mono"/>
                <a:cs typeface="Aptos Mono"/>
              </a:defRPr>
            </a:pPr>
            <a:r>
              <a:rPr sz="900" b="0">
                <a:solidFill>
                  <a:srgbClr val="6F737A"/>
                </a:solidFill>
                <a:latin typeface="Aptos Mono"/>
                <a:ea typeface="Aptos Mono"/>
                <a:cs typeface="Aptos Mono"/>
              </a:rPr>
              <a:t>11</a:t>
            </a:r>
          </a:p>
        </p:txBody>
      </p:sp>
    </p:spTree>
    <p:extLst>
      <p:ext uri="{BB962C8B-B14F-4D97-AF65-F5344CB8AC3E}">
        <p14:creationId xmlns:p14="http://schemas.microsoft.com/office/powerpoint/2010/main" val="46488197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267E000-81D9-494C-A848-719FB906E4E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90A0D"/>
          </a:solidFill>
          <a:ln xmlns:a="http://schemas.openxmlformats.org/drawingml/2006/main" w="0">
            <a:solidFill>
              <a:srgbClr val="000000">
                <a:alpha val="0"/>
              </a:srgbClr>
            </a:solidFill>
            <a:prstDash val="solid"/>
          </a:ln>
        </p:spPr>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5414a254b15408c"/>
          <a:srcRect xmlns:a="http://schemas.openxmlformats.org/drawingml/2006/main" l="25403" t="0" r="25403" b="0"/>
          <a:stretch xmlns:a="http://schemas.openxmlformats.org/drawingml/2006/main">
            <a:fillRect l="0" t="0" r="0" b="0"/>
          </a:stretch>
        </p:blipFill>
        <p:spPr>
          <a:xfrm xmlns:a="http://schemas.openxmlformats.org/drawingml/2006/main">
            <a:off x="6191250" y="0"/>
            <a:ext cx="600075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5B9C875-B809-426D-B5E6-AE62EFF4DF31}"/>
              </a:ext>
            </a:extLst>
          </p:cNvPr>
          <p:cNvSpPr>
            <a:spLocks xmlns:a="http://schemas.openxmlformats.org/drawingml/2006/main" noGrp="1"/>
          </p:cNvSpPr>
          <p:nvPr/>
        </p:nvSpPr>
        <p:spPr>
          <a:xfrm xmlns:a="http://schemas.openxmlformats.org/drawingml/2006/main">
            <a:off x="6191250" y="0"/>
            <a:ext cx="6000750" cy="6858000"/>
          </a:xfrm>
          <a:prstGeom xmlns:a="http://schemas.openxmlformats.org/drawingml/2006/main" prst="rect">
            <a:avLst/>
          </a:prstGeom>
          <a:solidFill xmlns:a="http://schemas.openxmlformats.org/drawingml/2006/main">
            <a:srgbClr val="000000">
              <a:alpha val="46667"/>
            </a:srgbClr>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504B421F-7287-4C01-BD52-5AD5F1326C1B}"/>
              </a:ext>
            </a:extLst>
          </p:cNvPr>
          <p:cNvSpPr>
            <a:spLocks xmlns:a="http://schemas.openxmlformats.org/drawingml/2006/main" noGrp="1"/>
          </p:cNvSpPr>
          <p:nvPr/>
        </p:nvSpPr>
        <p:spPr>
          <a:xfrm xmlns:a="http://schemas.openxmlformats.org/drawingml/2006/main">
            <a:off x="685800" y="666750"/>
            <a:ext cx="2286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D9B72F"/>
                </a:solidFill>
                <a:latin typeface="Aptos Mono"/>
                <a:ea typeface="Aptos Mono"/>
                <a:cs typeface="Aptos Mono"/>
              </a:defRPr>
            </a:pPr>
            <a:r>
              <a:rPr sz="1125" b="1">
                <a:solidFill>
                  <a:srgbClr val="D9B72F"/>
                </a:solidFill>
                <a:latin typeface="Aptos Mono"/>
                <a:ea typeface="Aptos Mono"/>
                <a:cs typeface="Aptos Mono"/>
              </a:rPr>
              <a:t>Conclusion</a:t>
            </a:r>
          </a:p>
        </p:txBody>
      </p:sp>
      <p:sp>
        <p:nvSpPr>
          <p:cNvPr id="5" name="">
            <a:extLst xmlns:a="http://schemas.openxmlformats.org/drawingml/2006/main">
              <a:ext uri="{FF2B5EF4-FFF2-40B4-BE49-F238E27FC236}">
                <a16:creationId xmlns:a16="http://schemas.microsoft.com/office/drawing/2014/main" id="{E3909178-DF70-4D2F-A53D-365B7E1612C8}"/>
              </a:ext>
            </a:extLst>
          </p:cNvPr>
          <p:cNvSpPr>
            <a:spLocks xmlns:a="http://schemas.openxmlformats.org/drawingml/2006/main" noGrp="1"/>
          </p:cNvSpPr>
          <p:nvPr/>
        </p:nvSpPr>
        <p:spPr>
          <a:xfrm xmlns:a="http://schemas.openxmlformats.org/drawingml/2006/main">
            <a:off x="666750" y="1200150"/>
            <a:ext cx="5334000" cy="1200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225" b="0">
                <a:solidFill>
                  <a:srgbClr val="FFFFFF"/>
                </a:solidFill>
                <a:latin typeface="Georgia"/>
                <a:ea typeface="Georgia"/>
                <a:cs typeface="Georgia"/>
              </a:defRPr>
            </a:pPr>
            <a:r>
              <a:rPr sz="3225" b="0">
                <a:solidFill>
                  <a:srgbClr val="FFFFFF"/>
                </a:solidFill>
                <a:latin typeface="Georgia"/>
                <a:ea typeface="Georgia"/>
                <a:cs typeface="Georgia"/>
              </a:rPr>
              <a:t>Zani's Eatery can migrate from manual operations to a practical AWS-backed digital platform.</a:t>
            </a:r>
          </a:p>
        </p:txBody>
      </p:sp>
      <p:sp>
        <p:nvSpPr>
          <p:cNvPr id="6" name="">
            <a:extLst xmlns:a="http://schemas.openxmlformats.org/drawingml/2006/main">
              <a:ext uri="{FF2B5EF4-FFF2-40B4-BE49-F238E27FC236}">
                <a16:creationId xmlns:a16="http://schemas.microsoft.com/office/drawing/2014/main" id="{55ED9654-DA36-446F-A834-8D87B160606A}"/>
              </a:ext>
            </a:extLst>
          </p:cNvPr>
          <p:cNvSpPr>
            <a:spLocks xmlns:a="http://schemas.openxmlformats.org/drawingml/2006/main" noGrp="1"/>
          </p:cNvSpPr>
          <p:nvPr/>
        </p:nvSpPr>
        <p:spPr>
          <a:xfrm xmlns:a="http://schemas.openxmlformats.org/drawingml/2006/main">
            <a:off x="723900" y="3048000"/>
            <a:ext cx="4762500" cy="2000250"/>
          </a:xfrm>
          <a:prstGeom xmlns:a="http://schemas.openxmlformats.org/drawingml/2006/main" prst="roundRect">
            <a:avLst>
              <a:gd name="adj" fmla="val 3810"/>
            </a:avLst>
          </a:prstGeom>
          <a:solidFill xmlns:a="http://schemas.openxmlformats.org/drawingml/2006/main">
            <a:srgbClr val="111318"/>
          </a:solidFill>
          <a:ln xmlns:a="http://schemas.openxmlformats.org/drawingml/2006/main" w="9525">
            <a:solidFill>
              <a:srgbClr val="3A3529"/>
            </a:solidFill>
            <a:prstDash val="solid"/>
          </a:ln>
        </p:spPr>
      </p:sp>
      <p:sp>
        <p:nvSpPr>
          <p:cNvPr id="7" name="">
            <a:extLst xmlns:a="http://schemas.openxmlformats.org/drawingml/2006/main">
              <a:ext uri="{FF2B5EF4-FFF2-40B4-BE49-F238E27FC236}">
                <a16:creationId xmlns:a16="http://schemas.microsoft.com/office/drawing/2014/main" id="{19C51FD7-79AA-4CC5-B2D8-060C3A4BEE08}"/>
              </a:ext>
            </a:extLst>
          </p:cNvPr>
          <p:cNvSpPr>
            <a:spLocks xmlns:a="http://schemas.openxmlformats.org/drawingml/2006/main" noGrp="1"/>
          </p:cNvSpPr>
          <p:nvPr/>
        </p:nvSpPr>
        <p:spPr>
          <a:xfrm xmlns:a="http://schemas.openxmlformats.org/drawingml/2006/main">
            <a:off x="1047750" y="3409950"/>
            <a:ext cx="76200" cy="76200"/>
          </a:xfrm>
          <a:prstGeom xmlns:a="http://schemas.openxmlformats.org/drawingml/2006/main" prst="ellipse">
            <a:avLst/>
          </a:prstGeom>
          <a:solidFill xmlns:a="http://schemas.openxmlformats.org/drawingml/2006/main">
            <a:srgbClr val="D9B72F"/>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4A5DE259-01FA-459A-A4B8-BA836751C1FD}"/>
              </a:ext>
            </a:extLst>
          </p:cNvPr>
          <p:cNvSpPr>
            <a:spLocks xmlns:a="http://schemas.openxmlformats.org/drawingml/2006/main" noGrp="1"/>
          </p:cNvSpPr>
          <p:nvPr/>
        </p:nvSpPr>
        <p:spPr>
          <a:xfrm xmlns:a="http://schemas.openxmlformats.org/drawingml/2006/main">
            <a:off x="1257300" y="3333750"/>
            <a:ext cx="37909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FFFFFF"/>
                </a:solidFill>
                <a:latin typeface="Aptos"/>
                <a:ea typeface="Aptos"/>
                <a:cs typeface="Aptos"/>
              </a:defRPr>
            </a:pPr>
            <a:r>
              <a:rPr sz="1275" b="0">
                <a:solidFill>
                  <a:srgbClr val="FFFFFF"/>
                </a:solidFill>
                <a:latin typeface="Aptos"/>
                <a:ea typeface="Aptos"/>
                <a:cs typeface="Aptos"/>
              </a:rPr>
              <a:t>Keep S3 as the low-cost static website foundation.</a:t>
            </a:r>
          </a:p>
        </p:txBody>
      </p:sp>
      <p:sp>
        <p:nvSpPr>
          <p:cNvPr id="9" name="">
            <a:extLst xmlns:a="http://schemas.openxmlformats.org/drawingml/2006/main">
              <a:ext uri="{FF2B5EF4-FFF2-40B4-BE49-F238E27FC236}">
                <a16:creationId xmlns:a16="http://schemas.microsoft.com/office/drawing/2014/main" id="{66A1443D-FF49-40C2-9FAE-4C51A033BC27}"/>
              </a:ext>
            </a:extLst>
          </p:cNvPr>
          <p:cNvSpPr>
            <a:spLocks xmlns:a="http://schemas.openxmlformats.org/drawingml/2006/main" noGrp="1"/>
          </p:cNvSpPr>
          <p:nvPr/>
        </p:nvSpPr>
        <p:spPr>
          <a:xfrm xmlns:a="http://schemas.openxmlformats.org/drawingml/2006/main">
            <a:off x="1047750" y="3771900"/>
            <a:ext cx="76200" cy="76200"/>
          </a:xfrm>
          <a:prstGeom xmlns:a="http://schemas.openxmlformats.org/drawingml/2006/main" prst="ellipse">
            <a:avLst/>
          </a:prstGeom>
          <a:solidFill xmlns:a="http://schemas.openxmlformats.org/drawingml/2006/main">
            <a:srgbClr val="D9B72F"/>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5F7AA328-A341-4A25-838D-2A4A11262C89}"/>
              </a:ext>
            </a:extLst>
          </p:cNvPr>
          <p:cNvSpPr>
            <a:spLocks xmlns:a="http://schemas.openxmlformats.org/drawingml/2006/main" noGrp="1"/>
          </p:cNvSpPr>
          <p:nvPr/>
        </p:nvSpPr>
        <p:spPr>
          <a:xfrm xmlns:a="http://schemas.openxmlformats.org/drawingml/2006/main">
            <a:off x="1257300" y="3695700"/>
            <a:ext cx="37909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FFFFFF"/>
                </a:solidFill>
                <a:latin typeface="Aptos"/>
                <a:ea typeface="Aptos"/>
                <a:cs typeface="Aptos"/>
              </a:defRPr>
            </a:pPr>
            <a:r>
              <a:rPr sz="1275" b="0">
                <a:solidFill>
                  <a:srgbClr val="FFFFFF"/>
                </a:solidFill>
                <a:latin typeface="Aptos"/>
                <a:ea typeface="Aptos"/>
                <a:cs typeface="Aptos"/>
              </a:rPr>
              <a:t>Add Cognito and a database for customer history.</a:t>
            </a:r>
          </a:p>
        </p:txBody>
      </p:sp>
      <p:sp>
        <p:nvSpPr>
          <p:cNvPr id="11" name="">
            <a:extLst xmlns:a="http://schemas.openxmlformats.org/drawingml/2006/main">
              <a:ext uri="{FF2B5EF4-FFF2-40B4-BE49-F238E27FC236}">
                <a16:creationId xmlns:a16="http://schemas.microsoft.com/office/drawing/2014/main" id="{E3D7CE08-6704-4664-8C21-85AC927EEB5D}"/>
              </a:ext>
            </a:extLst>
          </p:cNvPr>
          <p:cNvSpPr>
            <a:spLocks xmlns:a="http://schemas.openxmlformats.org/drawingml/2006/main" noGrp="1"/>
          </p:cNvSpPr>
          <p:nvPr/>
        </p:nvSpPr>
        <p:spPr>
          <a:xfrm xmlns:a="http://schemas.openxmlformats.org/drawingml/2006/main">
            <a:off x="1047750" y="4133850"/>
            <a:ext cx="76200" cy="76200"/>
          </a:xfrm>
          <a:prstGeom xmlns:a="http://schemas.openxmlformats.org/drawingml/2006/main" prst="ellipse">
            <a:avLst/>
          </a:prstGeom>
          <a:solidFill xmlns:a="http://schemas.openxmlformats.org/drawingml/2006/main">
            <a:srgbClr val="D9B72F"/>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870F4797-6C15-48C1-97AA-9056BB3890E2}"/>
              </a:ext>
            </a:extLst>
          </p:cNvPr>
          <p:cNvSpPr>
            <a:spLocks xmlns:a="http://schemas.openxmlformats.org/drawingml/2006/main" noGrp="1"/>
          </p:cNvSpPr>
          <p:nvPr/>
        </p:nvSpPr>
        <p:spPr>
          <a:xfrm xmlns:a="http://schemas.openxmlformats.org/drawingml/2006/main">
            <a:off x="1257300" y="4057650"/>
            <a:ext cx="37909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FFFFFF"/>
                </a:solidFill>
                <a:latin typeface="Aptos"/>
                <a:ea typeface="Aptos"/>
                <a:cs typeface="Aptos"/>
              </a:defRPr>
            </a:pPr>
            <a:r>
              <a:rPr sz="1275" b="0">
                <a:solidFill>
                  <a:srgbClr val="FFFFFF"/>
                </a:solidFill>
                <a:latin typeface="Aptos"/>
                <a:ea typeface="Aptos"/>
                <a:cs typeface="Aptos"/>
              </a:rPr>
              <a:t>Use Lambda and SNS to automate confirmations.</a:t>
            </a:r>
          </a:p>
        </p:txBody>
      </p:sp>
      <p:sp>
        <p:nvSpPr>
          <p:cNvPr id="13" name="">
            <a:extLst xmlns:a="http://schemas.openxmlformats.org/drawingml/2006/main">
              <a:ext uri="{FF2B5EF4-FFF2-40B4-BE49-F238E27FC236}">
                <a16:creationId xmlns:a16="http://schemas.microsoft.com/office/drawing/2014/main" id="{45A7ED95-D064-4A0E-8680-1B9FA2E9EBFE}"/>
              </a:ext>
            </a:extLst>
          </p:cNvPr>
          <p:cNvSpPr>
            <a:spLocks xmlns:a="http://schemas.openxmlformats.org/drawingml/2006/main" noGrp="1"/>
          </p:cNvSpPr>
          <p:nvPr/>
        </p:nvSpPr>
        <p:spPr>
          <a:xfrm xmlns:a="http://schemas.openxmlformats.org/drawingml/2006/main">
            <a:off x="1047750" y="4495800"/>
            <a:ext cx="76200" cy="76200"/>
          </a:xfrm>
          <a:prstGeom xmlns:a="http://schemas.openxmlformats.org/drawingml/2006/main" prst="ellipse">
            <a:avLst/>
          </a:prstGeom>
          <a:solidFill xmlns:a="http://schemas.openxmlformats.org/drawingml/2006/main">
            <a:srgbClr val="D9B72F"/>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E1F6730E-AE65-4A97-84CB-08CC78950FAC}"/>
              </a:ext>
            </a:extLst>
          </p:cNvPr>
          <p:cNvSpPr>
            <a:spLocks xmlns:a="http://schemas.openxmlformats.org/drawingml/2006/main" noGrp="1"/>
          </p:cNvSpPr>
          <p:nvPr/>
        </p:nvSpPr>
        <p:spPr>
          <a:xfrm xmlns:a="http://schemas.openxmlformats.org/drawingml/2006/main">
            <a:off x="1257300" y="4419600"/>
            <a:ext cx="37909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FFFFFF"/>
                </a:solidFill>
                <a:latin typeface="Aptos"/>
                <a:ea typeface="Aptos"/>
                <a:cs typeface="Aptos"/>
              </a:defRPr>
            </a:pPr>
            <a:r>
              <a:rPr sz="1275" b="0">
                <a:solidFill>
                  <a:srgbClr val="FFFFFF"/>
                </a:solidFill>
                <a:latin typeface="Aptos"/>
                <a:ea typeface="Aptos"/>
                <a:cs typeface="Aptos"/>
              </a:rPr>
              <a:t>Extend later with payments, analytics, and loyalty.</a:t>
            </a:r>
          </a:p>
        </p:txBody>
      </p:sp>
      <p:sp>
        <p:nvSpPr>
          <p:cNvPr id="15" name="">
            <a:extLst xmlns:a="http://schemas.openxmlformats.org/drawingml/2006/main">
              <a:ext uri="{FF2B5EF4-FFF2-40B4-BE49-F238E27FC236}">
                <a16:creationId xmlns:a16="http://schemas.microsoft.com/office/drawing/2014/main" id="{B1D82B8C-9467-4C82-BDC9-74B62E448472}"/>
              </a:ext>
            </a:extLst>
          </p:cNvPr>
          <p:cNvSpPr>
            <a:spLocks xmlns:a="http://schemas.openxmlformats.org/drawingml/2006/main" noGrp="1"/>
          </p:cNvSpPr>
          <p:nvPr/>
        </p:nvSpPr>
        <p:spPr>
          <a:xfrm xmlns:a="http://schemas.openxmlformats.org/drawingml/2006/main">
            <a:off x="742950" y="5505450"/>
            <a:ext cx="47625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E8E1D7"/>
                </a:solidFill>
                <a:latin typeface="Aptos"/>
                <a:ea typeface="Aptos"/>
                <a:cs typeface="Aptos"/>
              </a:defRPr>
            </a:pPr>
            <a:r>
              <a:rPr sz="1575" b="0">
                <a:solidFill>
                  <a:srgbClr val="E8E1D7"/>
                </a:solidFill>
                <a:latin typeface="Aptos"/>
                <a:ea typeface="Aptos"/>
                <a:cs typeface="Aptos"/>
              </a:rPr>
              <a:t>Recommended next step: complete the secure booking/order workflow and connect it to the staff notification process.</a:t>
            </a:r>
          </a:p>
        </p:txBody>
      </p:sp>
      <p:sp>
        <p:nvSpPr>
          <p:cNvPr id="16" name="">
            <a:extLst xmlns:a="http://schemas.openxmlformats.org/drawingml/2006/main">
              <a:ext uri="{FF2B5EF4-FFF2-40B4-BE49-F238E27FC236}">
                <a16:creationId xmlns:a16="http://schemas.microsoft.com/office/drawing/2014/main" id="{5A54718B-CB6B-4474-8D32-6F75F58F6B95}"/>
              </a:ext>
            </a:extLst>
          </p:cNvPr>
          <p:cNvSpPr>
            <a:spLocks xmlns:a="http://schemas.openxmlformats.org/drawingml/2006/main" noGrp="1"/>
          </p:cNvSpPr>
          <p:nvPr/>
        </p:nvSpPr>
        <p:spPr>
          <a:xfrm xmlns:a="http://schemas.openxmlformats.org/drawingml/2006/main">
            <a:off x="5524500" y="6438900"/>
            <a:ext cx="381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00" b="0">
                <a:solidFill>
                  <a:srgbClr val="D7D1C7"/>
                </a:solidFill>
                <a:latin typeface="Aptos Mono"/>
                <a:ea typeface="Aptos Mono"/>
                <a:cs typeface="Aptos Mono"/>
              </a:defRPr>
            </a:pPr>
            <a:r>
              <a:rPr sz="900" b="0">
                <a:solidFill>
                  <a:srgbClr val="D7D1C7"/>
                </a:solidFill>
                <a:latin typeface="Aptos Mono"/>
                <a:ea typeface="Aptos Mono"/>
                <a:cs typeface="Aptos Mono"/>
              </a:rPr>
              <a:t>12</a:t>
            </a:r>
          </a:p>
        </p:txBody>
      </p:sp>
    </p:spTree>
    <p:extLst>
      <p:ext uri="{BB962C8B-B14F-4D97-AF65-F5344CB8AC3E}">
        <p14:creationId xmlns:p14="http://schemas.microsoft.com/office/powerpoint/2010/main" val="14557006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2026-05-25T08:01:49.6540000Z</dcterms:created>
  <dcterms:modified xsi:type="dcterms:W3CDTF">2026-05-25T08:01:49.6540000Z</dcterms:modified>
</coreProperties>
</file>